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54864"/>
          </a:xfrm>
          <a:prstGeom prst="rect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6355080"/>
            <a:ext cx="548640" cy="54864"/>
          </a:xfrm>
          <a:prstGeom prst="rect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E6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PAEG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6858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AGENT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875520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E6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v0.50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0" y="7132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SCENARIO TEST REPORT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PAEG 真实场景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测试汇报</a:t>
            </a:r>
            <a:endParaRPr lang="en-US" sz="5400" dirty="0"/>
          </a:p>
        </p:txBody>
      </p:sp>
      <p:sp>
        <p:nvSpPr>
          <p:cNvPr id="10" name="Shape 8"/>
          <p:cNvSpPr/>
          <p:nvPr/>
        </p:nvSpPr>
        <p:spPr>
          <a:xfrm>
            <a:off x="457200" y="4023360"/>
            <a:ext cx="6858000" cy="36576"/>
          </a:xfrm>
          <a:prstGeom prst="rect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2976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E6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" y="4937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31720" y="42976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E6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331720" y="4937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真实对话轮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06240" y="42976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E6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206240" y="4937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 修复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80760" y="42976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E6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良好偏上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080760" y="4937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发布评估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0" y="4160520"/>
            <a:ext cx="2103120" cy="2103120"/>
          </a:xfrm>
          <a:prstGeom prst="ellipse">
            <a:avLst/>
          </a:prstGeom>
          <a:solidFill>
            <a:srgbClr val="0F2A52"/>
          </a:solidFill>
          <a:ln w="31750">
            <a:solidFill>
              <a:srgbClr val="E6A52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06840" y="4480560"/>
            <a:ext cx="1463040" cy="1463040"/>
          </a:xfrm>
          <a:prstGeom prst="ellipse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06840" y="448056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600" kern="0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006840" y="5074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686800" y="64008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E6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v0.50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58521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 / 倾诉 / 闲聊 / 找答案 / 方法 / 知识库   ·   2026-08-11   ·   内部测试汇报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600" kern="0" dirty="0">
                <a:solidFill>
                  <a:srgbClr val="3D5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PAEG PROJECT  ·  TESTING DIVISION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274320"/>
            <a:ext cx="164592" cy="164592"/>
          </a:xfrm>
          <a:prstGeom prst="rect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625328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PAEG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25328" y="42976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spc="2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AGENT · v0.50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457200" y="411480"/>
            <a:ext cx="457200" cy="36576"/>
          </a:xfrm>
          <a:prstGeom prst="rect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6692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汇报导览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332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  ·  THIS PRESENTATION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457200" cy="36576"/>
          </a:xfrm>
          <a:prstGeom prst="rect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6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54864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2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691640"/>
            <a:ext cx="73152" cy="841248"/>
          </a:xfrm>
          <a:prstGeom prst="rect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7647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417320" y="178308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测试方法与标准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2112264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为何测、测什么、怎么测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63640" y="1691640"/>
            <a:ext cx="54864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2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1691640"/>
            <a:ext cx="73152" cy="841248"/>
          </a:xfrm>
          <a:prstGeom prst="rect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7647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223760" y="178308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核心数据 · 6 模式总览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223760" y="2112264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60+ 轮达标率与亮点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670048"/>
            <a:ext cx="54864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2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670048"/>
            <a:ext cx="73152" cy="841248"/>
          </a:xfrm>
          <a:prstGeom prst="rect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2743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417320" y="276148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教学模式详解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17320" y="3090672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轮完整教学循环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63640" y="2670048"/>
            <a:ext cx="54864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2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63640" y="2670048"/>
            <a:ext cx="73152" cy="841248"/>
          </a:xfrm>
          <a:prstGeom prst="rect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2743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7223760" y="276148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情感支持详解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223760" y="3090672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轮情绪闭环与证据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648456"/>
            <a:ext cx="54864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2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3648456"/>
            <a:ext cx="73152" cy="841248"/>
          </a:xfrm>
          <a:prstGeom prst="rect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37216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1417320" y="3739896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功能测试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417320" y="406908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 / 讲义 / 视频 / 资料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63640" y="3648456"/>
            <a:ext cx="54864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2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63640" y="3648456"/>
            <a:ext cx="73152" cy="841248"/>
          </a:xfrm>
          <a:prstGeom prst="rect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37216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7223760" y="3739896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 问题与修复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223760" y="406908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从缺陷到 0.1s 崩溃恢复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4626864"/>
            <a:ext cx="54864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2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57200" y="4626864"/>
            <a:ext cx="73152" cy="841248"/>
          </a:xfrm>
          <a:prstGeom prst="rect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" y="470001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1417320" y="471830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质量亮点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417320" y="5047488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层掩码 / 多轮记忆 / 语言规范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263640" y="4626864"/>
            <a:ext cx="54864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2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263640" y="4626864"/>
            <a:ext cx="73152" cy="841248"/>
          </a:xfrm>
          <a:prstGeom prst="rect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92240" y="470001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600" dirty="0"/>
          </a:p>
        </p:txBody>
      </p:sp>
      <p:sp>
        <p:nvSpPr>
          <p:cNvPr id="48" name="Text 46"/>
          <p:cNvSpPr/>
          <p:nvPr/>
        </p:nvSpPr>
        <p:spPr>
          <a:xfrm>
            <a:off x="7223760" y="471830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发布结论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7223760" y="5047488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良好偏上 → 修复后接近优秀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274320"/>
            <a:ext cx="164592" cy="164592"/>
          </a:xfrm>
          <a:prstGeom prst="rect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625328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PAEG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25328" y="42976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spc="2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AGENT · v0.50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457200" y="411480"/>
            <a:ext cx="457200" cy="36576"/>
          </a:xfrm>
          <a:prstGeom prst="rect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6692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测试方法与标准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332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 ·  HOW WE TESTED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457200" cy="36576"/>
          </a:xfrm>
          <a:prstGeom prst="rect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6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3657600" cy="4572000"/>
          </a:xfrm>
          <a:prstGeom prst="rect">
            <a:avLst/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  <a:effectLst>
            <a:outerShdw sx="100000" sy="100000" kx="0" ky="0" algn="bl" rotWithShape="0" blurRad="228600" dist="50800" dir="5400000">
              <a:srgbClr val="0F2A52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测试哲学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" y="22402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PHILOSOPHY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5800" y="2606040"/>
            <a:ext cx="457200" cy="36576"/>
          </a:xfrm>
          <a:prstGeom prst="rect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834640"/>
            <a:ext cx="164592" cy="164592"/>
          </a:xfrm>
          <a:prstGeom prst="ellipse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2788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既测有无 · 更测好坏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3063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memo/010：长度非目标，质量才是关键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" y="3611880"/>
            <a:ext cx="164592" cy="164592"/>
          </a:xfrm>
          <a:prstGeom prst="ellipse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566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维度质量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3840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相关性 / 语言 / 连贯 / 推进 / 时延 / 稳定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" y="4389120"/>
            <a:ext cx="164592" cy="164592"/>
          </a:xfrm>
          <a:prstGeom prst="ellipse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343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LLM-judge 复核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4617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每轮送独立评审模型，规避自评偏置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" y="5166360"/>
            <a:ext cx="164592" cy="164592"/>
          </a:xfrm>
          <a:prstGeom prst="ellipse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5120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Pub 标准对齐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5394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memo/013 的 21 维度发布清单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0" y="17830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执行流程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572000" y="214884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PIPELINE  ·  5 STEPS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0" y="2606040"/>
            <a:ext cx="7132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2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2724912"/>
            <a:ext cx="365760" cy="365760"/>
          </a:xfrm>
          <a:prstGeom prst="ellipse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2724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66360" y="26791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标准制定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166360" y="2935224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memo/017 优秀线定义 · 6 通用维度 + 模式专属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0" y="3319272"/>
            <a:ext cx="7132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2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3438144"/>
            <a:ext cx="365760" cy="365760"/>
          </a:xfrm>
          <a:prstGeom prst="ellipse">
            <a:avLst/>
          </a:prstGeom>
          <a:solidFill>
            <a:srgbClr val="3D5A93"/>
          </a:solidFill>
          <a:ln w="12700">
            <a:solidFill>
              <a:srgbClr val="3D5A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3438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166360" y="33924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166360" y="3648456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urllib · UTF-8 编码 · 禁 PowerShell 中文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0" y="4032504"/>
            <a:ext cx="7132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2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63440" y="4151376"/>
            <a:ext cx="365760" cy="365760"/>
          </a:xfrm>
          <a:prstGeom prst="ellipse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4151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166360" y="41056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真实对话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166360" y="4361688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模式 × 15+ 轮脚本化场景 · 非随机抽样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0" y="4745736"/>
            <a:ext cx="7132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2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63440" y="4864608"/>
            <a:ext cx="365760" cy="365760"/>
          </a:xfrm>
          <a:prstGeom prst="ellipse">
            <a:avLst/>
          </a:prstGeom>
          <a:solidFill>
            <a:srgbClr val="3D5A93"/>
          </a:solidFill>
          <a:ln w="12700">
            <a:solidFill>
              <a:srgbClr val="3D5A9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63440" y="4864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166360" y="48188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质量评审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166360" y="5074920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内容相关性 + 语言规范 L1/L2/L3 · 时延采样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72000" y="5458968"/>
            <a:ext cx="7132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2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663440" y="5577840"/>
            <a:ext cx="365760" cy="365760"/>
          </a:xfrm>
          <a:prstGeom prst="ellipse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63440" y="5577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166360" y="5532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问题闭环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166360" y="578815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Oracle 架构分析 → 修复 → 重测验证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2000" y="6263640"/>
            <a:ext cx="7132320" cy="45720"/>
          </a:xfrm>
          <a:prstGeom prst="rect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0" y="632764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关键事实  </a:t>
            </a:r>
            <a:pPr indent="0" marL="0">
              <a:buNone/>
            </a:pPr>
            <a:r>
              <a:rPr lang="en-US" sz="1000" dirty="0">
                <a:solidFill>
                  <a:srgbClr val="3D4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每轮独立计时 · 异常轮次二次重跑 · 修复前后对照截图存档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274320"/>
            <a:ext cx="164592" cy="164592"/>
          </a:xfrm>
          <a:prstGeom prst="rect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625328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PAEG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25328" y="42976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spc="2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AGENT · v0.50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457200" y="411480"/>
            <a:ext cx="457200" cy="36576"/>
          </a:xfrm>
          <a:prstGeom prst="rect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6692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核心数据 · 6 模式总览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332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 ·  6 MODES SUMMARY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457200" cy="36576"/>
          </a:xfrm>
          <a:prstGeom prst="rect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6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2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645920"/>
            <a:ext cx="2743200" cy="73152"/>
          </a:xfrm>
          <a:prstGeom prst="rect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7830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E6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</a:t>
            </a:r>
            <a:endParaRPr lang="en-US" sz="5000" dirty="0"/>
          </a:p>
        </p:txBody>
      </p:sp>
      <p:sp>
        <p:nvSpPr>
          <p:cNvPr id="13" name="Text 11"/>
          <p:cNvSpPr/>
          <p:nvPr/>
        </p:nvSpPr>
        <p:spPr>
          <a:xfrm>
            <a:off x="45720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5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真实对话轮数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2999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模式 × 15+ 轮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64992" y="164592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2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64992" y="1645920"/>
            <a:ext cx="2743200" cy="73152"/>
          </a:xfrm>
          <a:prstGeom prst="rect">
            <a:avLst/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64992" y="17830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3364992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5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整体达标率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64992" y="2999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修复后 60+/60+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72784" y="164592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2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72784" y="1645920"/>
            <a:ext cx="2743200" cy="73152"/>
          </a:xfrm>
          <a:prstGeom prst="rect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72784" y="17830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E6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000" dirty="0"/>
          </a:p>
        </p:txBody>
      </p:sp>
      <p:sp>
        <p:nvSpPr>
          <p:cNvPr id="23" name="Text 21"/>
          <p:cNvSpPr/>
          <p:nvPr/>
        </p:nvSpPr>
        <p:spPr>
          <a:xfrm>
            <a:off x="6272784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5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 严重缺陷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72784" y="2999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已全部修复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180576" y="164592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2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180576" y="1645920"/>
            <a:ext cx="2743200" cy="73152"/>
          </a:xfrm>
          <a:prstGeom prst="rect">
            <a:avLst/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80576" y="17830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良+</a:t>
            </a:r>
            <a:endParaRPr lang="en-US" sz="5000" dirty="0"/>
          </a:p>
        </p:txBody>
      </p:sp>
      <p:sp>
        <p:nvSpPr>
          <p:cNvPr id="28" name="Text 26"/>
          <p:cNvSpPr/>
          <p:nvPr/>
        </p:nvSpPr>
        <p:spPr>
          <a:xfrm>
            <a:off x="9180576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5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发布评估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80576" y="2999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修复后接近优秀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36118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模式逐项结果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39319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BREAKDOWN  ·  ALL PASSED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4297680"/>
            <a:ext cx="56235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2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76072" y="4416552"/>
            <a:ext cx="384048" cy="384048"/>
          </a:xfrm>
          <a:prstGeom prst="ellipse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" y="4416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97280" y="43525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  ·  teach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97280" y="4617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单步教学+续讲 · 教学闭环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480560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6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15/15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257800" y="43982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074920" y="4645152"/>
            <a:ext cx="914400" cy="219456"/>
          </a:xfrm>
          <a:prstGeom prst="rect">
            <a:avLst/>
          </a:prstGeom>
          <a:solidFill>
            <a:srgbClr val="E8F5EE"/>
          </a:solidFill>
          <a:ln w="6350">
            <a:solidFill>
              <a:srgbClr val="1F9D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74920" y="46451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9D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100%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217920" y="4297680"/>
            <a:ext cx="56235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2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336792" y="4416552"/>
            <a:ext cx="384048" cy="38404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36792" y="4416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倾诉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858000" y="43525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倾诉  ·  affection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858000" y="4617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情绪闭环 · 多轮记忆极佳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0241280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15/15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1018520" y="43982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0835640" y="4645152"/>
            <a:ext cx="914400" cy="219456"/>
          </a:xfrm>
          <a:prstGeom prst="rect">
            <a:avLst/>
          </a:prstGeom>
          <a:solidFill>
            <a:srgbClr val="E8F5EE"/>
          </a:solidFill>
          <a:ln w="6350">
            <a:solidFill>
              <a:srgbClr val="1F9D5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835640" y="46451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9D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100%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7200" y="5010912"/>
            <a:ext cx="56235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2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576072" y="5129784"/>
            <a:ext cx="384048" cy="384048"/>
          </a:xfrm>
          <a:prstGeom prst="ellipse">
            <a:avLst/>
          </a:prstGeom>
          <a:solidFill>
            <a:srgbClr val="3D5A93"/>
          </a:solidFill>
          <a:ln w="12700">
            <a:solidFill>
              <a:srgbClr val="3D5A9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6072" y="5129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闲聊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097280" y="50657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闲聊  ·  chat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1097280" y="5330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薇依人设 · 哲思深入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480560" y="50840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D5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5257800" y="51114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074920" y="5358384"/>
            <a:ext cx="914400" cy="219456"/>
          </a:xfrm>
          <a:prstGeom prst="rect">
            <a:avLst/>
          </a:prstGeom>
          <a:solidFill>
            <a:srgbClr val="E8F5EE"/>
          </a:solidFill>
          <a:ln w="6350">
            <a:solidFill>
              <a:srgbClr val="1F9D5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74920" y="53583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9D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全过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217920" y="5010912"/>
            <a:ext cx="56235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2">
                <a:alpha val="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336792" y="5129784"/>
            <a:ext cx="384048" cy="384048"/>
          </a:xfrm>
          <a:prstGeom prst="ellipse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36792" y="5129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找答案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858000" y="50657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找答案  ·  answer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6858000" y="5330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光合作用 · 勾股证明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10241280" y="50840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6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11018520" y="51114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10835640" y="5358384"/>
            <a:ext cx="914400" cy="219456"/>
          </a:xfrm>
          <a:prstGeom prst="rect">
            <a:avLst/>
          </a:prstGeom>
          <a:solidFill>
            <a:srgbClr val="E8F5EE"/>
          </a:solidFill>
          <a:ln w="6350">
            <a:solidFill>
              <a:srgbClr val="1F9D5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835640" y="53583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9D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全过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57200" y="5724144"/>
            <a:ext cx="56235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2">
                <a:alpha val="8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576072" y="5843016"/>
            <a:ext cx="384048" cy="384048"/>
          </a:xfrm>
          <a:prstGeom prst="ellipse">
            <a:avLst/>
          </a:prstGeom>
          <a:solidFill>
            <a:srgbClr val="3D5A93"/>
          </a:solidFill>
          <a:ln w="12700">
            <a:solidFill>
              <a:srgbClr val="3D5A9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76072" y="5843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1097280" y="57790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 ·  method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1097280" y="60441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不给你秘籍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4480560" y="579729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D5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74" name="Text 72"/>
          <p:cNvSpPr/>
          <p:nvPr/>
        </p:nvSpPr>
        <p:spPr>
          <a:xfrm>
            <a:off x="5257800" y="58247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5074920" y="6071616"/>
            <a:ext cx="914400" cy="219456"/>
          </a:xfrm>
          <a:prstGeom prst="rect">
            <a:avLst/>
          </a:prstGeom>
          <a:solidFill>
            <a:srgbClr val="E8F5EE"/>
          </a:solidFill>
          <a:ln w="6350">
            <a:solidFill>
              <a:srgbClr val="1F9D5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074920" y="60716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9D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全过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6217920" y="5724144"/>
            <a:ext cx="56235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2">
                <a:alpha val="8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6336792" y="5843016"/>
            <a:ext cx="384048" cy="384048"/>
          </a:xfrm>
          <a:prstGeom prst="ellipse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336792" y="5843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6858000" y="57790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  ·  knowledge</a:t>
            </a:r>
            <a:endParaRPr lang="en-US" sz="1300" dirty="0"/>
          </a:p>
        </p:txBody>
      </p:sp>
      <p:sp>
        <p:nvSpPr>
          <p:cNvPr id="81" name="Text 79"/>
          <p:cNvSpPr/>
          <p:nvPr/>
        </p:nvSpPr>
        <p:spPr>
          <a:xfrm>
            <a:off x="6858000" y="60441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像整理书架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10241280" y="579729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6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83" name="Text 81"/>
          <p:cNvSpPr/>
          <p:nvPr/>
        </p:nvSpPr>
        <p:spPr>
          <a:xfrm>
            <a:off x="11018520" y="58247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10835640" y="6071616"/>
            <a:ext cx="914400" cy="219456"/>
          </a:xfrm>
          <a:prstGeom prst="rect">
            <a:avLst/>
          </a:prstGeom>
          <a:solidFill>
            <a:srgbClr val="E8F5EE"/>
          </a:solidFill>
          <a:ln w="6350">
            <a:solidFill>
              <a:srgbClr val="1F9D55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0835640" y="60716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9D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全过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274320"/>
            <a:ext cx="164592" cy="164592"/>
          </a:xfrm>
          <a:prstGeom prst="rect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625328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PAEG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25328" y="42976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spc="2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AGENT · v0.50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457200" y="411480"/>
            <a:ext cx="457200" cy="36576"/>
          </a:xfrm>
          <a:prstGeom prst="rect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6692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教学模式 · 15 轮完整循环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332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MODE  ·  15 ROUNDS · 6 STAGES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457200" cy="36576"/>
          </a:xfrm>
          <a:prstGeom prst="rect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6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教学循环 6 阶段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920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PEDAGOGICAL LOOP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1828800" cy="457200"/>
          </a:xfrm>
          <a:prstGeom prst="rect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34440" y="2834640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A5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377440" y="2286000"/>
            <a:ext cx="1828800" cy="457200"/>
          </a:xfrm>
          <a:prstGeom prst="rect">
            <a:avLst/>
          </a:prstGeom>
          <a:solidFill>
            <a:srgbClr val="3D5A93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7744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新授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154680" y="2834640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A5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54680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97680" y="2286000"/>
            <a:ext cx="1828800" cy="457200"/>
          </a:xfrm>
          <a:prstGeom prst="rect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巩固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74920" y="2834640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A5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2286000"/>
            <a:ext cx="1828800" cy="457200"/>
          </a:xfrm>
          <a:prstGeom prst="rect">
            <a:avLst/>
          </a:prstGeom>
          <a:solidFill>
            <a:srgbClr val="3D5A93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复习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995160" y="2834640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A5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95160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138160" y="2286000"/>
            <a:ext cx="1828800" cy="457200"/>
          </a:xfrm>
          <a:prstGeom prst="rect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3816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915400" y="2834640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A5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15400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0058400" y="2286000"/>
            <a:ext cx="1828800" cy="457200"/>
          </a:xfrm>
          <a:prstGeom prst="rect">
            <a:avLst/>
          </a:prstGeom>
          <a:solidFill>
            <a:srgbClr val="3D5A93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5840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提高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0835640" y="2834640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A5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835640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3383280"/>
            <a:ext cx="11247120" cy="411480"/>
          </a:xfrm>
          <a:prstGeom prst="rect">
            <a:avLst/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33832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测试主题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初中物理 · 浮力 / 阿基米德原理 · 单步教学+续讲 · 学生 15 轮覆盖六阶段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3977640"/>
            <a:ext cx="11247120" cy="292608"/>
          </a:xfrm>
          <a:prstGeom prst="rect">
            <a:avLst/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977640"/>
            <a:ext cx="54864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05840" y="3977640"/>
            <a:ext cx="141732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/ 角色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423160" y="3977640"/>
            <a:ext cx="452628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学生问题 / 关键考察点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4270248"/>
            <a:ext cx="11247120" cy="15819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270248"/>
            <a:ext cx="548640" cy="158191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05840" y="4270248"/>
            <a:ext cx="1417320" cy="158191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导入-困惑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423160" y="4270248"/>
            <a:ext cx="4526280" cy="158191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4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铁球沉 · 轮船浮？矛盾设问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" y="4428439"/>
            <a:ext cx="11247120" cy="158191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428439"/>
            <a:ext cx="548640" cy="158191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05840" y="4428439"/>
            <a:ext cx="1417320" cy="158191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新授-回应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423160" y="4428439"/>
            <a:ext cx="4526280" cy="158191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4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空心 vs 实心的形态切入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7200" y="4586630"/>
            <a:ext cx="11247120" cy="15819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4586630"/>
            <a:ext cx="548640" cy="158191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005840" y="4586630"/>
            <a:ext cx="1417320" cy="158191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新授-追问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2423160" y="4586630"/>
            <a:ext cx="4526280" cy="158191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4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空心为何能浮 · 87.4s 最慢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57200" y="4744822"/>
            <a:ext cx="11247120" cy="158191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4744822"/>
            <a:ext cx="548640" cy="158191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005840" y="4744822"/>
            <a:ext cx="1417320" cy="158191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巩固-确认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2423160" y="4744822"/>
            <a:ext cx="4526280" cy="158191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4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排开水越多浮力越大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57200" y="4903013"/>
            <a:ext cx="11247120" cy="15819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4903013"/>
            <a:ext cx="548640" cy="158191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005840" y="4903013"/>
            <a:ext cx="1417320" cy="158191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巩固-练习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2423160" y="4903013"/>
            <a:ext cx="4526280" cy="158191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4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铁皮小船怎么判断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57200" y="5061204"/>
            <a:ext cx="11247120" cy="158191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7200" y="5061204"/>
            <a:ext cx="548640" cy="158191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005840" y="5061204"/>
            <a:ext cx="1417320" cy="158191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复习-总结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2423160" y="5061204"/>
            <a:ext cx="4526280" cy="158191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4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浮力 = 排开水重量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57200" y="5219395"/>
            <a:ext cx="11247120" cy="15819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57200" y="5219395"/>
            <a:ext cx="548640" cy="158191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1005840" y="5219395"/>
            <a:ext cx="1417320" cy="158191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提高-深入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2423160" y="5219395"/>
            <a:ext cx="4526280" cy="158191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4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潜水艇控制上下潜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57200" y="5377586"/>
            <a:ext cx="11247120" cy="158191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7200" y="5377586"/>
            <a:ext cx="548640" cy="158191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1005840" y="5377586"/>
            <a:ext cx="1417320" cy="158191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提高-应用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2423160" y="5377586"/>
            <a:ext cx="4526280" cy="158191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4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海水淡水密度差异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57200" y="5535778"/>
            <a:ext cx="11247120" cy="15819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57200" y="5535778"/>
            <a:ext cx="548640" cy="158191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R9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1005840" y="5535778"/>
            <a:ext cx="1417320" cy="158191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复习-检验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2423160" y="5535778"/>
            <a:ext cx="4526280" cy="158191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4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密度与浮力关系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457200" y="5693969"/>
            <a:ext cx="11247120" cy="158191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57200" y="5693969"/>
            <a:ext cx="548640" cy="158191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R10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1005840" y="5693969"/>
            <a:ext cx="1417320" cy="158191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新授-拓展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2423160" y="5693969"/>
            <a:ext cx="4526280" cy="158191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4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阿基米德历史典故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457200" y="5852160"/>
            <a:ext cx="11247120" cy="15819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57200" y="5852160"/>
            <a:ext cx="548640" cy="158191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R11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1005840" y="5852160"/>
            <a:ext cx="1417320" cy="158191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巩固-综合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2423160" y="5852160"/>
            <a:ext cx="4526280" cy="158191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4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热气球是不是浮力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457200" y="6010351"/>
            <a:ext cx="11247120" cy="158191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57200" y="6010351"/>
            <a:ext cx="548640" cy="158191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R12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1005840" y="6010351"/>
            <a:ext cx="1417320" cy="158191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提高-计算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2423160" y="6010351"/>
            <a:ext cx="4526280" cy="158191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4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体积 2m³ · 一半浸入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457200" y="6168542"/>
            <a:ext cx="11247120" cy="15819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57200" y="6168542"/>
            <a:ext cx="548640" cy="158191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R13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1005840" y="6168542"/>
            <a:ext cx="1417320" cy="158191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复习-纠正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2423160" y="6168542"/>
            <a:ext cx="4526280" cy="158191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4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排开水&gt;物重就浮？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457200" y="6326734"/>
            <a:ext cx="11247120" cy="158191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57200" y="6326734"/>
            <a:ext cx="548640" cy="158191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R14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1005840" y="6326734"/>
            <a:ext cx="1417320" cy="158191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总结-梳理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2423160" y="6326734"/>
            <a:ext cx="4526280" cy="158191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4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今日知识框架总结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457200" y="6484925"/>
            <a:ext cx="11247120" cy="15819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57200" y="6484925"/>
            <a:ext cx="548640" cy="158191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R15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1005840" y="6484925"/>
            <a:ext cx="1417320" cy="158191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提高-挑战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2423160" y="6484925"/>
            <a:ext cx="4526280" cy="158191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4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铁在水银里会浮吗？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274320"/>
            <a:ext cx="164592" cy="164592"/>
          </a:xfrm>
          <a:prstGeom prst="rect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625328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PAEG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25328" y="42976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spc="2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AGENT · v0.50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457200" y="411480"/>
            <a:ext cx="457200" cy="36576"/>
          </a:xfrm>
          <a:prstGeom prst="rect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6692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情感支持 · 15 轮情绪闭环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332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AFFECTION MODE  ·  15 ROUNDS · MEMORY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457200" cy="36576"/>
          </a:xfrm>
          <a:prstGeom prst="rect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6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状态机：5 阶段闭环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9202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STATE MACHINE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60120" y="2377440"/>
            <a:ext cx="36576" cy="3840480"/>
          </a:xfrm>
          <a:prstGeom prst="rect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377440"/>
            <a:ext cx="411480" cy="411480"/>
          </a:xfrm>
          <a:prstGeom prst="ellipse">
            <a:avLst/>
          </a:prstGeom>
          <a:solidFill>
            <a:srgbClr val="0F2A52"/>
          </a:solidFill>
          <a:ln w="25400">
            <a:solidFill>
              <a:srgbClr val="E6A5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417320" y="2377440"/>
            <a:ext cx="40233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2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554480" y="24231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承接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0" y="2468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R1-2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554480" y="27249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听见 · 不替用户定义情绪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77240" y="3145536"/>
            <a:ext cx="411480" cy="411480"/>
          </a:xfrm>
          <a:prstGeom prst="ellipse">
            <a:avLst/>
          </a:prstGeom>
          <a:solidFill>
            <a:srgbClr val="0F2A52"/>
          </a:solidFill>
          <a:ln w="25400">
            <a:solidFill>
              <a:srgbClr val="E6A5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1455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417320" y="3145536"/>
            <a:ext cx="40233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2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554480" y="319125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澄清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743200" y="32369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R3-4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554480" y="34930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聚焦关键事实（不被模板化）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77240" y="3913632"/>
            <a:ext cx="411480" cy="411480"/>
          </a:xfrm>
          <a:prstGeom prst="ellipse">
            <a:avLst/>
          </a:prstGeom>
          <a:solidFill>
            <a:srgbClr val="0F2A52"/>
          </a:solidFill>
          <a:ln w="25400">
            <a:solidFill>
              <a:srgbClr val="E6A5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3913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417320" y="3913632"/>
            <a:ext cx="40233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2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554480" y="395935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分离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743200" y="4005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R5-7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554480" y="426110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事实与评价 · 双重视角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77240" y="4681728"/>
            <a:ext cx="411480" cy="411480"/>
          </a:xfrm>
          <a:prstGeom prst="ellipse">
            <a:avLst/>
          </a:prstGeom>
          <a:solidFill>
            <a:srgbClr val="0F2A52"/>
          </a:solidFill>
          <a:ln w="25400">
            <a:solidFill>
              <a:srgbClr val="E6A5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46817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417320" y="4681728"/>
            <a:ext cx="40233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2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554480" y="472744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743200" y="47731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R8-9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554480" y="50292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视角切换 · 自我关怀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77240" y="5449824"/>
            <a:ext cx="411480" cy="411480"/>
          </a:xfrm>
          <a:prstGeom prst="ellipse">
            <a:avLst/>
          </a:prstGeom>
          <a:solidFill>
            <a:srgbClr val="0F2A52"/>
          </a:solidFill>
          <a:ln w="25400">
            <a:solidFill>
              <a:srgbClr val="E6A52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54498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417320" y="5449824"/>
            <a:ext cx="40233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2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1554480" y="549554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2743200" y="554126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R10-15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554480" y="57972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选项 → 具体 → 巩固 → 告别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852160" y="1645920"/>
            <a:ext cx="5852160" cy="4572000"/>
          </a:xfrm>
          <a:prstGeom prst="rect">
            <a:avLst/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  <a:effectLst>
            <a:outerShdw sx="100000" sy="100000" kx="0" ky="0" algn="bl" rotWithShape="0" blurRad="228600" dist="50800" dir="5400000">
              <a:srgbClr val="0F2A52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0350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场景：妈妈的比较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6035040" y="21488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STORYLINE  ·  GIRL &amp; MOTHER COMPARISON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035040" y="2468880"/>
            <a:ext cx="457200" cy="36576"/>
          </a:xfrm>
          <a:prstGeom prst="rect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35040" y="26974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675120" y="2697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 从小就这样 · 妈妈总说别人家孩子更好 」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035040" y="32004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675120" y="32004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 其实我知道英语是进步了的 」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035040" y="3703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675120" y="37033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 我可能可以先记录自己的进步？ 」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035040" y="4206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675120" y="4206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 我会按我们说的去做 · 下次汇报 」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035040" y="4937760"/>
            <a:ext cx="5486400" cy="36576"/>
          </a:xfrm>
          <a:prstGeom prst="rect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035040" y="5166360"/>
            <a:ext cx="146304" cy="146304"/>
          </a:xfrm>
          <a:prstGeom prst="ellipse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63640" y="5120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多轮记忆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8092440" y="5120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R10 引用 R2 原话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035040" y="5532120"/>
            <a:ext cx="146304" cy="146304"/>
          </a:xfrm>
          <a:prstGeom prst="ellipse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63640" y="5486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非模板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8092440" y="5486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R3-R15 无重复回应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035040" y="5897880"/>
            <a:ext cx="146304" cy="146304"/>
          </a:xfrm>
          <a:prstGeom prst="ellipse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263640" y="5852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状态推进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8092440" y="5852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情绪倾诉 → 行动方案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274320"/>
            <a:ext cx="164592" cy="164592"/>
          </a:xfrm>
          <a:prstGeom prst="rect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625328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PAEG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25328" y="42976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spc="2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AGENT · v0.50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457200" y="411480"/>
            <a:ext cx="457200" cy="36576"/>
          </a:xfrm>
          <a:prstGeom prst="rect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6692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功能测试 · 4 项端到端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332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TESTS  ·  PPT · NOTES · VIDEO · SOURCES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457200" cy="36576"/>
          </a:xfrm>
          <a:prstGeom prst="rect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6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55778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5400000">
              <a:srgbClr val="0F2A52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645920"/>
            <a:ext cx="91440" cy="2194560"/>
          </a:xfrm>
          <a:prstGeom prst="rect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1965960"/>
            <a:ext cx="731520" cy="731520"/>
          </a:xfrm>
          <a:prstGeom prst="ellipse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91640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 生成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91640" y="2286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92040" y="1920240"/>
            <a:ext cx="1005840" cy="365760"/>
          </a:xfrm>
          <a:prstGeom prst="rect">
            <a:avLst/>
          </a:prstGeom>
          <a:solidFill>
            <a:srgbClr val="E8F5EE"/>
          </a:solidFill>
          <a:ln w="6350">
            <a:solidFill>
              <a:srgbClr val="1F9D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9202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27432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E6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6000" dirty="0"/>
          </a:p>
        </p:txBody>
      </p:sp>
      <p:sp>
        <p:nvSpPr>
          <p:cNvPr id="19" name="Text 17"/>
          <p:cNvSpPr/>
          <p:nvPr/>
        </p:nvSpPr>
        <p:spPr>
          <a:xfrm>
            <a:off x="2651760" y="2971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65176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章节大纲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7240" y="3611880"/>
            <a:ext cx="1600200" cy="16459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611880"/>
            <a:ext cx="16002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D4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围绕提问自动组织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468880" y="3611880"/>
            <a:ext cx="1600200" cy="16459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68880" y="3611880"/>
            <a:ext cx="16002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D4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章节连贯可阅读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160520" y="3611880"/>
            <a:ext cx="1600200" cy="16459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60520" y="3611880"/>
            <a:ext cx="16002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D4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.pptx 可直接打开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172200" y="1645920"/>
            <a:ext cx="55778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5400000">
              <a:srgbClr val="0F2A52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72200" y="1645920"/>
            <a:ext cx="91440" cy="2194560"/>
          </a:xfrm>
          <a:prstGeom prst="rect">
            <a:avLst/>
          </a:prstGeom>
          <a:solidFill>
            <a:srgbClr val="3D5A93"/>
          </a:solidFill>
          <a:ln w="12700">
            <a:solidFill>
              <a:srgbClr val="3D5A9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92240" y="1965960"/>
            <a:ext cx="731520" cy="731520"/>
          </a:xfrm>
          <a:prstGeom prst="ellipse">
            <a:avLst/>
          </a:prstGeom>
          <a:solidFill>
            <a:srgbClr val="3D5A93"/>
          </a:solidFill>
          <a:ln w="12700">
            <a:solidFill>
              <a:srgbClr val="3D5A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406640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讲义生成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406640" y="2286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0607040" y="1920240"/>
            <a:ext cx="1005840" cy="365760"/>
          </a:xfrm>
          <a:prstGeom prst="rect">
            <a:avLst/>
          </a:prstGeom>
          <a:solidFill>
            <a:srgbClr val="E8F5EE"/>
          </a:solidFill>
          <a:ln w="6350">
            <a:solidFill>
              <a:srgbClr val="1F9D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607040" y="19202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92240" y="27432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3D5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</a:t>
            </a:r>
            <a:endParaRPr lang="en-US" sz="6000" dirty="0"/>
          </a:p>
        </p:txBody>
      </p:sp>
      <p:sp>
        <p:nvSpPr>
          <p:cNvPr id="36" name="Text 34"/>
          <p:cNvSpPr/>
          <p:nvPr/>
        </p:nvSpPr>
        <p:spPr>
          <a:xfrm>
            <a:off x="8366760" y="2971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文章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36676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 Markdown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92240" y="3611880"/>
            <a:ext cx="1600200" cy="16459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3611880"/>
            <a:ext cx="16002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D4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服务端重启后稳定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8183880" y="3611880"/>
            <a:ext cx="1600200" cy="16459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83880" y="3611880"/>
            <a:ext cx="16002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D4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配合知识点串联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9875520" y="3611880"/>
            <a:ext cx="1600200" cy="16459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875520" y="3611880"/>
            <a:ext cx="16002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D4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可直接下载使用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57200" y="4023360"/>
            <a:ext cx="55778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5400000">
              <a:srgbClr val="0F2A52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57200" y="4023360"/>
            <a:ext cx="91440" cy="2194560"/>
          </a:xfrm>
          <a:prstGeom prst="rect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77240" y="4343400"/>
            <a:ext cx="731520" cy="731520"/>
          </a:xfrm>
          <a:prstGeom prst="ellipse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7240" y="4343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1691640" y="4297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授课视频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691640" y="4663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MP4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92040" y="4297680"/>
            <a:ext cx="1005840" cy="365760"/>
          </a:xfrm>
          <a:prstGeom prst="rect">
            <a:avLst/>
          </a:prstGeom>
          <a:solidFill>
            <a:srgbClr val="E8F5EE"/>
          </a:solidFill>
          <a:ln w="6350">
            <a:solidFill>
              <a:srgbClr val="1F9D5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92040" y="42976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777240" y="51206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E6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23.2</a:t>
            </a:r>
            <a:endParaRPr lang="en-US" sz="6000" dirty="0"/>
          </a:p>
        </p:txBody>
      </p:sp>
      <p:sp>
        <p:nvSpPr>
          <p:cNvPr id="53" name="Text 51"/>
          <p:cNvSpPr/>
          <p:nvPr/>
        </p:nvSpPr>
        <p:spPr>
          <a:xfrm>
            <a:off x="2651760" y="5349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2651760" y="5623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页自动讲解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77240" y="5989320"/>
            <a:ext cx="1600200" cy="16459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7240" y="5989320"/>
            <a:ext cx="16002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D4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h264 + aac 编码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2468880" y="5989320"/>
            <a:ext cx="1600200" cy="16459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468880" y="5989320"/>
            <a:ext cx="16002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D4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配音同步生成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160520" y="5989320"/>
            <a:ext cx="1600200" cy="16459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160520" y="5989320"/>
            <a:ext cx="16002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D4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时长合理可控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172200" y="4023360"/>
            <a:ext cx="55778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5400000">
              <a:srgbClr val="0F2A52">
                <a:alpha val="1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172200" y="4023360"/>
            <a:ext cx="91440" cy="2194560"/>
          </a:xfrm>
          <a:prstGeom prst="rect">
            <a:avLst/>
          </a:prstGeom>
          <a:solidFill>
            <a:srgbClr val="3D5A93"/>
          </a:solidFill>
          <a:ln w="12700">
            <a:solidFill>
              <a:srgbClr val="3D5A9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492240" y="4343400"/>
            <a:ext cx="731520" cy="731520"/>
          </a:xfrm>
          <a:prstGeom prst="ellipse">
            <a:avLst/>
          </a:prstGeom>
          <a:solidFill>
            <a:srgbClr val="3D5A93"/>
          </a:solidFill>
          <a:ln w="12700">
            <a:solidFill>
              <a:srgbClr val="3D5A9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92240" y="4343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</a:t>
            </a:r>
            <a:endParaRPr lang="en-US" sz="2200" dirty="0"/>
          </a:p>
        </p:txBody>
      </p:sp>
      <p:sp>
        <p:nvSpPr>
          <p:cNvPr id="65" name="Text 63"/>
          <p:cNvSpPr/>
          <p:nvPr/>
        </p:nvSpPr>
        <p:spPr>
          <a:xfrm>
            <a:off x="7406640" y="4297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资料推荐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7406640" y="4663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10607040" y="4297680"/>
            <a:ext cx="1005840" cy="365760"/>
          </a:xfrm>
          <a:prstGeom prst="rect">
            <a:avLst/>
          </a:prstGeom>
          <a:solidFill>
            <a:srgbClr val="E8F5EE"/>
          </a:solidFill>
          <a:ln w="6350">
            <a:solidFill>
              <a:srgbClr val="1F9D5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607040" y="42976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6492240" y="51206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3D5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6000" dirty="0"/>
          </a:p>
        </p:txBody>
      </p:sp>
      <p:sp>
        <p:nvSpPr>
          <p:cNvPr id="70" name="Text 68"/>
          <p:cNvSpPr/>
          <p:nvPr/>
        </p:nvSpPr>
        <p:spPr>
          <a:xfrm>
            <a:off x="8366760" y="5349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8366760" y="5623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summary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6492240" y="5989320"/>
            <a:ext cx="1600200" cy="16459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492240" y="5989320"/>
            <a:ext cx="16002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D4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按提问精选资料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8183880" y="5989320"/>
            <a:ext cx="1600200" cy="16459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183880" y="5989320"/>
            <a:ext cx="16002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D4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summary 含优势+内容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9875520" y="5989320"/>
            <a:ext cx="1600200" cy="16459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875520" y="5989320"/>
            <a:ext cx="16002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D4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Bing 边界偶偏题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274320"/>
            <a:ext cx="164592" cy="164592"/>
          </a:xfrm>
          <a:prstGeom prst="rect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625328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PAEG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25328" y="42976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spc="2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AGENT · v0.50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457200" y="411480"/>
            <a:ext cx="457200" cy="36576"/>
          </a:xfrm>
          <a:prstGeom prst="rect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6692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 问题与修复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332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FIXES  ·  3 P0 ISSUES RESOLVED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457200" cy="36576"/>
          </a:xfrm>
          <a:prstGeom prst="rect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6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11247120" cy="502920"/>
          </a:xfrm>
          <a:prstGeom prst="rect">
            <a:avLst/>
          </a:prstGeom>
          <a:solidFill>
            <a:srgbClr val="FDECEA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6459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真实价值：60+ 轮真实对话揪出 3 个会在生产环境劣化的隐患，修复后系统表现稳定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370332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5400000">
              <a:srgbClr val="0F2A52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331720"/>
            <a:ext cx="3703320" cy="457200"/>
          </a:xfrm>
          <a:prstGeom prst="rect">
            <a:avLst/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423160"/>
            <a:ext cx="457200" cy="274320"/>
          </a:xfrm>
          <a:prstGeom prst="ellipse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423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P0-1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" y="2423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utils.py / utils/ shadowing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29260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utils 同名冲突 → 兜底模板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4360" y="3520440"/>
            <a:ext cx="548640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5204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现象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234440" y="350215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倾诉 R3 返回固定模板（0.1s）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" y="4160520"/>
            <a:ext cx="548640" cy="201168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1605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234440" y="414223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utils.py 与 utils/ 目录同名冲突，from utils.constraint_signals 失败 → 兜底模板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4360" y="4800600"/>
            <a:ext cx="548640" cy="201168"/>
          </a:xfrm>
          <a:prstGeom prst="rect">
            <a:avLst/>
          </a:prstGeom>
          <a:solidFill>
            <a:srgbClr val="3D5A93"/>
          </a:solidFill>
          <a:ln w="12700">
            <a:solidFill>
              <a:srgbClr val="3D5A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800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234440" y="478231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utils.py 内容并入 utils/__init__.py，补 services/handlers/__init__.py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94360" y="5440680"/>
            <a:ext cx="548640" cy="201168"/>
          </a:xfrm>
          <a:prstGeom prst="rect">
            <a:avLst/>
          </a:prstGeom>
          <a:solidFill>
            <a:srgbClr val="1F9D55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54406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234440" y="542239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R3 恢复高质量情绪回应（这句话从小跟着你长大）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233672" y="2331720"/>
            <a:ext cx="370332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5400000">
              <a:srgbClr val="0F2A52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233672" y="2331720"/>
            <a:ext cx="3703320" cy="457200"/>
          </a:xfrm>
          <a:prstGeom prst="rect">
            <a:avLst/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70832" y="2423160"/>
            <a:ext cx="457200" cy="274320"/>
          </a:xfrm>
          <a:prstGeom prst="ellipse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70832" y="2423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P0-2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73752" y="2423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budget cumulative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416552" y="29260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预算生命周期累计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370832" y="3520440"/>
            <a:ext cx="548640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70832" y="35204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现象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10912" y="350215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30-40 请求后 knowledge/method 退化为固定模板，讲义 0.0s 失败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370832" y="4160520"/>
            <a:ext cx="548640" cy="201168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70832" y="41605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010912" y="414223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_TOKEN_BUDGET_USED 跨服务器累计；超 60000 后 _safe_chat 全返回 None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370832" y="4800600"/>
            <a:ext cx="548640" cy="201168"/>
          </a:xfrm>
          <a:prstGeom prst="rect">
            <a:avLst/>
          </a:prstGeom>
          <a:solidFill>
            <a:srgbClr val="3D5A93"/>
          </a:solidFill>
          <a:ln w="12700">
            <a:solidFill>
              <a:srgbClr val="3D5A9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70832" y="4800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010912" y="478231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 60 分钟窗口制（窗口滑动自动重置）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370832" y="5440680"/>
            <a:ext cx="548640" cy="201168"/>
          </a:xfrm>
          <a:prstGeom prst="rect">
            <a:avLst/>
          </a:prstGeom>
          <a:solidFill>
            <a:srgbClr val="1F9D55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70832" y="54406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010912" y="542239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重启后 knowledge 恢复 1011 字详细清点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010144" y="2331720"/>
            <a:ext cx="370332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5400000">
              <a:srgbClr val="0F2A52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010144" y="2331720"/>
            <a:ext cx="3703320" cy="457200"/>
          </a:xfrm>
          <a:prstGeom prst="rect">
            <a:avLst/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147304" y="2423160"/>
            <a:ext cx="457200" cy="274320"/>
          </a:xfrm>
          <a:prstGeom prst="ellipse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147304" y="2423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P0-3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650224" y="2423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Long-running LLM degradation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193024" y="29260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服务器长跑后 LLM 退化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8147304" y="3520440"/>
            <a:ext cx="548640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147304" y="35204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现象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787384" y="350215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即使预算窗口制，长时间运行后仍偶发 LLM 立即失败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8147304" y="4160520"/>
            <a:ext cx="548640" cy="201168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147304" y="41605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787384" y="414223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Oracle 后台分析中（连接池/超时/重试）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8147304" y="4800600"/>
            <a:ext cx="548640" cy="201168"/>
          </a:xfrm>
          <a:prstGeom prst="rect">
            <a:avLst/>
          </a:prstGeom>
          <a:solidFill>
            <a:srgbClr val="3D5A93"/>
          </a:solidFill>
          <a:ln w="12700">
            <a:solidFill>
              <a:srgbClr val="3D5A9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147304" y="4800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787384" y="478231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观察期 + 进程级自动重启钩子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8147304" y="5440680"/>
            <a:ext cx="548640" cy="201168"/>
          </a:xfrm>
          <a:prstGeom prst="rect">
            <a:avLst/>
          </a:prstGeom>
          <a:solidFill>
            <a:srgbClr val="1F9D55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147304" y="54406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8787384" y="542239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P0-1/2 修复后稳定运行，问题未再触发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274320"/>
            <a:ext cx="164592" cy="164592"/>
          </a:xfrm>
          <a:prstGeom prst="rect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625328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PAEG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25328" y="42976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spc="2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AGENT · v0.50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457200" y="411480"/>
            <a:ext cx="457200" cy="36576"/>
          </a:xfrm>
          <a:prstGeom prst="rect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6692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质量亮点 · 4 项硬实力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332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HIGHLIGHTS  ·  4 PILLARS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457200" cy="36576"/>
          </a:xfrm>
          <a:prstGeom prst="rect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6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55778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5400000">
              <a:srgbClr val="0F2A52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182880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0" b="1" dirty="0">
                <a:solidFill>
                  <a:srgbClr val="E6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000" dirty="0"/>
          </a:p>
        </p:txBody>
      </p:sp>
      <p:sp>
        <p:nvSpPr>
          <p:cNvPr id="12" name="Text 10"/>
          <p:cNvSpPr/>
          <p:nvPr/>
        </p:nvSpPr>
        <p:spPr>
          <a:xfrm>
            <a:off x="2377440" y="1920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语言规范三层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377440" y="22860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/ L2 / L3 POLISH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77440" y="2514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提示词约束 + 规则检测 + LLM 修正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377440" y="2852928"/>
            <a:ext cx="365760" cy="36576"/>
          </a:xfrm>
          <a:prstGeom prst="rect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77440" y="3017520"/>
            <a:ext cx="91440" cy="91440"/>
          </a:xfrm>
          <a:prstGeom prst="ellipse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0" y="29443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提示词：主谓宾完整、动宾搭配、介词规范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377440" y="3291840"/>
            <a:ext cx="91440" cy="91440"/>
          </a:xfrm>
          <a:prstGeom prst="ellipse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32186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规则：词法完整（禁倦代疲倦等省略）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377440" y="3566160"/>
            <a:ext cx="91440" cy="91440"/>
          </a:xfrm>
          <a:prstGeom prst="ellipse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0" y="34930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 LLM：悬空宾语补足 + 双宾语/状语完整性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72200" y="1645920"/>
            <a:ext cx="55778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5400000">
              <a:srgbClr val="0F2A52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0" y="182880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0" b="1" dirty="0">
                <a:solidFill>
                  <a:srgbClr val="3D5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7000" dirty="0"/>
          </a:p>
        </p:txBody>
      </p:sp>
      <p:sp>
        <p:nvSpPr>
          <p:cNvPr id="24" name="Text 22"/>
          <p:cNvSpPr/>
          <p:nvPr/>
        </p:nvSpPr>
        <p:spPr>
          <a:xfrm>
            <a:off x="8092440" y="1920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层教学掩码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092440" y="22860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8-LAYER MASKING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92440" y="2514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→ 层级 自动映射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092440" y="2852928"/>
            <a:ext cx="365760" cy="36576"/>
          </a:xfrm>
          <a:prstGeom prst="rect">
            <a:avLst/>
          </a:prstGeom>
          <a:solidFill>
            <a:srgbClr val="3D5A93"/>
          </a:solidFill>
          <a:ln w="12700">
            <a:solidFill>
              <a:srgbClr val="3D5A9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92440" y="3017520"/>
            <a:ext cx="91440" cy="91440"/>
          </a:xfrm>
          <a:prstGeom prst="ellipse">
            <a:avLst/>
          </a:prstGeom>
          <a:solidFill>
            <a:srgbClr val="3D5A93"/>
          </a:solidFill>
          <a:ln w="12700">
            <a:solidFill>
              <a:srgbClr val="3D5A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75320" y="29443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 L2 · 新授 L3-L4 · 巩固 L5 · 提高 L6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092440" y="3291840"/>
            <a:ext cx="91440" cy="91440"/>
          </a:xfrm>
          <a:prstGeom prst="ellipse">
            <a:avLst/>
          </a:prstGeom>
          <a:solidFill>
            <a:srgbClr val="3D5A93"/>
          </a:solidFill>
          <a:ln w="12700">
            <a:solidFill>
              <a:srgbClr val="3D5A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75320" y="32186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误伤控制：情绪词走 affection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092440" y="3566160"/>
            <a:ext cx="91440" cy="91440"/>
          </a:xfrm>
          <a:prstGeom prst="ellipse">
            <a:avLst/>
          </a:prstGeom>
          <a:solidFill>
            <a:srgbClr val="3D5A93"/>
          </a:solidFill>
          <a:ln w="12700">
            <a:solidFill>
              <a:srgbClr val="3D5A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75320" y="34930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首轮单步教学 + 续讲模式自动启用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4023360"/>
            <a:ext cx="55778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5400000">
              <a:srgbClr val="0F2A52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85800" y="4206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0" b="1" dirty="0">
                <a:solidFill>
                  <a:srgbClr val="E6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000" dirty="0"/>
          </a:p>
        </p:txBody>
      </p:sp>
      <p:sp>
        <p:nvSpPr>
          <p:cNvPr id="36" name="Text 34"/>
          <p:cNvSpPr/>
          <p:nvPr/>
        </p:nvSpPr>
        <p:spPr>
          <a:xfrm>
            <a:off x="2377440" y="4297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单步教学不灌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2377440" y="46634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TUTOR-STYLE PACING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377440" y="4892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首轮只推进一步 · 停下等学生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377440" y="5230368"/>
            <a:ext cx="365760" cy="36576"/>
          </a:xfrm>
          <a:prstGeom prst="rect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77440" y="5394960"/>
            <a:ext cx="91440" cy="91440"/>
          </a:xfrm>
          <a:prstGeom prst="ellipse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60320" y="53218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首轮只推进一步而非一讲到底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377440" y="5669280"/>
            <a:ext cx="91440" cy="91440"/>
          </a:xfrm>
          <a:prstGeom prst="ellipse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60320" y="55961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TutorOS 风格：留白即学习发生的空间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377440" y="5943600"/>
            <a:ext cx="91440" cy="91440"/>
          </a:xfrm>
          <a:prstGeom prst="ellipse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60320" y="58704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续讲自动启用，承接首轮上下文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172200" y="4023360"/>
            <a:ext cx="55778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5400000">
              <a:srgbClr val="0F2A52">
                <a:alpha val="1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400800" y="4206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0" b="1" dirty="0">
                <a:solidFill>
                  <a:srgbClr val="3D5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7000" dirty="0"/>
          </a:p>
        </p:txBody>
      </p:sp>
      <p:sp>
        <p:nvSpPr>
          <p:cNvPr id="48" name="Text 46"/>
          <p:cNvSpPr/>
          <p:nvPr/>
        </p:nvSpPr>
        <p:spPr>
          <a:xfrm>
            <a:off x="8092440" y="4297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多轮记忆与连贯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8092440" y="46634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MEMORY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092440" y="4892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R10 能引用 R2 原话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092440" y="5230368"/>
            <a:ext cx="365760" cy="36576"/>
          </a:xfrm>
          <a:prstGeom prst="rect">
            <a:avLst/>
          </a:prstGeom>
          <a:solidFill>
            <a:srgbClr val="3D5A93"/>
          </a:solidFill>
          <a:ln w="12700">
            <a:solidFill>
              <a:srgbClr val="3D5A9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092440" y="5394960"/>
            <a:ext cx="91440" cy="91440"/>
          </a:xfrm>
          <a:prstGeom prst="ellipse">
            <a:avLst/>
          </a:prstGeom>
          <a:solidFill>
            <a:srgbClr val="3D5A93"/>
          </a:solidFill>
          <a:ln w="12700">
            <a:solidFill>
              <a:srgbClr val="3D5A9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75320" y="53218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情感倾诉：R10 引用 R2 事实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092440" y="5669280"/>
            <a:ext cx="91440" cy="91440"/>
          </a:xfrm>
          <a:prstGeom prst="ellipse">
            <a:avLst/>
          </a:prstGeom>
          <a:solidFill>
            <a:srgbClr val="3D5A93"/>
          </a:solidFill>
          <a:ln w="12700">
            <a:solidFill>
              <a:srgbClr val="3D5A9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275320" y="55961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教学循环：R5 接 R4 巩固结论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8092440" y="5943600"/>
            <a:ext cx="91440" cy="91440"/>
          </a:xfrm>
          <a:prstGeom prst="ellipse">
            <a:avLst/>
          </a:prstGeom>
          <a:solidFill>
            <a:srgbClr val="3D5A93"/>
          </a:solidFill>
          <a:ln w="12700">
            <a:solidFill>
              <a:srgbClr val="3D5A9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75320" y="58704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无重复模板（修复后 60+/60+ 全过）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57200" y="6446520"/>
            <a:ext cx="11247120" cy="45720"/>
          </a:xfrm>
          <a:prstGeom prst="rect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1247120" cy="36576"/>
          </a:xfrm>
          <a:prstGeom prst="rect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85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2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 论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37760" y="1371600"/>
            <a:ext cx="2286000" cy="2286000"/>
          </a:xfrm>
          <a:prstGeom prst="ellipse">
            <a:avLst/>
          </a:prstGeom>
          <a:solidFill>
            <a:srgbClr val="0F2A52"/>
          </a:solidFill>
          <a:ln w="38100">
            <a:solidFill>
              <a:srgbClr val="E6A5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0" y="1645920"/>
            <a:ext cx="1737360" cy="1737360"/>
          </a:xfrm>
          <a:prstGeom prst="ellipse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0" y="1783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良好偏上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1208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+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212080" y="2697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300" kern="0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READY · v0.50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3977640"/>
            <a:ext cx="73152" cy="502920"/>
          </a:xfrm>
          <a:prstGeom prst="rect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已达成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427939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6 模式 × 15+ 轮全部高质量通过    ·  3 个 P0 严重缺陷已 100% 闭环    ·  教学/情感双核模式稳定可靠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818888"/>
            <a:ext cx="73152" cy="502920"/>
          </a:xfrm>
          <a:prstGeom prst="rect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773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发布评估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51206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当前定级：良好偏上（v0.50）    ·  可上生产 · 但需 P0 修复完成    ·  修复后预计可达优秀线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5660136"/>
            <a:ext cx="73152" cy="502920"/>
          </a:xfrm>
          <a:prstGeom prst="rect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561441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C7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" y="59618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Oracle 完成 LLM 退化根因定位    ·  全量回归 + 三处一致校验    ·  语音 / 移动端接入质量评审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686800" y="3931920"/>
            <a:ext cx="3017520" cy="2377440"/>
          </a:xfrm>
          <a:prstGeom prst="rect">
            <a:avLst/>
          </a:prstGeom>
          <a:solidFill>
            <a:srgbClr val="1A3A6B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23960" y="39319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6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5600" dirty="0"/>
          </a:p>
        </p:txBody>
      </p:sp>
      <p:sp>
        <p:nvSpPr>
          <p:cNvPr id="21" name="Text 19"/>
          <p:cNvSpPr/>
          <p:nvPr/>
        </p:nvSpPr>
        <p:spPr>
          <a:xfrm>
            <a:off x="8823960" y="4526280"/>
            <a:ext cx="2743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真实场景测试的意义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不在于功能列表是否全过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而在于能否在上线前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发现那些用户会撞上的 bug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6492240"/>
            <a:ext cx="11247120" cy="36576"/>
          </a:xfrm>
          <a:prstGeom prst="rect">
            <a:avLst/>
          </a:prstGeom>
          <a:solidFill>
            <a:srgbClr val="E6A528"/>
          </a:solidFill>
          <a:ln w="12700">
            <a:solidFill>
              <a:srgbClr val="E6A5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PAEG TESTING DIVISION  ·  v0.50  ·  2026-08-11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515600" y="6583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6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PAEG Educational Agent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PAEG Real Scenario Test Report</dc:title>
  <dc:subject>PptxGenJS Presentation</dc:subject>
  <dc:creator>PAEG Project · v0.50</dc:creator>
  <cp:lastModifiedBy>PAEG Project · v0.50</cp:lastModifiedBy>
  <cp:revision>1</cp:revision>
  <dcterms:created xsi:type="dcterms:W3CDTF">2026-08-11T10:15:38Z</dcterms:created>
  <dcterms:modified xsi:type="dcterms:W3CDTF">2026-08-11T10:15:38Z</dcterms:modified>
</cp:coreProperties>
</file>