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4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57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40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139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83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264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20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616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36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851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8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195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739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315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720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152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026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360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807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037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67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948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817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648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640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338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257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80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326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623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594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616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071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1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561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269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108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581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575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478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125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9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944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70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6127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3601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8813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210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2814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038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6869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9353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991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8494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E6A528">
              <a:alpha val="1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6A528"/>
                </a:solidFill>
              </a:rPr>
              <a:t>EDUCATION AGENT ·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D9DFE8"/>
                </a:solidFill>
              </a:rPr>
              <a:t>Pedagogical Agent with Evolving Growth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3520440"/>
            <a:ext cx="2011680" cy="41148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它不只在回答问题，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它在理解一个人。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FE8"/>
                </a:solidFill>
              </a:rPr>
              <a:t>新一代教育智能体 · 教学闭环 · 因材施教 × 立德树人 · 自我进化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教育缺的不是第二个搜索框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73736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737360"/>
            <a:ext cx="64008" cy="32918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3152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对话式 AI 的边界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大模型知道每个题的解法，但不知道学生是谁。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一节课讲完，没有留下任何关于这个学生的记忆。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73736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361688" y="1737360"/>
            <a:ext cx="64008" cy="32918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36008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真人教师的不可替代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36008" y="27432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一位老师带 40 个学生，没有余力记住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每一个人的卡点、脆弱、和那一点进步。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66176" y="173736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266176" y="1737360"/>
            <a:ext cx="64008" cy="32918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540496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那一条「被看见」的缝隙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40496" y="27432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记忆、注意力、关系——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这是 PAEG 要填补的位置。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A528"/>
                </a:solidFill>
              </a:rPr>
              <a:t>当学生说「我撑不住了」——大多数 AI 继续讲下一题，PAEG 会停下来。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DFE8"/>
                </a:solidFill>
              </a:rPr>
              <a:t>学生说：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「我撑不住了。」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A528"/>
                </a:solidFill>
              </a:rPr>
              <a:t>—— PAEG 把这句「我撑不住了」作为唯一入口，而不是继续讲下一题。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10224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4709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A528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4709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先停下来  </a:t>
            </a:r>
            <a:r>
              <a:rPr lang="en-US" sz="1000" dirty="0">
                <a:solidFill>
                  <a:srgbClr val="D9DFE8"/>
                </a:solidFill>
              </a:rPr>
              <a:t>危机钩子先行，不进入教学流水线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45720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10224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90288" y="4709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A528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7528" y="4709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先回应  </a:t>
            </a:r>
            <a:r>
              <a:rPr lang="en-US" sz="1000" dirty="0">
                <a:solidFill>
                  <a:srgbClr val="D9DFE8"/>
                </a:solidFill>
              </a:rPr>
              <a:t>完整回应用户说的话，再自然融入关怀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66176" y="45720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10224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94776" y="4709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A528"/>
                </a:solidFill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272016" y="4709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再回归  </a:t>
            </a:r>
            <a:r>
              <a:rPr lang="en-US" sz="1000" dirty="0">
                <a:solidFill>
                  <a:srgbClr val="D9DFE8"/>
                </a:solidFill>
              </a:rPr>
              <a:t>情绪稳定后，才回到学习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02 · HIGHLIGHTS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六种教学场景中，PAEG 都做了什么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85800" y="18470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概念讲解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由浅入深，从现象到本质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1688" y="155448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1783080"/>
            <a:ext cx="502920" cy="50292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90288" y="18470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76088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习题辅导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76088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分步推导，错因定位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66176" y="155448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494776" y="1783080"/>
            <a:ext cx="502920" cy="50292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494776" y="18470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80576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80576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梳理知识脉络与关联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85800" y="40416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7160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4572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元认知与策略指导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61688" y="37490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590288" y="3977640"/>
            <a:ext cx="502920" cy="50292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590288" y="40416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76088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情绪陪伴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276088" y="4572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先回应，再关怀，再学习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266176" y="37490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8494776" y="3977640"/>
            <a:ext cx="502920" cy="50292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8494776" y="40416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180576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180576" y="4572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PPT / 讲义 / 视频一键生成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03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个子代理 + MCP 双向通道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2377440"/>
            <a:ext cx="2468880" cy="246888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846320" y="3017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 Agent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0" y="1252728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</a:rPr>
              <a:t>Diagnostor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27601" y="1744765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027601" y="1817917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</a:rPr>
              <a:t>Planner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90928" y="2990645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090928" y="3063797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</a:rPr>
              <a:t>Presenter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21638" y="4407408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721638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</a:rPr>
              <a:t>Evaluator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92527" y="5332134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092527" y="540528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</a:rPr>
              <a:t>Adapter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65873" y="5332134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965873" y="540528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</a:rPr>
              <a:t>AnswerSolver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336762" y="4407408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336762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</a:rPr>
              <a:t>Affection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967472" y="2990645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967472" y="3063797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</a:rPr>
              <a:t>SelfUpdate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030799" y="1744765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030799" y="1817917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</a:rPr>
              <a:t>Individuality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B"/>
                </a:solidFill>
              </a:rPr>
              <a:t>LLM 层：DeepSeek  ·  工具层：7 内置工具 + 10 Skills + 3 MCP Server（filesystem/memory/pptx）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03 · CONSTRAINT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L0 绝对底线到 L7 自由创造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828800"/>
            <a:ext cx="6949440" cy="384048"/>
          </a:xfrm>
          <a:prstGeom prst="roundRect">
            <a:avLst>
              <a:gd name="adj" fmla="val 14286"/>
            </a:avLst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66928" y="18562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8562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自由创造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60320" y="18745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鼓励联想、跨学科、生活化类比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2286000"/>
            <a:ext cx="6583680" cy="384048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32688" y="23134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08760" y="23134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风格塑造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26080" y="23317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鼓励式语言、节奏、比喻偏好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88720" y="2743200"/>
            <a:ext cx="6217920" cy="384048"/>
          </a:xfrm>
          <a:prstGeom prst="roundRect">
            <a:avLst>
              <a:gd name="adj" fmla="val 14286"/>
            </a:avLst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98448" y="27706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74520" y="27706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教学策略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91840" y="27889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导入/新授/巩固/复习/应用/提高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554480" y="3200400"/>
            <a:ext cx="5852160" cy="384048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664208" y="32278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240280" y="32278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学科规范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657600" y="3246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公式、术语、解题步骤正确性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920240" y="3657600"/>
            <a:ext cx="5486400" cy="384048"/>
          </a:xfrm>
          <a:prstGeom prst="roundRect">
            <a:avLst>
              <a:gd name="adj" fmla="val 14286"/>
            </a:avLst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029968" y="36850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606040" y="36850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023360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对接 17 维画像，因材施教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286000" y="411480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2395728" y="41422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971800" y="41422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上下文连贯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389120" y="41605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长对话记忆，前情提要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651760" y="457200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761488" y="45994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L1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337560" y="45994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情绪安全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54880" y="4617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识别「撑不住」→ 降速/暂停/追问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017520" y="502920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127248" y="50566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L0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703320" y="50566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绝对底线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120640" y="5074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A52"/>
                </a:solidFill>
              </a:rPr>
              <a:t>隐私/自伤干预/价值观偏差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66928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F6B"/>
                </a:solidFill>
              </a:rPr>
              <a:t>宽松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66928" y="5120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F6B"/>
                </a:solidFill>
              </a:rPr>
              <a:t>严格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692640" y="1554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52"/>
                </a:solidFill>
              </a:rPr>
              <a:t>教学阶段映射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692640" y="196596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9692640" y="2002536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2A52"/>
                </a:solidFill>
              </a:rPr>
              <a:t>导入 → L5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0744200" y="196596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744200" y="2002536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2A52"/>
                </a:solidFill>
              </a:rPr>
              <a:t>新授 → L5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692640" y="235000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9692640" y="2386584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2A52"/>
                </a:solidFill>
              </a:rPr>
              <a:t>巩固 → L4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10744200" y="235000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10744200" y="2386584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2A52"/>
                </a:solidFill>
              </a:rPr>
              <a:t>复习 → L3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692640" y="2734056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9692640" y="277063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2A52"/>
                </a:solidFill>
              </a:rPr>
              <a:t>应用 → L4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0744200" y="2734056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10744200" y="277063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2A52"/>
                </a:solidFill>
              </a:rPr>
              <a:t>提高 → L6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692640" y="311810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9692640" y="315468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2A52"/>
                </a:solidFill>
              </a:rPr>
              <a:t>总结 → L2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0744200" y="311810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10744200" y="315468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2A52"/>
                </a:solidFill>
              </a:rPr>
              <a:t>挑战 → L7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F6B"/>
                </a:solidFill>
              </a:rPr>
              <a:t>8 层不多不少：少于 5 层无法兜底情绪安全，多于 8 层则过约束。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03 · LANGUAGE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是什么 · L2 怎么做 · L3 为什么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737360"/>
            <a:ext cx="35661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737360"/>
            <a:ext cx="3566160" cy="54864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858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· 提示词约束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5603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语法自检 7 项注入 system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主谓宾 / 动宾搭配 / 介词规范 / 词法句法完整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737360"/>
            <a:ext cx="35661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361688" y="1737360"/>
            <a:ext cx="3566160" cy="5486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90288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· 规则检测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90288" y="25603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零 LLM 成本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detect_ai_taste（AI 味 ≥0.4）+ 省略句检测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66176" y="1737360"/>
            <a:ext cx="35661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266176" y="1737360"/>
            <a:ext cx="3566160" cy="548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494776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· LLM 修正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94776" y="25603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保持风格地补全重写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「它非常的重要」→「这条定律很重要」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5212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A528"/>
                </a:solidFill>
              </a:rPr>
              <a:t>病句捕获率 15/16（94%），正确句零误报 · 语言规范性是独立于模型性能的能力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03 ·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RRF · 单步教学 · 预算窗口 · 安全加固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459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85800" y="1828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A528"/>
                </a:solidFill>
              </a:rPr>
              <a:t>3.5s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1945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194560" y="2468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RRF 融合 + URL 规范化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+ jieba 切词 + 中英双语变体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0488" y="16459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19088" y="1828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A528"/>
                </a:solidFill>
              </a:rPr>
              <a:t>12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927848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提示词模板引擎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27848" y="2468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固定模板 + 12 动态槽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按重要性降序注入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9319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5800" y="4114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A528"/>
                </a:solidFill>
              </a:rPr>
              <a:t>8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21945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层约束栈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194560" y="4754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L0-L7 动态放开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L0 保底永不跳过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90488" y="39319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19088" y="4114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A528"/>
                </a:solidFill>
              </a:rPr>
              <a:t>0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7927848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安全加固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927848" y="4754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SECRET_KEY 双轨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pip-audit 5 高危全修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A528"/>
                </a:solidFill>
              </a:rPr>
              <a:t>PART 04 ·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我们用 6 模式 × 30 轮真实对话验证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10224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2377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A528"/>
                </a:solidFill>
              </a:rPr>
              <a:t>30/30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2E0"/>
                </a:solidFill>
              </a:rPr>
              <a:t>对话全部达标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55848" y="20116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10224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55848" y="2377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A528"/>
                </a:solidFill>
              </a:rPr>
              <a:t>0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538728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2E0"/>
                </a:solidFill>
              </a:rPr>
              <a:t>翻车（无答非所问）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54496" y="20116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10224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254496" y="2377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A528"/>
                </a:solidFill>
              </a:rPr>
              <a:t>24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437376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2E0"/>
                </a:solidFill>
              </a:rPr>
              <a:t>维结构化指标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53144" y="20116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10224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153144" y="2377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A528"/>
                </a:solidFill>
              </a:rPr>
              <a:t>4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9336024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2E0"/>
                </a:solidFill>
              </a:rPr>
              <a:t>维闭环（诊断-教学-评估-反思）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DFE8"/>
                </a:solidFill>
              </a:rPr>
              <a:t>覆盖教学 / 倾诉 / 找答案 / 查资料 / 学习方法 / 知识库 6 模式，全部真实运行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04 · TEACHING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孟德尔遗传 15 轮：从导入到独立挑战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315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 · 导入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我们从一个你每天都能观察到的现象说起：你和你爸妈的眼睛颜色不一样。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你爸爸是棕色眼睛，你妈妈也是棕色眼睛，可你是蓝色眼睛——这种情况在我们身边并不少见。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问题来了：孩子是从父母那里「各取一半」的，那怎么会取着取着，颜色反而变了？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8463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A528"/>
                </a:solidFill>
              </a:rPr>
              <a:t>「各取一半」不是倒进杯子里搅一搅——遗传更像一人递给你一张卡片。</a:t>
            </a:r>
            <a:endParaRPr lang="en-US" sz="1300" dirty="0"/>
          </a:p>
        </p:txBody>
      </p:sp>
      <p:pic>
        <p:nvPicPr>
          <p:cNvPr id="9" name="Image 1" descr="D:/wbo-workspace/v51_teach_h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0" y="1554480"/>
            <a:ext cx="3317805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0" y="6035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6B"/>
                </a:solidFill>
              </a:rPr>
              <a:t>实际界面 · 1725×2282 原始比例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04 · AFFECTION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学业压力 15 轮：从崩溃到承诺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315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 · 开场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6309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两个月，在新学校，交不到朋友，上课走神。这三件事叠在一起，日子确实不好过。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我想先问一个具体的问题：你说的「交不到朋友」，是指还没有人能说上话，还是有过几次交流却感觉被拒绝？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6A528"/>
                </a:solidFill>
              </a:rPr>
              <a:t>→ R15：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6A528"/>
                </a:solidFill>
              </a:rPr>
              <a:t>「我会先从小目标做起，下周再来跟你分享进展」</a:t>
            </a:r>
            <a:endParaRPr lang="en-US" sz="1400" dirty="0"/>
          </a:p>
        </p:txBody>
      </p:sp>
      <p:pic>
        <p:nvPicPr>
          <p:cNvPr id="9" name="Image 1" descr="D:/wbo-workspace/v51_aff_h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0" y="1554480"/>
            <a:ext cx="2946596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0" y="6035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6B"/>
                </a:solidFill>
              </a:rPr>
              <a:t>实际界面 · 1532×2282 原始比例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04 · ARTIFACTS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一节课之后，PAEG 自动产出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828800"/>
            <a:ext cx="2651760" cy="29260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1" descr="C:/Users/团聚体/AppData/Local/Temp/opencode/icons_pp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25880" y="196596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讲义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" y="3566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6B"/>
                </a:solidFill>
              </a:rPr>
              <a:t>授课讲义（目标/要求/形式/风格）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355848" y="1828800"/>
            <a:ext cx="2651760" cy="29260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" name="Image 2" descr="C:/Users/团聚体/AppData/Local/Temp/opencode/icons_video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24528" y="1965960"/>
            <a:ext cx="914400" cy="914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30168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教学视频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630168" y="3566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6B"/>
                </a:solidFill>
              </a:rPr>
              <a:t>演讲稿驱动 · 音画同步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254496" y="1828800"/>
            <a:ext cx="2651760" cy="29260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4" name="Image 3" descr="C:/Users/团聚体/AppData/Local/Temp/opencode/icons_map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23176" y="1965960"/>
            <a:ext cx="914400" cy="914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28816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知识导图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528816" y="3566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6B"/>
                </a:solidFill>
              </a:rPr>
              <a:t>结构化知识地图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9153144" y="1828800"/>
            <a:ext cx="2651760" cy="29260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8" name="Image 4" descr="C:/Users/团聚体/AppData/Local/Temp/opencode/icons_recommen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21824" y="1965960"/>
            <a:ext cx="914400" cy="914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427464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学习推荐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9427464" y="3566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F6B"/>
                </a:solidFill>
              </a:rPr>
              <a:t>基于画像的个性化建议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A528"/>
                </a:solidFill>
              </a:rPr>
              <a:t>从「对话」到「文件」的完整产出闭环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5F6B"/>
                </a:solidFill>
              </a:rPr>
              <a:t>PART 05 ·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30 轮全部达标</a:t>
            </a:r>
            <a:endParaRPr lang="en-US" sz="2600" dirty="0"/>
          </a:p>
        </p:txBody>
      </p:sp>
      <p:pic>
        <p:nvPicPr>
          <p:cNvPr id="4" name="Image 0" descr="C:/Users/团聚体/AppData/Local/Temp/opencode/paeg-logo-ic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47120" y="2743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8288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0F2A52"/>
                </a:solidFill>
              </a:rPr>
              <a:t>30</a:t>
            </a:r>
            <a:endParaRPr lang="en-US" sz="8800" dirty="0"/>
          </a:p>
        </p:txBody>
      </p:sp>
      <p:sp>
        <p:nvSpPr>
          <p:cNvPr id="6" name="Text 3"/>
          <p:cNvSpPr/>
          <p:nvPr/>
        </p:nvSpPr>
        <p:spPr>
          <a:xfrm>
            <a:off x="5029200" y="2377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A528"/>
                </a:solidFill>
              </a:rPr>
              <a:t>/ 30 轮通过 · 0 缺陷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F6B"/>
                </a:solidFill>
              </a:rPr>
              <a:t>「通过」不是口号，是每一轮对话后那句结构化评估的结果。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57200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52"/>
                </a:solidFill>
              </a:rPr>
              <a:t>登录后索引文件丢失 → 已修复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0488" y="457200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373368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52"/>
                </a:solidFill>
              </a:rPr>
              <a:t>AES 加解密乱码 → 已修复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521208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4008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52"/>
                </a:solidFill>
              </a:rPr>
              <a:t>核心测试崩溃 → 已修复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0488" y="521208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373368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52"/>
                </a:solidFill>
              </a:rPr>
              <a:t>pip-audit 5 高危 → 已修复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E6A528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从一个「撑得住的学生」开始，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走向「每一所学校都有一位长期陪伴者」。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120640" y="3840480"/>
            <a:ext cx="1920240" cy="41148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DFE8"/>
                </a:solidFill>
              </a:rPr>
              <a:t>PAEG · 让教育重新被看见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D6"/>
                </a:solidFill>
              </a:rPr>
              <a:t>www.paeg.example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6A528"/>
                </a:solidFill>
              </a:rPr>
              <a:t>APPENDIX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全功能实测记录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0"/>
                </a:solidFill>
              </a:rPr>
              <a:t>Full-Feature Empirical Record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3017520"/>
            <a:ext cx="1828800" cy="41148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3383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30 场对话 · 10 题答案 · 3 类查资料 · 扩展测试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</a:rPr>
              <a:t>教学视频 · PPT 产出 · 全功能能力矩阵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A528"/>
                </a:solidFill>
              </a:rPr>
              <a:t>附录章节索引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A 教学 15 轮完整原文  ·  B 倾诉 15 轮完整原文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51023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C 找答案 10 题完整答案  ·  D 查资料 3 场景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5358384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E 扩展测试  ·  F 产出物（视频/PPT）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561441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G 数据全景  ·  H 能力矩阵  ·  I 8层约束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8704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J 语言规范  ·  K 检索增强  ·  L 个体化画像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126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M 自我进化  ·  N 语音  ·  O 导图/文件4能力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P 测试体系  ·  Q 测试数据  ·  R/S 实测  ·  T 版本时间线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31629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A1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轮完整原文 · 孟德尔遗传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导入/新授 — 每轮完整原文 + UI 截图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我们从一个你每天都能观察到的现象说起：你和你爸妈的眼睛颜色不一样。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我们先来观察一个事实。你爸爸是棕色眼睛，你妈妈也是棕色眼睛，可你是蓝色眼睛——这种情况在我们身边并不少见。问题来了：孩子是从父母那里“各取一半”的，那怎么会取着取着，颜色反而变了？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这一点很关键：“各取一半”这四个字，并不是说把爸爸的颜色和妈妈的颜色倒进杯子里搅一搅，得到一杯混合色。遗传更像是一人递给你一张卡片——爸爸那张写着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2468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435字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9260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我们接着往下走。眼睛颜色不一样，关键在“显性”和“隐性”这两个词。你爸妈都是棕色眼睛，却生出蓝眼睛的你。这说明什么？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概念：每个性状由一对“等位基因”决定，一个来自爸爸，一个来自妈妈。棕色眼基因用 B 表示，蓝色眼基因用 b 表示。棕色是显性，只要有一个 B 就显棕色；蓝色是隐性，必须两个都是 b 才显蓝色。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推理：你是蓝眼睛，所以你的基因型一定是 bb，两个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4069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399字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5079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45262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你放手，自己先来试一个。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练习：假设眼睛颜色由一对基因决定，B 代表棕色（显性），b 代表蓝色（隐性）。爸爸是棕色眼睛，妈妈也是棕色眼睛，但他们的基因型都是 Bb。请你用刚才"一个来自爸爸、一个来自妈妈"的思路，写出孩子可能的基因型有哪几种，其中哪种会表现出蓝眼睛？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我先给你一个小台阶：爸爸能提供的基因只有两种可能——B 或 b；妈妈同样。你把爸爸的一种和妈妈的一种配在一起，就得到孩子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0" y="5669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295字</a:t>
            </a:r>
            <a:endParaRPr lang="en-US" sz="800" dirty="0"/>
          </a:p>
        </p:txBody>
      </p:sp>
      <p:pic>
        <p:nvPicPr>
          <p:cNvPr id="18" name="Image 0" descr="D:/wbo-workspace/v51_teach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386926" cy="44805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1725×2282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34247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A2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轮完整原文 · 孟德尔遗传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巩固/复习 — 每轮完整原文 + UI 截图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好的，我们用眼睛颜色这个最小的例子，把它讲清楚。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假设决定眼色的基因有两种版本：B（棕色，显性）和 b（蓝色，隐性）。你从爸爸那里得到一个版本，从妈妈那里得到一个版本，所以你的基因是成对的，有三种可能：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• BB——两个都是棕色，表现棕色。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• Bb——一个棕色、一个蓝色，表现棕色。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• bb——两个都是蓝色，表现蓝色。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你看，**Bb 和 BB 看起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2468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464字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9260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这一步我们往深走一层：为什么 Aa 会表现成显性，而 aa 才是隐性？关键不在哪个字母大，而在基因到底做了什么。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每个基因都在指挥细胞生产一种蛋白质。我们用眼睛的颜色来说明这个道理。B这个版本，能指挥细胞造出棕色色素这种蛋白质；b这个版本，是个哑巴——它指挥不了，也造不出色素。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现在我们来观察三种组合。BB：两个都造棕色色素，所以眼睛是棕色。Bb：虽然只有一个B在工作，但它已经能造出足够多的色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4069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437字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5079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45262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学生，你刚才的理解方向是对的：Aa 表现显性，aa 表现隐性，这个结论没有错。但这里藏着一个容易绊倒人的地方，我想让你自己踩一次。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我们先来看一个相似的问题，你独立来做这件事。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假设有一种花的颜色由一对基因决定，R 是红色显性，r 是白色隐性。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请你回答两个小问题。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第一个问题，如果一株花是白色的，它的基因型一定是什么？为什么只能是这一种，没有别的可能？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第二个问题，如果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0" y="5669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355字</a:t>
            </a:r>
            <a:endParaRPr lang="en-US" sz="800" dirty="0"/>
          </a:p>
        </p:txBody>
      </p:sp>
      <p:pic>
        <p:nvPicPr>
          <p:cNvPr id="18" name="Image 0" descr="D:/wbo-workspace/v51_teach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386926" cy="44805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1725×2282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89601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A3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轮完整原文 · 孟德尔遗传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提高/应用 — 每轮完整原文 + UI 截图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学生，你问到了一个关键的岔路口。孟德尔研究的是完全显性，紫色对白色，一个压住一个，干脆利落。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但自然界不总这么听话，粉色花就是证据。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我们先来想象两管颜料。孟德尔的紫花，是深紫和白混在一起，深紫的颜料太浓，把白色完全盖住，所以后代还是紫的。这叫完全显性。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但粉花不一样。它像是红和白两管颜料各倒了一半，红色不够浓，盖不住白，两种颜色都露出来，调成了中间色。这就是不完全显性（incomplete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2468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406字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9260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学生，你问粉色花是怎么来的。要走进不完全显性（incomplete dominance），我们才能看清楚这个问题。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我们来观察一个最小的例子。金鱼草的红色花（RR）和白色花（rr）杂交，子一代既不是红，也不是白，而是粉色（Rr）。这是为什么？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这一点很关键，关键在于“剂量”。孟德尔的紫花里，显性基因 P 像一个开关。只要有一个这样的开关，就足以把花染成紫色。但金鱼草的颜色基因不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4069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533字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5079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45262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我们来完成这个练习，通过它来检验你是否真正掌握了不完全显性的规律。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练习：假设某种植物开红花是 RR，开白花是 rr，杂合 Rr 开粉花。如果让两株粉花植物（Rr \times Rr）杂交，后代的花色比例会是什么？你先不要急着计算，而是把你的思路告诉我。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我给你一个思考的台阶：我们先一起思考一下，粉花植株 Rr 能产生哪几种配子？每一种配子各占多少比例？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你想好了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0" y="5669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225字</a:t>
            </a:r>
            <a:endParaRPr lang="en-US" sz="800" dirty="0"/>
          </a:p>
        </p:txBody>
      </p:sp>
      <p:pic>
        <p:nvPicPr>
          <p:cNvPr id="18" name="Image 0" descr="D:/wbo-workspace/v51_teach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386926" cy="44805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1725×2282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97093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A4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轮完整原文 · 孟德尔遗传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应用/总结 — 每轮完整原文 + UI 截图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色盲是个特别好的例子，因为它把“隐性遗传”和“性别”这两件事连在了一起。我们先来观察最小的一套规则。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色盲基因在 X 染色体上，它是隐性的。女生有两条 X（XX），男生只有一条 X（XY）。我们用字母来表示这个差别：X^C 是正常的显性基因，X^c 是色盲的隐性基因。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女生要得色盲，她得让两条 X 都是 X^c，也就是 X^cX^c，两条都必须坏掉。男生只有一条 X，所以只要这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2468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472字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9260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好，我们继续往下走一步。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色盲基因位于X染色体上，Y染色体上没有它的位置。所以它被称为“伴X隐性遗传”。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男生只有一条X染色体（XY），只要这条X上带着色盲基因，他就会发病——因为没有第二条X来掩护他。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女生有两条X染色体。隐性遗传的意思是：两条X上的致病基因都坏了，才会发病。女生如果只有一条X带色盲基因，另一条正常，她不会发病，只是携带者。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我们用一句话来对照：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• 男生：一条X坏了，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4069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333字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5079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45262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我们来做一个小练习，你独立完成一遍推演。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题目：一位红绿色盲的男性，和一位携带色盲基因但视觉正常的女性，生了一个儿子。这个儿子会是色盲吗？概率是多少？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先给你一个提示：色盲基因位于X染色体上，并且是隐性的。男性只有一条X染色体，这条染色体来自母亲，所以只要这条X染色体上带有色盲基因，他就必然患病。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现在，我们一起来思考三个问题：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1. 这位父亲的X染色体上，是否带有色盲基因？（提示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0" y="5669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309字</a:t>
            </a:r>
            <a:endParaRPr lang="en-US" sz="800" dirty="0"/>
          </a:p>
        </p:txBody>
      </p:sp>
      <p:pic>
        <p:nvPicPr>
          <p:cNvPr id="18" name="Image 0" descr="D:/wbo-workspace/v51_teach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386926" cy="44805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1725×2282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16492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A5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轮完整原文 · 孟德尔遗传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复习/挑战 — 每轮完整原文 + UI 截图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我们一起来观察孟德尔两大定律的分工。它们回答的是两个不同的问题。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分离定律回答的问题是：一对性状是怎么传递的？比如豌豆的高茎和矮茎。一对等位基因（比如 \(D\) 和 \(d\)）在形成配子时彼此分开，每个配子只携带其中一个。所以杂合子 \(Dd\) 产生的配子是一半 \(D\)、一半 \(d\)，这就是分离的含义。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自由组合定律回答的问题是：两对性状一起传递时，它们会不会互相干扰？比如高茎矮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2468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448字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9260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这节课我们往深处走一步，要弄清楚两大定律各自管辖的是哪一层。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分离定律管的是“一对基因”。它说的是：体细胞里成对的等位基因，比如 D 和 d，在形成配子，也就是精子和卵细胞时，彼此分开，各进入一个配子。所以一个配子里只有 D，或者只有 d，不会两个同时存在。它回答的问题是“一对基因怎么分家”。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自由组合定律管的是“两对基因”。它说的是：两对位于不同染色体上的基因，比如 $D/d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4069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409字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869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5079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45262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我们直接进入一个相似的问题，你来独立做。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练习：黄色圆粒豌豆（YyRr）与绿色皱粒豌豆（yyrr）杂交。请回答：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1. 分离定律在这道题里管的是哪一对基因？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2. 自由组合定律管的是哪两对基因之间的事？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3. 写出生殖细胞（配子）的种类和比例。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我们先想第一问。分离定律只盯着一对等位基因看，比如 Yy 这对在形成配子时怎么分开，Rr 这对又怎么分开。它不关心别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0" y="5669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343字</a:t>
            </a:r>
            <a:endParaRPr lang="en-US" sz="800" dirty="0"/>
          </a:p>
        </p:txBody>
      </p:sp>
      <p:pic>
        <p:nvPicPr>
          <p:cNvPr id="18" name="Image 0" descr="D:/wbo-workspace/v51_teach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386926" cy="44805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1725×2282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76369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B1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15 轮完整原文 · 学业压力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完整原文 + UI 截图（转学适应 · 从崩溃到承诺）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两个月，在新学校，交不到朋友，上课走神。这三件事叠在一起，日子确实不好过。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我想先问一个具体的问题：你说的“交不到朋友”，是指还没有人能说上话，还是有过几次交谈，但感觉没能深入下去？这两个情况不太一样，我想先弄清楚。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3200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109字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685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你说了两件事：成绩下滑了，还有，以前在原来学校你是前十名。后一句里藏着一点委屈，也藏着一点判断：好像在说，我本来不是这个水平。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先接住这个判断，因为它很重要。前十名是过去的坐标，它证明你有学习的能力，这一点没有消失。成绩下滑这件事，恰恰说明你现在面对的是一个新环境、新难度——不是你变笨了，是参照系变了。这就像换了跑道，原来那条跑道上你是领跑的人，新跑道坡度不一样，起跑自然吃力。这不能说明你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5577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466字</a:t>
            </a:r>
            <a:endParaRPr lang="en-US" sz="800" dirty="0"/>
          </a:p>
        </p:txBody>
      </p:sp>
      <p:pic>
        <p:nvPicPr>
          <p:cNvPr id="14" name="Image 0" descr="D:/wbo-workspace/v51_aff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007983" cy="4480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1532×2282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69586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B2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15 轮完整原文 · 学业压力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完整原文 + UI 截图（转学适应 · 从崩溃到承诺）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从成绩说到了另一件事。你觉得同学们可能觉得你奇怪，因为你不太会主动跟人说话。这两件事放在一起，我心里有个判断：它们很可能是同一件事。你怕的不是成绩本身，是怕在新的地方不被认可。前十名是你在原来那个地方被认可的方式。到了新环境，这个方式暂时失效了，于是你开始担心自己整个人都不被接纳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我先把“奇怪”这个词拆开看。你用了“可能觉得”，这说明你并没有亲耳听到谁说，你是在猜。猜的基础，往往不是别人真的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3200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585字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685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你这句话比前面那些都更具体了。一个人坐在教室里，午休，周围有声音、有别人，但你觉得自己格格不入。这不是你猜出来的，是你亲身待过的时刻。我把它当真。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先指出一个你可能没注意到的地方：你用了“格格不入”这个词，但它前面其实还藏着一层意思——你坐在那里，是一个人。孤独和格格不入不一样。孤独是你身边没人；格格不入是你身边有人，可你觉得自己不属于他们。你描述的是后者。这说明你并不是真的被孤立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5577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589字</a:t>
            </a:r>
            <a:endParaRPr lang="en-US" sz="800" dirty="0"/>
          </a:p>
        </p:txBody>
      </p:sp>
      <p:pic>
        <p:nvPicPr>
          <p:cNvPr id="14" name="Image 0" descr="D:/wbo-workspace/v51_aff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007983" cy="4480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1532×2282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45508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B3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15 轮完整原文 · 学业压力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完整原文 + UI 截图（转学适应 · 从崩溃到承诺）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你这句话里有一个很重要的词：两个月了。你承认转学需要适应期，但你用“两个月”给自己划了一条线，好像到这时候还这样，就说明自己失败了。我想先把这条线松开。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两个月，对适应新环境来说，其实不算长。你可能觉得两个月很长，因为你每一天都在扛着那种悬空的感觉，一天天数着，显得格外久。但适应期从来不是按日历算的，是按你真正摸清了多少路算的。有些人一个月就找到节奏，有些人需要半年，这跟聪明不聪明、行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3200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536字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685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问出了一个比前面所有问题都更深的问题：我是不是性格有问题。这句话的分量很重，因为你在用一个整体性的判断否定自己，而不是在说某件具体的事。前面你谈的是成绩下滑，午休一个人坐着，现在你把它们拧成了一句自我审判：问题在我这个人身上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我想先把这个判断接住，因为它值得被认真对待，而不是被一句“你想多了”打发掉。但我也要把它拆开来观察。“性格有问题”是一个很模糊的说法，它没有边界。而“别人都能很快交到朋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5577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794字</a:t>
            </a:r>
            <a:endParaRPr lang="en-US" sz="800" dirty="0"/>
          </a:p>
        </p:txBody>
      </p:sp>
      <p:pic>
        <p:nvPicPr>
          <p:cNvPr id="14" name="Image 0" descr="D:/wbo-workspace/v51_aff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007983" cy="4480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1532×2282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03763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B4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15 轮完整原文 · 学业压力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完整原文 + UI 截图（转学适应 · 从崩溃到承诺）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你这句话，把前面所有散的线都收拢到一起了。成绩下滑、午休一个人坐着、觉得自己格格不入、担心性格有问题——你现在告诉我，上课走神是因为总在想"他们是不是在看我"。这才是最底下那一层。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让你先观察这句话里藏着的逻辑：你担心别人在看你，但别人其实并没有真的在看你。这个念头是你自己造出来的，然后它反过来占据了你的注意力。你的注意力本来应该放在黑板、放在题目上，现在却被一个"被审视"的想象分走了。成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3200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803字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685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，把前面所有的话都落到了最实处。前面你谈的是感受——觉得被看、觉得格格不入、担心性格有问题。现在你说的是一件具体的、没有发生过的事：你从来没有主动邀请过别人一起吃饭，或者课间聊天。这是你第一次从“我心里怎么想”走到“我实际上做过什么”。这一步很关键，因为感受会骗人，行为不会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我想先指出这件事里一个你可能没意识到的地方。你前面说“别人都能很快交到朋友”，但你刚刚承认，你从来没有主动发起过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5577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898字</a:t>
            </a:r>
            <a:endParaRPr lang="en-US" sz="800" dirty="0"/>
          </a:p>
        </p:txBody>
      </p:sp>
      <p:pic>
        <p:nvPicPr>
          <p:cNvPr id="14" name="Image 0" descr="D:/wbo-workspace/v51_aff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007983" cy="4480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1532×2282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16311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B5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15 轮完整原文 · 学业压力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完整原文 + UI 截图（转学适应 · 从崩溃到承诺）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，是我们聊了这么多天里最重要的一句。不是因为内容有多大，而是因为你第一次从“我可能有问题”走到了“我可以试着做一件事”。你用了“可能”“试着”这两个词，说明你还有些犹豫，有些怕，这很正常。但你已经把方向从“我够不够好”转到了“我明天可以做什么”。这一步，比任何一次自我怀疑都有力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我想先接住你选的那个具体动作：跟同桌说一句话。你选了同桌，这个选择很好，因为同桌是你每天接触最多、距离最近的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3200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790字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685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把“跟同桌说一句话”这件事，又往前推了一步：这周每天主动跟一个同学打招呼。这个目标选得好，因为它比“交朋友”小得多，小到几乎不会失败，却又能每天给你一次“我主动了”的体验。我特别想肯定你的一点是，你给了自己一个期限——一周，而不是“等我有勇气了再说”。勇气不是等出来的，是练出来的。你已经在练了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我想帮你把这个目标再打磨一下，让它真正立得住，而不是第二天就松掉。第一件要注意的事是：别把“打招呼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5577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708字</a:t>
            </a:r>
            <a:endParaRPr lang="en-US" sz="800" dirty="0"/>
          </a:p>
        </p:txBody>
      </p:sp>
      <p:pic>
        <p:nvPicPr>
          <p:cNvPr id="14" name="Image 0" descr="D:/wbo-workspace/v51_aff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007983" cy="4480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1532×2282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39262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B6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15 轮完整原文 · 学业压力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完整原文 + UI 截图（转学适应 · 从崩溃到承诺）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，把那个一直悬着的东西说出来了：我怕的不是打招呼本身，是怕那一声招呼落空，怕对方不理我，然后我会觉得更失败。这个担心很真实，我把它当真。因为对你来说，开口已经很难了，如果开口之后还被冷落，那就像把好不容易鼓起的勇气，亲手递过去又被推回来——那确实比不开口更疼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我想先帮你把“不理我”这件事拆开看。你害怕的“不理”，其实分好几种。一种是对方没听见，这在教室里很常见，周围吵，他正低头看手机，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3200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822字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685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，把整件事的钥匙握住了。你说“打招呼是练习，不是考试，不需要每次都成功”——这句话的分量，比前面任何一次自我怀疑都重。因为你终于把“开口”从一件被审判的事，变成了一件可以反复练习的事。练习就意味着允许失败，一次没做好不是终点，只是下一次的开始。你给自己松了绑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我想顺着这句话，再往前推一小步。你既然已经明白“这是练习不是考试”，那我想让你顺便把另一件事也想通：练习的评判标准，从来不是“对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5577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588字</a:t>
            </a:r>
            <a:endParaRPr lang="en-US" sz="800" dirty="0"/>
          </a:p>
        </p:txBody>
      </p:sp>
      <p:pic>
        <p:nvPicPr>
          <p:cNvPr id="14" name="Image 0" descr="D:/wbo-workspace/v51_aff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007983" cy="4480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1532×2282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83923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B7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15 轮完整原文 · 学业压力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完整原文 + UI 截图（转学适应 · 从崩溃到承诺）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，是这几轮对话里最安静，也最结实的一句。前面你说“打招呼是练习，不是考试”，那是在说一件具体的事；现在你说“我好像能接受慢慢来了”，这是在说你整个人——你在允许自己，不必一口气把所有问题都解决掉。这不是同一个层面的进步，这是更底下的那一层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我想先把你过去的样子和现在做个对照，因为你自己可能还没看清这个变化有多大。以前的你，是那种“一口气解决”的人：成绩要稳住前十，转学要马上适应，朋友要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3200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817字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685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，把前面那些零散的想法收拢成了一根线。你说“交朋友和成绩一样，需要时间积累”——这句话里有一种很稳的踏实感。你不再把交朋友当成一场必须立刻赢的比赛，而是把它当成一件需要浇水、需要等它慢慢长的事。你以前能接受成绩需要积累，是因为你亲眼见过自己一点点把分数提上来；现在你愿意用同样的耐心对待人际关系，是因为你开始相信，这件事也遵循同样的规律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我想把你这句话再往前推一步，因为你说“和成绩一样”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0" y="5577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592字</a:t>
            </a:r>
            <a:endParaRPr lang="en-US" sz="800" dirty="0"/>
          </a:p>
        </p:txBody>
      </p:sp>
      <p:pic>
        <p:nvPicPr>
          <p:cNvPr id="14" name="Image 0" descr="D:/wbo-workspace/v51_aff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007983" cy="4480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1532×2282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63870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B8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倾诉 15 轮完整原文 · 学业压力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完整原文 + UI 截图（转学适应 · 从崩溃到承诺）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8696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528"/>
                </a:solidFill>
              </a:rPr>
              <a:t>R15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你这句话，把这几轮对话收住了。你说“我会先从小目标做起，下周再来跟你分享进展”——这不再是一个试探性的“可能”“试着”，而是一句完整的承诺。你定了方向，给了自己期限，还约好了回来。从“我是不是性格有问题”走到这里，你已经走了很远。而这一步，是把自己交给了行动，也交给了时间。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F6B"/>
                </a:solidFill>
              </a:rPr>
              <a:t>我想先肯定你这句话里两个结实的部分。第一个是“小目标”。你没有说“我要彻底改变”，没有说“下周我要交到很多朋友”，你只说“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0" y="3200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A528"/>
                </a:solidFill>
              </a:rPr>
              <a:t>626字</a:t>
            </a:r>
            <a:endParaRPr lang="en-US" sz="800" dirty="0"/>
          </a:p>
        </p:txBody>
      </p:sp>
      <p:pic>
        <p:nvPicPr>
          <p:cNvPr id="10" name="Image 0" descr="D:/wbo-workspace/v51_aff_h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9760" y="1234440"/>
            <a:ext cx="3007983" cy="4480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0" y="5806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F6B"/>
                </a:solidFill>
              </a:rPr>
              <a:t>实际界面 · 1532×2282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39598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[论述题/物理] 动量守恒定律的适用条件及其在碰撞问题中的应用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1361 字 · 耗时 35.3s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动量守恒定律的适用条件，以及它在碰撞问题中的使用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一、动量守恒定律在什么条件下成立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动量守恒定律是自然界中最普遍的守恒定律之一。它的内容是：系统不受外力，或者所受合外力为零时，系统的总动量保持不变。我们可以用数学式子把它写出来：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m_1\vec{v}_1 + m_2\vec{v}_2 = m_1\vec{v}_1' + m_2\vec{v}_2'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这个式子也可以写成：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\sum \vec{p}_{\text{初}} = \sum \vec{p}_{\text{末}}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动量守恒定律的适用条件，具体说来有下面三种情况。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第一种情况，系统不受外力，或者所受合外力为零。也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8400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[计算题/物理] 一个物体质量 2kg，受 6N 水平力，求加速度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405 字 · 耗时 6.5s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3968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题目是一个物体质量 \( m = 2\,\text{kg} \)，受水平力 \( F = 6\,\text{N} \)，求加速度。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牛顿第二定律告诉我们，合外力等于质量乘以加速度：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\[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F = ma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\]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我们把已知的数值代入这个公式：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\[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6 = 2 \times 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\]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于是可以计算出：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\[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a = \frac{6}{2} = 3\,\text{m/s}^2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\]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所以，物体的加速度大小是 \(\boxed{3\,\text{m/s}^2}\)，方向与水平力的方向相同。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这里需要说明一点。题目只提到了水平力，没有提到摩擦力。如果地面是光滑的，那么合外力就是 6 N，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02352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[证明题/数学] 证明：直角三角形斜边上的中线等于斜边的一半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1543 字 · 耗时 10.9s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证明：直角三角形斜边上的中线等于斜边的一半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已知： 在 \text{Rt}\triangle ABC 中，\angle C = 90°，D 为斜边 AB 的中点，CD 为斜边 AB 上的中线。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求证： CD = \dfrac{1}{2}AB。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---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证法一（倍长中线法）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证明： 我们延长 CD 至点 E，使 DE = CD，然后连接 BE。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在 \triangle ACD 和 \triangle BED 中，我们有三组对应相等的关系：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• AD = BD（因为 D 为 AB 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78207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[计算题/数学] 求函数 f(x)=x^3-3x 的极值点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841 字 · 耗时 3.5s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求函数 f(x) = x^3 - 3x 的极值点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解：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第一步：求导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$$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f'(x) = 3x^2 - 3 = 3(x^2 - 1) = 3(x - 1)(x + 1)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$$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第二步：求驻点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令 f'(x) = 0，得：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$$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3(x - 1)(x + 1) = 0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$$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解得驻点为：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$$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x_1 = -1,\qquad x_2 = 1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$$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第三步：判断极值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求二阶导数：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$$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f''(x) = 6x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$$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由二阶导数判别法：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F6B"/>
                </a:solidFill>
              </a:rPr>
              <a:t>• 当 x = -1 时，$f''(-1) = 6 \times (-1) = -6 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4471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[论述题/生物] 光合作用中光反应与暗反应的关系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368 字 · 耗时 12.5s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光合作用包括两个紧密联系的阶段：光反应和暗反应。光反应发生在叶绿体的类囊体薄膜上，需要光、色素分子和酶；它利用水、NADP⁺和ADP，通过水的光解释放氧气，并将光能转化为ATP和NADPH中活跃的化学能。暗反应发生在叶绿体的基质中，不需要光，但需要光反应提供的ATP和NADPH，以及多种酶；它通过CO₂的固定和C₃的还原，将CO₂转化为有机物（主要是糖类），并把ATP和NADPH中的化学能转化为有机物中稳定的化学能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光反应与暗反应相互区别，又紧密联系、相互依存。在物质上，光反应为暗反应提供ATP和NADPH，它们是暗反应中C₃还原所必需的物质和能量来源；暗反应中C₃被还原后，重新生成ADP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70301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[计算题/化学] 500mL 0.5mol/L NaCl 溶液中 NaCl 的质量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431 字 · 耗时 5.1s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3639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500 mL 0.5 mol/L NaCl 溶液中 NaCl 的质量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解：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已知溶液体积 V = 500 mL = 0.5 L，物质的量浓度 c = 0.5 mol/L。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第一步：求 NaCl 的物质的量。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我们由物质的量浓度公式 c = n/V 出发，得到：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n = c × V = 0.5 mol/L × 0.5 L = 0.25 mol。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第二步：求 NaCl 的质量。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NaCl 的摩尔质量 M = 23 + 35.5 = 58.5 g/mol。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我们由公式 m = n × M 得到：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m = 0.25 mol × 58.5 g/mol = 14.625 g。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答：50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69325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[论述题/历史] 唐朝科举制度的历史意义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997 字 · 耗时 11.6s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2322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唐朝科举制度的历史意义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一、科举制度的确立与发展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科举制度始于隋朝，是一种分科考试选拔官吏的制度。隋炀帝始设进士科，科举制由此正式创立。唐代继承并完善了这一制度，使它成为选拔官员的主要途径，制度上也趋于完备。唐代科举主要分为常科和制科两类。常科每年定期举行，有明经、进士等科目；制科由皇帝临时下诏举行。其中进士科最为重要，被人视为"士林华选"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二、唐朝科举制度的历史意义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1. 打破门阀士族垄断，扩大统治基础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科举制度以考试成绩作为选官的标准，打破了魏晋以来"九品中正制"下门阀士族垄断仕途的局面。出身寒微的庶族地主和普通读书人，因此有机会通过考试进入仕途。这样，封建统治的社会基础得到了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27604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[计算题/物理] 汽车 20m/s 刹车，加速度 4m/s²，求刹车距离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686 字 · 耗时 2.8s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4330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汽车刹车距离计算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已知： 初速度 v_0 = 20\,\text{m/s}，末速度 v = 0（刹车到停止），加速度 a = -4\,\text{m/s}^2（刹车时加速度方向与运动方向相反，取负值）。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求： 刹车距离 s。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---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解法一（用速度—位移公式）：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匀变速直线运动的速度—位移公式为：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$$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v^2 - v_0^2 = 2as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$$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代入数据：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$$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0^2 - 20^2 = 2 \times (-4) \times 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$$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$$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-400 = -8s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$$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$$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F6B"/>
                </a:solidFill>
              </a:rPr>
              <a:t>s = \frac{400}{8} = 50\,\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161250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[证明题/数学] 证明等差数列前 n 项和公式 Sn=n(a1+an)/2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1290 字 · 耗时 5.1s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3803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证明等差数列前 n 项和公式 S_n = \dfrac{n(a_1 + a_n)}{2}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证明：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设等差数列 \{a_n\} 的首项为 a_1，公差为 d，则其前 n 项和为：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$$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S_n = a_1 + a_2 + a_3 + \cdots + a_n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$$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方法一（倒序相加法）：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将前 n 项和按正序写出：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$$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S_n = a_1 + a_2 + a_3 + \cdots + a_{n-1} + a_n \tag{1}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$$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再将前 n 项和按倒序写出：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$$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S_n = a_n + a_{n-1} + a_{n-2}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291244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C10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找答案完整答案 · 每页 1 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论述/计算/证明 · 完整答案原文（长文切分独占一页）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8930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[论述题/历史] 文艺复兴对欧洲近代化的影响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11091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A528"/>
                </a:solidFill>
              </a:rPr>
              <a:t>答案 1181 字 · 耗时 16.6s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725912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文艺复兴是14至17世纪兴起于意大利、随后扩展到欧洲各国的一场资产阶级思想文化运动。它以复兴古希腊罗马文化为旗号，实质是宣扬以人为中心的人文主义思想，反对教会的神权统治和封建思想的束缚。它是欧洲历史上一次伟大的思想解放运动，对欧洲近代化产生了深刻的影响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二、文艺复兴对欧洲近代化的影响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1. 思想解放方面：为近代化奠定思想基础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F6B"/>
                </a:solidFill>
              </a:rPr>
              <a:t>文艺复兴倡导人文主义，主张以人为中心，肯定人的价值与尊严，反对神权至上和禁欲主义。它把人们从封建神学的束缚中解放出来，动摇了天主教会的权威，为后来的启蒙思想等近代资产阶级思想体系奠定了基础。人文主义强调理性、自由与个性发展，这一思想成为欧洲近代思想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699854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D1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查资料 · 哲学入门书籍推荐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RRF 融合 + 知识库 + 网络 sources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52"/>
                </a:solidFill>
              </a:rPr>
              <a:t>查询：「哲学入门书籍推荐」 → n=2 条结果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检索链路：知识库哲学书单 → 网络补充 → RRF 融合 → 推荐 2 本入门书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95378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D2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查资料 · 物理竞赛学习方法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RRF 融合 + URL 规范化 + 6 条 sources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52"/>
                </a:solidFill>
              </a:rPr>
              <a:t>查询：「物理竞赛学习方法」 → n=6 条结果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检索链路：知识库 + 网络（竞赛经验帖）→ URL 规范化去重 → 融合出 6 条高相关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280607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D3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查资料 · 英语单词记忆技巧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jieba 切词 + 词根词缀 sources 卡片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52"/>
                </a:solidFill>
              </a:rPr>
              <a:t>查询：「英语单词记忆技巧」 → n=6 条结果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检索链路：jieba 切词提升命中 → 词根词缀 + 记忆法 sources 卡片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53531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E1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扩展测试 · 教学：生态系统能量流动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新场景验证 · 17 维画像闭环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2A52"/>
                </a:solidFill>
              </a:rPr>
              <a:t>教学扩展：从「能量从哪来」导入 → 生产者/消费者/分解者 → 能量金字塔 → 10% 传递效率 → 独立计算题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A528"/>
                </a:solidFill>
              </a:rPr>
              <a:t>全部通过 · 17 维画像闭环生效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27730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E2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扩展测试 · 教学：电磁感应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新场景验证 · 确定性评估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2A52"/>
                </a:solidFill>
              </a:rPr>
              <a:t>教学扩展：从「发电机原理」导入 → 磁通量变化 → 感应电流方向（楞次定律）→ 应用实例 → 独立判断题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A528"/>
                </a:solidFill>
              </a:rPr>
              <a:t>评估用确定性启发式，可复现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78135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E3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扩展测试 · 倾诉：与朋友吵架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危机协议验证 · 先回应再关怀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2A52"/>
                </a:solidFill>
              </a:rPr>
              <a:t>倾诉扩展：情绪识别 → 先回应感受 → 澄清事实 → 帮助看见矛盾 → 稳定后回归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A528"/>
                </a:solidFill>
              </a:rPr>
              <a:t>危机信号先回应，不机械短路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30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675289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E4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扩展测试 · 倾诉：自我怀疑迷茫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价值观落地 · 陪伴式成长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2A52"/>
                </a:solidFill>
              </a:rPr>
              <a:t>倾诉扩展：从「我是不是有问题」→ 看见矛盾张力 → 认知真实 → 邀请重新站立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A528"/>
                </a:solidFill>
              </a:rPr>
              <a:t>不教、不答、不解决，以注意力陪伴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31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245416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F1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 · 教学视频关键帧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光合作用 128s · 画面与讲解对齐</a:t>
            </a:r>
            <a:endParaRPr lang="en-US" sz="1000" dirty="0"/>
          </a:p>
        </p:txBody>
      </p:sp>
      <p:pic>
        <p:nvPicPr>
          <p:cNvPr id="6" name="Image 0" descr="C:/Users/团聚体/AppData/Local/Temp/opencode/video_frames_hd/frame_00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463040"/>
            <a:ext cx="5303520" cy="2983230"/>
          </a:xfrm>
          <a:prstGeom prst="rect">
            <a:avLst/>
          </a:prstGeom>
        </p:spPr>
      </p:pic>
      <p:pic>
        <p:nvPicPr>
          <p:cNvPr id="7" name="Image 1" descr="C:/Users/团聚体/AppData/Local/Temp/opencode/video_frames_hd/frame_30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75120" y="1463040"/>
            <a:ext cx="5303520" cy="2983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453771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F6B"/>
                </a:solidFill>
              </a:rPr>
              <a:t>帧1 导入：食物从哪来？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675120" y="453771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F6B"/>
                </a:solidFill>
              </a:rPr>
              <a:t>帧2 光反应：分解水放氧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737029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F2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 · 教学视频关键帧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光合作用 · 暗反应与总结</a:t>
            </a:r>
            <a:endParaRPr lang="en-US" sz="1000" dirty="0"/>
          </a:p>
        </p:txBody>
      </p:sp>
      <p:pic>
        <p:nvPicPr>
          <p:cNvPr id="6" name="Image 0" descr="C:/Users/团聚体/AppData/Local/Temp/opencode/video_frames_hd/frame_60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463040"/>
            <a:ext cx="5303520" cy="2983230"/>
          </a:xfrm>
          <a:prstGeom prst="rect">
            <a:avLst/>
          </a:prstGeom>
        </p:spPr>
      </p:pic>
      <p:pic>
        <p:nvPicPr>
          <p:cNvPr id="7" name="Image 1" descr="C:/Users/团聚体/AppData/Local/Temp/opencode/video_frames_hd/frame_90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75120" y="1463040"/>
            <a:ext cx="5303520" cy="2983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453771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F6B"/>
                </a:solidFill>
              </a:rPr>
              <a:t>帧3 暗反应：卡尔文循环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675120" y="453771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F6B"/>
                </a:solidFill>
              </a:rPr>
              <a:t>帧4 总结：光暗反应接力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256008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F2B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 · 真实演示视频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光合作用 35s 片段 · PowerPoint 内可播放</a:t>
            </a:r>
            <a:endParaRPr lang="en-US" sz="1000" dirty="0"/>
          </a:p>
        </p:txBody>
      </p:sp>
      <p:pic>
        <p:nvPicPr>
          <p:cNvPr id="6" name="Image 0" descr="C:/Users/团聚体/AppData/Local/Temp/opencode/video_frames_hd/frame_00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1645920"/>
            <a:ext cx="5943600" cy="3343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5126355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A528"/>
                </a:solidFill>
              </a:rPr>
              <a:t>▶ 点击播放 · 光合作用演示（35s 片段）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3</a:t>
            </a:r>
            <a:endParaRPr lang="en-US" sz="800" dirty="0"/>
          </a:p>
        </p:txBody>
      </p:sp>
      <p:pic>
        <p:nvPicPr>
          <p:cNvPr id="10" name="paeg_video_ppt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71600" y="1645920"/>
            <a:ext cx="5943600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8281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F3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 · PPT 一键生成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从对话到 .pptx 文件的完整闭环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666740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F3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 · PPT 一键生成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从对话到 .pptx 文件的完整闭环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F2A52"/>
                </a:solidFill>
              </a:rPr>
              <a:t>输入：</a:t>
            </a:r>
            <a:r>
              <a:rPr lang="en-US" sz="1200" dirty="0">
                <a:solidFill>
                  <a:srgbClr val="555F6B"/>
                </a:solidFill>
              </a:rPr>
              <a:t>用户上传文档 + 知识库检索 + 对话历史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F2A52"/>
                </a:solidFill>
              </a:rPr>
              <a:t>输出：</a:t>
            </a:r>
            <a:r>
              <a:rPr lang="en-US" sz="1200" dirty="0">
                <a:solidFill>
                  <a:srgbClr val="555F6B"/>
                </a:solidFill>
              </a:rPr>
              <a:t>授课讲义 .pptx（学习目标/要求/形式/视觉风格）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F2A52"/>
                </a:solidFill>
              </a:rPr>
              <a:t>价值：</a:t>
            </a:r>
            <a:r>
              <a:rPr lang="en-US" sz="1200" dirty="0">
                <a:solidFill>
                  <a:srgbClr val="555F6B"/>
                </a:solidFill>
              </a:rPr>
              <a:t>教学不只「对话」，还能沉淀为可交付文件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329342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F4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 · 视频 + PPT 双产出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从「对话」到「文件」到「视频」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F2A52"/>
                </a:solidFill>
              </a:rPr>
              <a:t>教学闭环 → 知识掌握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   → PPT 讲义（复习材料）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   → 教学视频（可分享/可重看）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   → 学习推荐（基于画像）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538275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场对话数据全景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真实运行数据 · 24 维结构化指标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2A52"/>
                </a:solidFill>
              </a:rPr>
              <a:t>30/30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F6B"/>
                </a:solidFill>
              </a:rPr>
              <a:t>对话全部达标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164592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2103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2A52"/>
                </a:solidFill>
              </a:rPr>
              <a:t>24 维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38728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F6B"/>
                </a:solidFill>
              </a:rPr>
              <a:t>结构化指标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164592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2103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2A52"/>
                </a:solidFill>
              </a:rPr>
              <a:t>0 翻车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37376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F6B"/>
                </a:solidFill>
              </a:rPr>
              <a:t>无答非所问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53144" y="164592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2103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2A52"/>
                </a:solidFill>
              </a:rPr>
              <a:t>4 维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336024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F6B"/>
                </a:solidFill>
              </a:rPr>
              <a:t>闭环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126261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H1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全功能能力矩阵 · 教学与 Agent 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PAEG 全部功能一览（上半）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F2A5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533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诊断→计划→呈现→评估→调整→反思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F2A5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751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subagent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9933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Diagnostor/Planner/Presenter/Evaluator/Adapter/AnswerSolver/Affection/Update/Individuality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F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968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意图路由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61518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模式短路 + LLM 判断 + 规则兜底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F2A5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18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学段联动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323697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SUBJECT_MIN_GRADE 初中12/高中22/本科28/考研2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F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8587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17 维正交画像 + 增量建模 + 五层注入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F2A5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62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立德树人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4480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危机先行 + 先回应再关怀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010912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F2A5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0840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语言规范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51023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L0+L1+L2+L3 四层，AI 味 0.4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659673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H2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全功能能力矩阵 · 工具与产出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PAEG 全部功能一览（下半）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350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8层约束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35331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L0-L7 + mask 000-111 动态放开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83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9019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RRF + URL 规范化 + jieba + 双语变体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323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自我进化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45059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四路自进化 + 7 分类 + 质量门禁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809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双向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99923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3 server · 34 工具 · opencode 插件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295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生成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54787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授课讲义模式 · 经验库驱动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78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409651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演讲稿驱动 · 三字段对齐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268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4645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edge-tts TTS + Web Speech STT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175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文件4能力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0" y="519379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找答案/讲解/输出原文/重组结构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539157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层约束：从 L0 安全基线到 L7 创造性生成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动态提示词约束 · v0.50 全映射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2893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语言底线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3075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语言规范/格式/反AI腔/安全伦理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0" y="1307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A528"/>
                </a:solidFill>
              </a:rPr>
              <a:t>永不跳过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28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18379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危机安全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危机检测、安全护栏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0" y="1856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A528"/>
                </a:solidFill>
              </a:rPr>
              <a:t>生效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77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23865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直接答案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4048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取消「直接给答案」（用户要答案时）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0" y="2404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A528"/>
                </a:solidFill>
              </a:rPr>
              <a:t>生效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26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29352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29535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情绪/共情/约纳斯克制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0" y="29535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A528"/>
                </a:solidFill>
              </a:rPr>
              <a:t>生效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74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45920" y="34838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深度默认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5021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教学深度/学科教学法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0" y="3502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A528"/>
                </a:solidFill>
              </a:rPr>
              <a:t>生效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23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45920" y="40325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过程讲解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40507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分步讲解/教学步骤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0" y="40507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A528"/>
                </a:solidFill>
              </a:rPr>
              <a:t>生效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52628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5720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645920" y="45811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扩展深度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474720" y="45994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母语迁移/概念对子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15600" y="4599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A528"/>
                </a:solidFill>
              </a:rPr>
              <a:t>生效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0749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F2A52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120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645920" y="51297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迁移创造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474720" y="51480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迁移运用/创造力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515600" y="5148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A528"/>
                </a:solidFill>
              </a:rPr>
              <a:t>生效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A528"/>
                </a:solidFill>
              </a:rPr>
              <a:t>mask 000=4层全约束 → 111=7层全放开（L0 恒在）· 约束段 1089→1836 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89753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J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语言三层：L1 约束 · L2 检测 · L3 修正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程序化保证的规范中文 · AI 味阈值 0.4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0F2A5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提示词约束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508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语法自检 7 项注入 system：主谓宾/动宾搭配/介词规范/词法完整/句法完整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0F2A5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规则检测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detect_ai_taste（AI 味 ≥0.4）+ _check_ellipsis（省略句）——零 LLM 成本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0F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94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LLM 修正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703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refiner.refine 保持风格补全——「它非常的重要。」→「这条定律很重要…」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A528"/>
                </a:solidFill>
              </a:rPr>
              <a:t>病句捕获率 15/16（94%）· 正确句零误报 · 8 模块全覆盖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663425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检索增强：RRF 融合 · jieba 切词 · 双语变体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回答前强制检索 · 答案有据可依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0F2A5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查询变体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4904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中英双语 × 多轮改写（5 主题 × 3 轮 → 16 条）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0F2A5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多路检索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26771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BM25 + jieba + 网络 web_search_multi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0F2A5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融合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0449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k=60 倒数排名融合，无归一化问题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0F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794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规范化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382219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去 tracking/尾斜杠/www，去 30-60% 假重复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0F2A5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2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4572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相关性打分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45994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核心词 + 标题 + 长度 + 域名权重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A528"/>
                </a:solidFill>
              </a:rPr>
              <a:t>实测：「超导体的量子隧穿效应」→ 9 条相关结果 3.5s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712089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个体化画像：17 维正交 · 增量建模 · 五层注入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因材施教 · 对每个学生个别对待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1. 身份学段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1688" y="128016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13258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2. 认知通道(VARK)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66176" y="128016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403336" y="13258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3. 知识掌握状态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4. 学习目标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1688" y="178308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5. 价值观世界观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66176" y="178308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6. 情感状态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3317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7. 学习动机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61688" y="228600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98848" y="23317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8. 自我信念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66176" y="228600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403336" y="23317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9. 会话意图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78892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834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10. 投入度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61688" y="278892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2834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11. 学习节奏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66176" y="278892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403336" y="2834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12. 时段偏好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3375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13. 错误反应模式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61688" y="329184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498848" y="33375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14. 协作偏好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66176" y="329184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403336" y="33375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15. 多媒体偏好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79476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840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16. 可用性需求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61688" y="379476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498848" y="3840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52"/>
                </a:solidFill>
              </a:rPr>
              <a:t>17. 母语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B"/>
                </a:solidFill>
              </a:rPr>
              <a:t>增量建模：说「代数弱」→ 画像自动记录 · 持久化 users_data/profile.json · 可扩第 18/19 维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431983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自我进化：四路自进化 + 质量门禁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越用越懂怎么教 · 数据飞轮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知识蒸馏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554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成功教学入库 evolved_*.json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0488" y="1371600"/>
            <a:ext cx="5486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提示词补丁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93608" y="1554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evolve_prompt → subject_patches.md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5486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工具经验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工具使用效果回流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2651760"/>
            <a:ext cx="5486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新学科需求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3608" y="2834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问「量子力学」→ 自动注册入库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486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SelfUpdateAgent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7 分类 + 周期调度器落地执行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0488" y="3931920"/>
            <a:ext cx="5486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93608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F6B"/>
                </a:solidFill>
              </a:rPr>
              <a:t>Constitutional AI 风格过滤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118923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语音模块：TTS 朗读 + STT 语音输入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edge-tts 免 key · Web Speech API · 模块门控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TTS（朗读回答）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edge-tts 中文女声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后端 /api/voice/tts 生成 MP3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点击朗读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STT（语音提问）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浏览器 Web Speech API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Chrome/Edge/Safari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语音输入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A528"/>
                </a:solidFill>
              </a:rPr>
              <a:t>真实边界：STT 需 HTTPS/localhost；微信内置浏览器不支持——已标注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223650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知识导图 + 文件 4 能力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从「问」到「产出」 · 用户资料深度利用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知识导图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说「画知识导图/列提纲/思维导图」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→ 知识定位/知识树/关联/学习路径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4 能力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① 找答案 ② 基于文件讲解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F6B"/>
                </a:solidFill>
              </a:rPr>
              <a:t>③ 输出原文 ④ 重组结构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111272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测试体系：从单元到 E2E 的五层保障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每次改动前后必跑 · 5 命令全绿才发版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4356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6B"/>
                </a:solidFill>
              </a:rPr>
              <a:t>pytest + tmp_path 隔离 · 可并行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管线契约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02168" y="14356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6B"/>
                </a:solidFill>
              </a:rPr>
              <a:t>7 用例验证教学管线完整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契约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212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6B"/>
                </a:solidFill>
              </a:rPr>
              <a:t>6 用例覆盖核心端点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0488" y="205740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学段学科矩阵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02168" y="2212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6B"/>
                </a:solidFill>
              </a:rPr>
              <a:t>5 用例：学段×学科联动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全模式 E2E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990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6B"/>
                </a:solidFill>
              </a:rPr>
              <a:t>chat/teach/mock · 36 端点多轮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0488" y="283464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多轮注入实验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02168" y="2990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6B"/>
                </a:solidFill>
              </a:rPr>
              <a:t>5 维度：退化/决策/语言/约束/tool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audit_check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6B"/>
                </a:solidFill>
              </a:rPr>
              <a:t>24/24 静态检视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0488" y="361188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373368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smoke_test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02168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F6B"/>
                </a:solidFill>
              </a:rPr>
              <a:t>27 秒验证关键 API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440138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测试数据全景：30 场对话 · 0 翻车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真实运行数据 · 24 维结构化指标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52"/>
                </a:solidFill>
              </a:rPr>
              <a:t>30/30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B"/>
                </a:solidFill>
              </a:rPr>
              <a:t>对话全部达标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463040"/>
            <a:ext cx="36576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52"/>
                </a:solidFill>
              </a:rPr>
              <a:t>24 维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36008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B"/>
                </a:solidFill>
              </a:rPr>
              <a:t>结构化指标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463040"/>
            <a:ext cx="36576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66176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52"/>
                </a:solidFill>
              </a:rPr>
              <a:t>0 翻车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540496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B"/>
                </a:solidFill>
              </a:rPr>
              <a:t>无答非所问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6576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52"/>
                </a:solidFill>
              </a:rPr>
              <a:t>5863字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31520" y="4937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B"/>
                </a:solidFill>
              </a:rPr>
              <a:t>教学 15 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1688" y="3657600"/>
            <a:ext cx="36576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361688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52"/>
                </a:solidFill>
              </a:rPr>
              <a:t>9723字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636008" y="4937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B"/>
                </a:solidFill>
              </a:rPr>
              <a:t>倾诉 15 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66176" y="3657600"/>
            <a:ext cx="36576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52"/>
                </a:solidFill>
              </a:rPr>
              <a:t>100%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540496" y="4937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B"/>
                </a:solidFill>
              </a:rPr>
              <a:t>找答案 10 题通过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A528"/>
                </a:solidFill>
              </a:rPr>
              <a:t>数据来源：v51_test_results.json（真实运行日志）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165810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查资料 3 场景：检索增强真实效果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哲学/物理/英语 · RRF 融合 + 知识库 + 网络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0F2A5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哲学入门书籍推荐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n=2 条 · 知识库优先 → 网络补充 → RRF 融合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0F2A5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物理竞赛学习方法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359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n=6 条 · URL 规范化去重 → 融合出 6 条高相关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0F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英语单词记忆技巧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182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n=6 条 · jieba 切词提升命中 → sources 卡片</a:t>
            </a:r>
            <a:endParaRPr lang="en-US" sz="1100" dirty="0"/>
          </a:p>
        </p:txBody>
      </p:sp>
      <p:pic>
        <p:nvPicPr>
          <p:cNvPr id="15" name="Image 0" descr="D:/wbo-workspace/video_frames/v_p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4206240"/>
            <a:ext cx="4114800" cy="23145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492379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视频生成实测：演讲稿驱动管线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光合作用 128s · 先写稿再配音 · 音画同步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F2A52"/>
                </a:solidFill>
              </a:rPr>
              <a:t>管线：</a:t>
            </a:r>
            <a:r>
              <a:rPr lang="en-US" sz="1200" dirty="0">
                <a:solidFill>
                  <a:srgbClr val="555F6B"/>
                </a:solidFill>
              </a:rPr>
              <a:t>写演讲稿(narration) → TTS 合成(audio_duration) → 字幕(subtitle_cues) → 合并输出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F2A52"/>
                </a:solidFill>
              </a:rPr>
              <a:t>v0.53 修复：</a:t>
            </a:r>
            <a:r>
              <a:rPr lang="en-US" sz="1200" dirty="0">
                <a:solidFill>
                  <a:srgbClr val="555F6B"/>
                </a:solidFill>
              </a:rPr>
              <a:t>演讲稿驱动修复音画不同步 · 关键帧静态图防空白</a:t>
            </a:r>
            <a:endParaRPr lang="en-US" sz="1300" dirty="0"/>
          </a:p>
        </p:txBody>
      </p:sp>
      <p:pic>
        <p:nvPicPr>
          <p:cNvPr id="8" name="Image 0" descr="D:/wbo-workspace/video_frames/v_p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3931920"/>
            <a:ext cx="4114800" cy="23145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19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329127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A528"/>
                </a:solidFill>
              </a:rPr>
              <a:t>APPENDIX 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版本演进时间线：v0.25 → v0.53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2E0"/>
                </a:solidFill>
              </a:rPr>
              <a:t>从单文件到完整 Agent 架构 · 48 个版本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6A5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3502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52"/>
                </a:solidFill>
              </a:rPr>
              <a:t>v0.25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353312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学段-学科联动 + PPT MCP + SelfUpdateAgent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6A52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019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52"/>
                </a:solidFill>
              </a:rPr>
              <a:t>v0.35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920240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LLM 优先意图路由（14 意图）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6A5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52"/>
                </a:solidFill>
              </a:rPr>
              <a:t>v0.36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4871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语音模块 + 母语迁移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6A52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358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52"/>
                </a:solidFill>
              </a:rPr>
              <a:t>v0.41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054096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模块化拆分 + 测试隔离根治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6A52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027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52"/>
                </a:solidFill>
              </a:rPr>
              <a:t>v0.42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3621024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提示词模板引擎（12 动态槽）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6A52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696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52"/>
                </a:solidFill>
              </a:rPr>
              <a:t>v0.45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4187952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检索增强（RRF + URL + jieba）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6A52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365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52"/>
                </a:solidFill>
              </a:rPr>
              <a:t>v0.50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94560" y="4754880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8 层约束（L0-L7）+ 全模式测试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248656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6A52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303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52"/>
                </a:solidFill>
              </a:rPr>
              <a:t>v0.53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94560" y="532180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F6B"/>
                </a:solidFill>
              </a:rPr>
              <a:t>视频演讲稿驱动 + PPT 讲义 + 插件生态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F6B"/>
                </a:solidFill>
              </a:rPr>
              <a:t>PAEG 教育者 Agent · v8 · 2026.08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F6B"/>
                </a:solidFill>
              </a:rPr>
              <a:t>20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37697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5608</Words>
  <Application>Microsoft Office PowerPoint</Application>
  <PresentationFormat>宽屏</PresentationFormat>
  <Paragraphs>1167</Paragraphs>
  <Slides>66</Slides>
  <Notes>66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69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PAEG 路演</dc:title>
  <dc:subject>PptxGenJS Presentation</dc:subject>
  <dc:creator>PAEG</dc:creator>
  <cp:lastModifiedBy>天行 李</cp:lastModifiedBy>
  <cp:revision>2</cp:revision>
  <dcterms:created xsi:type="dcterms:W3CDTF">2026-08-11T20:38:48Z</dcterms:created>
  <dcterms:modified xsi:type="dcterms:W3CDTF">2026-08-11T20:38:59Z</dcterms:modified>
</cp:coreProperties>
</file>