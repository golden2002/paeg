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30" r:id="rId29"/>
    <p:sldId id="329" r:id="rId30"/>
    <p:sldId id="328" r:id="rId31"/>
    <p:sldId id="327" r:id="rId32"/>
    <p:sldId id="326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0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480000">
            <a:off x="7498079" y="457200"/>
            <a:ext cx="137160" cy="5943600"/>
          </a:xfrm>
          <a:prstGeom prst="parallelogram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EDUCATION AGENT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PAEG · 教育者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82296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思源宋体 CN"/>
              </a:rPr>
              <a:t>AI 不只在回答问题，</a:t>
            </a:r>
          </a:p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思源宋体 CN"/>
              </a:rPr>
              <a:t>AI 在成为一个人。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F0C870"/>
                </a:solidFill>
                <a:latin typeface="思源宋体 CN"/>
                <a:ea typeface="微软雅黑"/>
              </a:rPr>
              <a:t>Personal AI Educator for Growth · 路演版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演讲者 / 评委组  ·  v6.0 终版  ·  2026.08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E6A528"/>
                </a:solidFill>
                <a:latin typeface="思源宋体 CN"/>
              </a:rPr>
              <a:t>PAEG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EDUCATOR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4754880"/>
            <a:ext cx="30175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0" y="27432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教育的本质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不是回答问题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是成为一个人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0" y="2743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01  ·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缺的不是第二个答案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而是被持续看见的关系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73152" cy="32004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对话式 AI 的边界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大模型知道每个题的解法，但不知道学生是谁。一节课讲完，没有一个人被记住。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743200"/>
            <a:ext cx="73152" cy="3200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A52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真人教师的不可替代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一位老师带 40 个学生，没有余力记住每一个人的卡点、脆弱、隐藏的天赋。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2743200"/>
            <a:ext cx="73152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那一条"被看见"的缝隙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6888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F2E"/>
                </a:solidFill>
                <a:latin typeface="思源黑体 CN"/>
              </a:rPr>
              <a:t>记忆、注意力、关系——这是 PAEG 要填补的位置。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"我记不住"不只是记忆问题，是结构问题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4A5568"/>
                </a:solidFill>
                <a:latin typeface="思源黑体 CN"/>
                <a:ea typeface="微软雅黑"/>
              </a:rPr>
              <a:t>A student saying "I can't remember" reveals a structure, not a deficit.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3108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50" b="1" i="0">
                <a:solidFill>
                  <a:srgbClr val="E6A528"/>
                </a:solidFill>
                <a:latin typeface="思源宋体 CN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548640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FFFFFF"/>
                </a:solidFill>
                <a:latin typeface="思源宋体 CN"/>
              </a:rPr>
              <a:t>我记不住。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一个学生说出这句话时，他不是在描述一个能力缺失，他是在描述一种关系断裂——和知识断裂，和自己断裂，和那个应该看见他的人断裂。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08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0C870"/>
                </a:solidFill>
                <a:latin typeface="思源黑体 CN"/>
              </a:rPr>
              <a:t>—— PAEG 把这句"我记不住"作为唯一入口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00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PAEG 停顿在"我记不住"上，做三层诊断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20040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浅层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是真的能力不足，还是这一瞬间的注意力崩溃？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20040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中层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0896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是知识点断裂，还是和上一次学习的关系断裂？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20040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深层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0896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是认知卡点，还是背后那件没说出口的事？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0" y="2743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02  · 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把教学变成可被验证的事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从对话工具到关系型 Agent 的六个核心数字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大模型底座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4A5568"/>
                </a:solidFill>
                <a:latin typeface="思源黑体 CN"/>
                <a:ea typeface="微软雅黑"/>
              </a:rPr>
              <a:t>GPT-5 / Claude / Gemini / Qwen / DeepSeek 多模型适配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工具 + 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4A5568"/>
                </a:solidFill>
                <a:latin typeface="思源黑体 CN"/>
                <a:ea typeface="微软雅黑"/>
              </a:rPr>
              <a:t>ResourceLibrarian 分工，确权协同；K12 教学合规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学生维度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认知 / 情感 / 元认知 / 学科全维画像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教学模式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讲解 / 探究 / 启发 / 练习 / 应用 / 挑战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层约束栈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L0 安全 → L7 创造性生成，逐层收紧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94960" y="301752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场实测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教学 15 + 倾诉 15，全部跑通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0" y="2743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03  ·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10 个大模型 + MCP 双通道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"可拆装"设计下每块都能独立换掉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Agent 循环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观察学生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L0/L1 检测意图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Think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思考诊断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8 层约束栈收敛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行动回应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00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资源 + 工具协同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60320" y="5074920"/>
            <a:ext cx="1280160" cy="27432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4389120" y="5074920"/>
            <a:ext cx="1280160" cy="27432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3200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能力栈 · 17 维 · 6 模式 · 35 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38328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3383280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L7 创造性生成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整合跨学科知识、迁移情境、推演新场景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6732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3767328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L6 类比与抽象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可视化类比、深度抽象、迁移偏置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151376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0" y="4151376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L5 教学模式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讲解/探究/启发/练习/应用/挑战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535424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0" y="4535424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L4 学科规范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格式、术语、步骤精度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919472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0" y="4919472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L3 学习画像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17 维对齐、因材施教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30352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0" y="5303520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L2 关系建构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个性化语气、关注延续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68756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0" y="5687568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L1 情绪安全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"我记不住"识别 · 暂停 · 追问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6071616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83680" y="6071616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94960" y="32918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L0 安全基线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32918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隐私 / 未成年保护 / 价值观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5 /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CONSTRAINT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L0 绝对底线到 L7 自由创造，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层约束守护每一次回答。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0" y="2377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自由创造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鼓励联想、跨学科、生活化类比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880360"/>
            <a:ext cx="786384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52160" y="2834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风格塑造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鼓励式语言、节奏、比喻偏好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337560"/>
            <a:ext cx="7498080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52160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教学策略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导入/新授/巩固/复习/应用/提高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794760"/>
            <a:ext cx="7132320" cy="411480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52160" y="3749039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学科规范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公式、术语、解题步骤正确性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4251960"/>
            <a:ext cx="6766560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5216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709160"/>
            <a:ext cx="640080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52160" y="4663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上下文连贯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4754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长对话记忆，前情提要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63240" y="5166360"/>
            <a:ext cx="6035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52160" y="5120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5120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 → 降速 / 暂停 / 追问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69280" y="5303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5623560"/>
            <a:ext cx="566928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852160" y="5577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绝对底线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5669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 / 自伤干预 / 价值观偏差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66928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2606040"/>
            <a:ext cx="27432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24160" y="2423160"/>
            <a:ext cx="1463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42416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→ L5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 → L5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→ L4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 → L3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→ L4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 → L6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→ L2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语言三层：什么 → 怎么 → 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4A5568"/>
                </a:solidFill>
                <a:latin typeface="思源黑体 CN"/>
                <a:ea typeface="微软雅黑"/>
              </a:rPr>
              <a:t>A teaching turn has three layers — what to teach, how to teach, why it matters.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749039" cy="7772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L1  什么 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918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知识锚点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给学生的"事实"层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"孟德尔把高株矮株杂交"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"F1 全是高株 → 显性"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"F2 出现 3:1 分离"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"基因是成对的等位基因"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669280"/>
            <a:ext cx="3383279" cy="0"/>
          </a:xfrm>
          <a:prstGeom prst="line">
            <a:avLst/>
          </a:prstGeom>
          <a:ln w="1270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F2A52"/>
                </a:solidFill>
                <a:latin typeface="思源黑体 CN"/>
              </a:rPr>
              <a:t>L1 错了 → 知识无效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19" y="1554480"/>
            <a:ext cx="3749039" cy="7772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L2  怎么  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教学动作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把"事实"变成可学的层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"先看图再读文字"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"用方块表示基因型"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"提问：为什么不是 1:1？"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"请你自己推一遍比例"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1999" y="5669280"/>
            <a:ext cx="3383279" cy="0"/>
          </a:xfrm>
          <a:prstGeom prst="line">
            <a:avLst/>
          </a:prstGeom>
          <a:ln w="127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L2 错了 → 学生听不懂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9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599" y="1554480"/>
            <a:ext cx="3749039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L3  为什么  WHY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2918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思维边界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思源宋体 CN"/>
              </a:rPr>
              <a:t>帮学生建立"可迁移的判断"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"为什么 F2 一定出现分离？"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"你怎么判断显隐性？"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"这个规律能解释色盲吗？"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2004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"在生活中还能举出哪几例？"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79" y="5669280"/>
            <a:ext cx="3383279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389120" y="320040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0392B"/>
                </a:solidFill>
                <a:latin typeface="思源黑体 CN"/>
              </a:rPr>
              <a:t>L3 错了 → 学完不会用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8 模块 × 6 模式：可编排的"教学乐谱"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4A5568"/>
                </a:solidFill>
                <a:latin typeface="思源黑体 CN"/>
                <a:ea typeface="微软雅黑"/>
              </a:rPr>
              <a:t>Eight modules and six modes combine into a scriptable teaching language.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8 个语言模块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事实陈述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直述知识点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0312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10312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概念辨析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区分相近概念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97180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情境导入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把抽象变具体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7180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97180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过程演示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展示思维路径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4047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84047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类比迁移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用熟悉解释陌生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84047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0" y="384047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练习设计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可分层的练习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915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70915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挑战任务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跨情境应用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70915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91840" y="470915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总结归纳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本轮闭环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6 个教学模式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讲解</a:t>
            </a:r>
          </a:p>
        </p:txBody>
      </p:sp>
      <p:sp>
        <p:nvSpPr>
          <p:cNvPr id="42" name="Oval 41"/>
          <p:cNvSpPr/>
          <p:nvPr/>
        </p:nvSpPr>
        <p:spPr>
          <a:xfrm>
            <a:off x="827532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探究</a:t>
            </a:r>
          </a:p>
        </p:txBody>
      </p:sp>
      <p:sp>
        <p:nvSpPr>
          <p:cNvPr id="44" name="Oval 43"/>
          <p:cNvSpPr/>
          <p:nvPr/>
        </p:nvSpPr>
        <p:spPr>
          <a:xfrm>
            <a:off x="1014984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启发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练习</a:t>
            </a:r>
          </a:p>
        </p:txBody>
      </p:sp>
      <p:sp>
        <p:nvSpPr>
          <p:cNvPr id="48" name="Oval 47"/>
          <p:cNvSpPr/>
          <p:nvPr/>
        </p:nvSpPr>
        <p:spPr>
          <a:xfrm>
            <a:off x="827532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应用</a:t>
            </a:r>
          </a:p>
        </p:txBody>
      </p:sp>
      <p:sp>
        <p:nvSpPr>
          <p:cNvPr id="50" name="Oval 49"/>
          <p:cNvSpPr/>
          <p:nvPr/>
        </p:nvSpPr>
        <p:spPr>
          <a:xfrm>
            <a:off x="1014984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挑战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6A528"/>
                </a:solidFill>
                <a:latin typeface="思源宋体 CN"/>
                <a:ea typeface="微软雅黑"/>
              </a:rPr>
              <a:t>教学语言规范 = 8 模块 + 6 模式 = 可被任意编排的"教学乐谱"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0" y="2743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08  ·  THE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价值观是 PAEG 的脊椎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不是装饰，是每一句回应背后的判断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注意力是最高形式的爱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089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"我记住了你今天说的那件事"——这是一切关系的前提，比回答正确重要。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爱是朝向，不是占有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不是把孩子改造成你想要的样子，是陪他走向他自己想去的地方。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善是受限的、具体的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1089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不给"空洞的正确"，给"这一刻、这个人、这一题"的回应。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不评判分三层：观察 / 共情 / 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089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先看见事实，再共情处境，最后才给出回应。不抢跑，不替代判断。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03504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扎根于此刻的真实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1089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当下此刻的真实优先于宏大遥远的正确；小目标优先于大改造。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188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04  · 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四个工程决策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不为"功能多"为"学生记得"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9260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35661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检索 · RRF 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稠密召回 + 关键词召回 RRF 融合 · 旧知识点不会被新热点淹没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用过的知识 + 现在的语境 → 准的、相关的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 · 分步 + 台阶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每轮只提一个问题 + 一个台阶 · 不抢答、不灌输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节奏跟着学生走，不被对话长度裹挟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5486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成本 · 预算窗口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按学段动态切预算 · 不超支、不浪费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预算跟着学生走，不被算力反噬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4632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5486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486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安全 · PBKDF2 + 分段加密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密码哈希 · 日志脱敏 · CORS 收紧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每一层都做"15 年后还记得"的设计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669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188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05  ·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30 场真实对话：让 PAEG 经得起翻页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实测 30 场，覆盖 6 模式 / 17 维 / 30 指标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知识准确率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讲得对不对，AI 的基本职业操守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11 / 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通过率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576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教学 15 + 倾诉 15，零翻车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要素捕获率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17 维要素被捕获的占比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L1 / L7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情绪 + 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6576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情绪安全 + 创造性同时跑通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三层证据：每场对话都被独立校核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92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结构校核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会话结构 / 知识结构 / 关系结构三轴对齐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语义校核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关键要点命中率、上下句衔接、术语精确度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情境校核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模拟真实课堂干扰、情绪波动、家庭作业场景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导入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23.4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435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① 把抽象概念锚到学生看得见的现象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我们从一个你每天都能观察到的现象说起：你和你爸妈的眼睛颜色不一样。 我们先来观察一个事实。你爸爸是棕色眼睛，你妈妈也是棕色眼睛，可你是蓝色眼睛——这种情况在我们身边并不少见。问题来了：孩子是从父母那里“各取一半”的，那怎么会取着取着，颜色反而变了？ 这一点很关键：“各取一半”这四个字，并不是说把爸爸的颜色和妈妈的颜色倒进杯子里搅一搅，得到一杯混合色。遗传更像是一人递给你一张卡片——爸爸那张写着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12 /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巩固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26.1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464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② 一步一台阶，不抢答不灌输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好的，我们用眼睛颜色这个最小的例子，把它讲清楚。 假设决定眼色的基因有两种版本：B（棕色，显性）和 b（蓝色，隐性）。你从爸爸那里得到一个版本，从妈妈那里得到一个版本，所以你的基因是成对的，有三种可能： - BB——两个都是棕色，表现棕色。 - Bb——一个棕色、一个蓝色，表现棕色。 - bb——两个都是蓝色，表现蓝色。 你看，Bb 和 BB 看起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挑战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18.6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343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③ 让错误成为可观察的"路标"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我们直接进入一个相似的问题，你来独立做。 练习：黄色圆粒豌豆（YyRr）与绿色皱粒豌豆（yyrr）杂交。请回答： 1. 分离定律在这道题里管的是哪一对基因？ 2. 自由组合定律管的是哪两对基因之间的事？ 3. 写出生殖细胞（配子）的种类和比例。 我们先想第一问。分离定律只盯着一对等位基因看，比如 Yy 这对在形成配子时怎么分开，Rr 这对又怎么分开。它不关心别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教学实测 · UI 原貌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15 轮 · 孟德尔遗传 · 从导入到挑战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08760"/>
            <a:ext cx="3822192" cy="5029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51_teach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73075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3291840"/>
            <a:ext cx="37307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A5568"/>
                </a:solidFill>
                <a:latin typeface="思源黑体 CN"/>
              </a:rPr>
              <a:t>PAEG 实际界面截图（1725×2282 原比例）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004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三条关键观察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0312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210312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32004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A · 现象锚定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每一步都从学生看得见的现象出发（眼睛颜色 / 红白花朵 / 色盲）。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42900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342900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32004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B · 节奏控制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0896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每轮只提一个台阶，绝不一次甩出"分离定律"这种结论名词。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75488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475488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32004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C · 错误利用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0896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学生的错误从不直接纠正，而是变成下一次的"路标"。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05332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6A528"/>
                </a:solidFill>
                <a:latin typeface="思源黑体 CN"/>
                <a:ea typeface="微软雅黑"/>
              </a:rPr>
              <a:t>15 / 15 全部跑通   ·   平均 23.0 s / 轮   ·   平均 397 字 / 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评价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22.0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794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② 把情绪重述为"此刻的状态"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你问出了一个比前面所有问题都更深的问题：我是不是性格有问题。这句话的分量很重，因为你在用一个整体性的判断否定自己，而不是在说某件具体的事。前面你谈的是成绩下滑，午休一个人坐着，现在你把它们拧成了一句自我审判：问题在我这个人身上。 我想先把这个判断接住，因为它值得被认真对待，而不是被一句“你想多了”打发掉。但我也要把它拆开来观察。“性格有问题”是一个很模糊的说法，它没有边界。而“别人都能很快交到朋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接纳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17.8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817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③ 从崩溃到承诺，用小目标代替大改造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你这句话，是这几轮对话里最安静，也最结实的一句。前面你说“打招呼是练习，不是考试”，那是在说一件具体的事；现在你说“我好像能接受慢慢来了”，这是在说你整个人——你在允许自己，不必一口气把所有问题都解决掉。这不是同一个层面的进步，这是更底下的那一层。 我想先把你过去的样子和现在做个对照，因为你自己可能还没看清这个变化有多大。以前的你，是那种“一口气解决”的人：成绩要稳住前十，转学要马上适应，朋友要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告别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15.6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626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① 觉察"我是不是不愿说"而不是给建议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你这句话，把这几轮对话收住了。你说“我会先从小目标做起，下周再来跟你分享进展”——这不再是一个试探性的“可能”“试着”，而是一句完整的承诺。你定了方向，给了自己期限，还约好了回来。从“我是不是性格有问题”走到这里，你已经走了很远。而这一步，是把自己交给了行动，也交给了时间。 我想先肯定你这句话里两个结实的部分。第一个是“小目标”。你没有说“我要彻底改变”，没有说“下周我要交到很多朋友”，你只说“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倾诉实测 · UI 原貌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15 轮 · 转学适应 · 从崩溃到承诺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08760"/>
            <a:ext cx="3401568" cy="5029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51_aff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31012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0" y="3291840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A5568"/>
                </a:solidFill>
                <a:latin typeface="思源黑体 CN"/>
              </a:rPr>
              <a:t>PAEG 实际界面截图（1532×2282 原比例）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0040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陪他走的三段弧线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32004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1 · 1-2 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觉察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先承接情绪，不急着给建议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42900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342900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32004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2 · 3-8 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命名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把"我不行"重述为"我现在的状态"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75488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75488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32004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3 · 9-15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200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从"希望"走向"小目标"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05332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C0392B"/>
                </a:solidFill>
                <a:latin typeface="思源黑体 CN"/>
                <a:ea typeface="微软雅黑"/>
              </a:rPr>
              <a:t>15 / 15 全部跑通   ·   平均 14.7 s / 轮   ·   平均 614 字 / 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上传笔记 · 4 个动作的实测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上传笔记 → PAEG 自动展开教学 · 全程截图实录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2194560" cy="2926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1  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200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思源黑体 CN"/>
              </a:rPr>
              <a:t>📄 笔记.png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200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0C870"/>
                </a:solidFill>
                <a:latin typeface="思源黑体 CN"/>
              </a:rPr>
              <a:t>「基因的交叉互换」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思源黑体 CN"/>
                <a:ea typeface="微软雅黑"/>
              </a:rPr>
              <a:t>学生上传手写 / 印刷笔记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思源黑体 CN"/>
                <a:ea typeface="微软雅黑"/>
              </a:rPr>
              <a:t>PAEG 立即 OCR + 抽取知识点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思源黑体 CN"/>
                <a:ea typeface="微软雅黑"/>
              </a:rPr>
              <a:t>自动匹配教学计划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2834640"/>
            <a:ext cx="548640" cy="36576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5603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「三句话概括你这一页」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答疑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603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「把笔记里这句话再讲一遍」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5603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「画出本节知识结构图」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底层能力栈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BM25 关键词 + jieba 分词 · 155 学科教学词条 · K12 教材知识库 · 三步走（OCR → 抽取 → 教学）· 全程保留原文出处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20 /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两个护栏：约束栈 + 语言规范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4A5568"/>
                </a:solidFill>
                <a:latin typeface="思源黑体 CN"/>
                <a:ea typeface="微软雅黑"/>
              </a:rPr>
              <a:t>Two guardrails: an 8-layer constraint stack and a 3-layer language.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6A528"/>
                </a:solidFill>
                <a:latin typeface="思源宋体 CN"/>
              </a:rPr>
              <a:t>LLM 约束栈 · 8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F2A52"/>
                </a:solidFill>
                <a:latin typeface="思源黑体 CN"/>
                <a:ea typeface="微软雅黑"/>
              </a:rPr>
              <a:t>L7 创造性生成 · L6 类比 · L5 教学 · L4 学科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F2A52"/>
                </a:solidFill>
                <a:latin typeface="思源黑体 CN"/>
                <a:ea typeface="微软雅黑"/>
              </a:rPr>
              <a:t>L3 学习画像 · L2 关系 · L1 情绪 · L0 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为什么需要 8 层？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LLM 是概率模型，不是教学模型。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8 层把"会说话"约束为"懂得什么时候、对谁、说什么、怎么说"。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任一层失败即回退：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L1 失败 → 暂停 / 追问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L4 失败 → 切到 L3 兜底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1F2E"/>
                </a:solidFill>
                <a:latin typeface="思源黑体 CN"/>
                <a:ea typeface="微软雅黑"/>
              </a:rPr>
              <a:t>L7 失败 → 回 L6 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教学语言规范 · 3 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L1  什么  · 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L2  怎么  · 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L3  为什么  · 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8 个语言模块 + 6 个教学模式 = 教学乐谱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每一轮回复都被这三层 + 这套乐谱共同校验。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要素捕获率 94%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术语精确度 100%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这意味着什么？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学生记住的是判断而不是结论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学生学完能迁移到别的题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188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06  · 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一节课之后，PAEG 自动生成的产物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PPT · 讲义 · 视频 · 推荐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0F2A52"/>
                </a:solidFill>
                <a:latin typeface="思源宋体 CN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页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关键对话 + 思考过程 + 总结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3017520"/>
            <a:ext cx="274320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思源宋体 C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份讲义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576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教师可一键导出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27432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思源宋体 CN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页视频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4 段 23.2 s，自动抽取关键对话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3017520"/>
            <a:ext cx="27432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0F2A52"/>
                </a:solidFill>
                <a:latin typeface="思源宋体 CN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条推荐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6576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扩展阅读、对照练习、家长沟通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为什么是产物而不是"工具"？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老师熬夜做的、学生带回家看的、家长会上展示的——PAEG 把对话变成可被翻阅、可被分发、可被保留的实体。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9436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30 场对话数据全景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24 维结构化指标 · 0 翻车 · 4 维闭环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场真实对话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维结构化指标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次翻车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维闭环 · 教学/情感/资源/学科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 15 场 · 关键时刻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导入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从眼睛颜色引出"基因从哪里来"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建构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BB / Bb / bb 三种基因型可视化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深化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不完全显性的边界与命名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色盲基因的 X 染色体遗传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挑战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YyRr × yyrr 双基因杂交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倾诉 15 场 · 关键时刻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崩溃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"我转学之后就不行了"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觉察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"我是不是不愿跟别人说"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落地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从描述走向具体的情境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整合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"我愿意和你继续说"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200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承诺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"我先做能做的事"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教学视频 · 128 秒光合作用 · 关键帧展示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4 个关键帧 · 视频可嵌入 PowerPoint 直接播放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206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rame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2606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1 · 开场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0:00-0:08 · 引入"叶子为什么会变绿"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ame_15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554480"/>
            <a:ext cx="2606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2 · 早期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0:50 · 显微镜观察叶绿体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rame_30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554480"/>
            <a:ext cx="2606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3 · 中段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2:00 · 拆解光反应步骤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rame_45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1554480"/>
            <a:ext cx="2606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4 · 末段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004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3:00 · 卡尔文循环小结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00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视频内容结构（4 段共 128 秒）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0:00 - 0:30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004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叶子为什么变绿？学生提出现象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0:30 - 1:30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2004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建构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叶绿体的结构与光反应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1:30 - 2:30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2004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深化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暗反应与卡尔文循环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2:30 - 3:30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2004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用一句话复述整段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931920"/>
            <a:ext cx="4480560" cy="2651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32004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▶  PowerPoint 内嵌视频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2004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9cc3ab9126.mp4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74320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□ 自动播放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□ 单击播放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□ 鼠标悬停提示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思源黑体 CN"/>
                <a:ea typeface="微软雅黑"/>
              </a:rPr>
              <a:t>□ 进度条可拖拽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2918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F0C870"/>
                </a:solidFill>
                <a:latin typeface="思源黑体 CN"/>
              </a:rPr>
              <a:t>（演讲时按 F5 即可触发）</a:t>
            </a:r>
          </a:p>
        </p:txBody>
      </p:sp>
      <p:pic>
        <p:nvPicPr>
          <p:cNvPr id="40" name="9cc3ab912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32320" y="4434840"/>
            <a:ext cx="4480560" cy="219456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0" y="32918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3832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24 / 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188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07  ·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30 / 30 通过 · P0 缺陷全修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v5.0 → v6.0 修复清单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预算窗口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动态切预算，超支即截断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 OOM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0175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301752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密码哈希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PBKDF2 + 随机盐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防爆破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5212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03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CORS 收敛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来源白名单 + 凭证校验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防越权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70916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70916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5303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日志脱敏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12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原文写盘前先分级加密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035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i="1">
                <a:solidFill>
                  <a:srgbClr val="E6A528"/>
                </a:solidFill>
                <a:latin typeface="思源黑体 CN"/>
              </a:rPr>
              <a:t>"通过"不是口号，是每一轮对话后那句"我记住了"的回报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0">
                <a:solidFill>
                  <a:srgbClr val="4A5568"/>
                </a:solidFill>
                <a:latin typeface="思源黑体 CN"/>
                <a:ea typeface="微软雅黑"/>
              </a:rPr>
              <a:t>PAEG  教育者 Agent  ·  v6.0  ·  2026.08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00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7760" y="2743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0C870"/>
                </a:solidFill>
                <a:latin typeface="思源宋体 CN"/>
              </a:rPr>
              <a:t>PART  06  ·  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9260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从"我记不住一个学生"到"每个学校都有一位能记住的老师"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19456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单点陪练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对话 → 班级 → 学校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FFFF"/>
                </a:solidFill>
                <a:latin typeface="思源黑体 CN"/>
              </a:rPr>
              <a:t>一个学生 → 一个班 → 一所学校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v6.0 · Q4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家长 / 教师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对齐家长、班主任、心理老师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FFFF"/>
                </a:solidFill>
                <a:latin typeface="思源黑体 CN"/>
              </a:rPr>
              <a:t>不是替代他们，是补他们看不见的缝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v7.0 · 2026 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六年陪伴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8346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一个学生被记住六年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>
                <a:latin typeface="微软雅黑"/>
                <a:ea typeface="微软雅黑"/>
              </a:rPr>
              <a:t>成为他的"在场的老师"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v8.0 · 2028+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6A528"/>
                </a:solidFill>
                <a:latin typeface="思源宋体 CN"/>
                <a:ea typeface="微软雅黑"/>
              </a:rPr>
              <a:t>Thank you.  PAEG  ·  教育者 Agent  ·  v6.0  ·  2026.08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400" b="1">
                <a:solidFill>
                  <a:srgbClr val="E6A528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56032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PAEG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9260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全功能实测记录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200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D0CEC7"/>
                </a:solidFill>
                <a:latin typeface="Arial"/>
              </a:rPr>
              <a:t>Full-Feature Empirical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5F2EC"/>
                </a:solidFill>
                <a:latin typeface="Microsoft YaHei"/>
                <a:ea typeface="微软雅黑"/>
              </a:rPr>
              <a:t>30 场对话 · 10 题答案
3 类查资料 · 2 个扩展场景
教学视频 · 能力矩阵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91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Microsoft YaHei"/>
              </a:rPr>
              <a:t>PAEG · 路演 · v6 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200" b="1">
                <a:solidFill>
                  <a:srgbClr val="0F2A52"/>
                </a:solidFill>
                <a:latin typeface="Microsoft YaHei"/>
              </a:rPr>
              <a:t>附录章节索引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Appendix Chapters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1417320"/>
            <a:ext cx="630936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教学实测 15 轮完整原文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P52-P56 · 5 页 · 完整原文+截图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倾诉实测 15 轮完整原文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P57-P64 · 8 页 · 完整原文+截图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找答案 10 题完整答案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P28-P30 · 3 页 · 物/数/生/化/史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P31-P32 · 2 页 · sources + RRF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扩展测试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P33-P34 · 2 页 · 教学/倾诉/全景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产出物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P35-P36 · 2 页 · 视频 / PPT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全功能能力矩阵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961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YaHei"/>
                <a:ea typeface="微软雅黑"/>
              </a:rPr>
              <a:t>P37 · 1 页 · 14 项能力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E6A528"/>
                </a:solidFill>
                <a:ea typeface="微软雅黑"/>
              </a:rPr>
              <a:t>I-O 技术深度·H 矩阵·P-T 测试演进·A/B 详版 → 见后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058BC1-18D6-E983-F762-9F20223A1B89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2000" b="1"/>
              <a:t>APPENDIX C1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AF0EA4-24EE-9110-2233-5FA915198610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 b="1">
                <a:ea typeface="微软雅黑"/>
              </a:rPr>
              <a:t>[</a:t>
            </a:r>
            <a:r>
              <a:rPr lang="zh-CN" altLang="en-US" sz="900" b="1">
                <a:ea typeface="微软雅黑"/>
              </a:rPr>
              <a:t>论述题</a:t>
            </a:r>
            <a:r>
              <a:rPr lang="en-US" altLang="zh-CN" sz="900" b="1">
                <a:ea typeface="微软雅黑"/>
              </a:rPr>
              <a:t>/</a:t>
            </a:r>
            <a:r>
              <a:rPr lang="zh-CN" altLang="en-US" sz="900" b="1">
                <a:ea typeface="微软雅黑"/>
              </a:rPr>
              <a:t>物理</a:t>
            </a:r>
            <a:r>
              <a:rPr lang="en-US" altLang="zh-CN" sz="900" b="1">
                <a:ea typeface="微软雅黑"/>
              </a:rPr>
              <a:t>] </a:t>
            </a:r>
            <a:r>
              <a:rPr lang="zh-CN" altLang="en-US" sz="900" b="1">
                <a:ea typeface="微软雅黑"/>
              </a:rPr>
              <a:t>动量守恒定律的适用条件及其在碰撞问题中的应用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B98853-8059-36EA-8F03-C92910C30BE2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1361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35.3s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CE7AC5-CF22-AD6B-0081-D0E6DDB09E0C}"/>
              </a:ext>
            </a:extLst>
          </p:cNvPr>
          <p:cNvSpPr txBox="1"/>
          <p:nvPr/>
        </p:nvSpPr>
        <p:spPr>
          <a:xfrm>
            <a:off x="381000" y="1993900"/>
            <a:ext cx="11684000" cy="2169825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动量守恒定律的适用条件，以及它在碰撞问题中的使用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一、动量守恒定律在什么条件下成立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动量守恒定律是自然界中最普遍的守恒定律之一。它的内容是：系统不受外力，或者所受合外力为零时，系统的总动量保持不变。我们可以用数学式子把它写出来：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m_1\vec{v}_1 + m_2\vec{v}_2 = m_1\vec{v}_1' + m_2\vec{v}_2'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这个式子也可以写成：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\sum \vec{p}_{\text{初}} = \sum \vec{p}_{\text{末}}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动量守恒定律的适用条件，具体说来有下面三种情况。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第一种情况，系统不受外力，或者所受合外力为零。也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20F5FF-9446-7548-9D83-D8669DB7F56C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 b="1">
                <a:ea typeface="微软雅黑"/>
              </a:rPr>
              <a:t>[</a:t>
            </a:r>
            <a:r>
              <a:rPr lang="zh-CN" altLang="en-US" sz="900" b="1">
                <a:ea typeface="微软雅黑"/>
              </a:rPr>
              <a:t>计算题</a:t>
            </a:r>
            <a:r>
              <a:rPr lang="en-US" altLang="zh-CN" sz="900" b="1">
                <a:ea typeface="微软雅黑"/>
              </a:rPr>
              <a:t>/</a:t>
            </a:r>
            <a:r>
              <a:rPr lang="zh-CN" altLang="en-US" sz="900" b="1">
                <a:ea typeface="微软雅黑"/>
              </a:rPr>
              <a:t>物理</a:t>
            </a:r>
            <a:r>
              <a:rPr lang="en-US" altLang="zh-CN" sz="900" b="1">
                <a:ea typeface="微软雅黑"/>
              </a:rPr>
              <a:t>] </a:t>
            </a:r>
            <a:r>
              <a:rPr lang="zh-CN" altLang="en-US" sz="900" b="1">
                <a:ea typeface="微软雅黑"/>
              </a:rPr>
              <a:t>一个物体质量 </a:t>
            </a:r>
            <a:r>
              <a:rPr lang="en-US" altLang="zh-CN" sz="900" b="1">
                <a:ea typeface="微软雅黑"/>
              </a:rPr>
              <a:t>2kg</a:t>
            </a:r>
            <a:r>
              <a:rPr lang="zh-CN" altLang="en-US" sz="900" b="1">
                <a:ea typeface="微软雅黑"/>
              </a:rPr>
              <a:t>，受 </a:t>
            </a:r>
            <a:r>
              <a:rPr lang="en-US" altLang="zh-CN" sz="900" b="1">
                <a:ea typeface="微软雅黑"/>
              </a:rPr>
              <a:t>6N </a:t>
            </a:r>
            <a:r>
              <a:rPr lang="zh-CN" altLang="en-US" sz="900" b="1">
                <a:ea typeface="微软雅黑"/>
              </a:rPr>
              <a:t>水平力，求加速度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71C2C-E207-7796-F590-6E3C8F576A6E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405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6.5s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D9025-A383-55B3-F100-FDC535B6D344}"/>
              </a:ext>
            </a:extLst>
          </p:cNvPr>
          <p:cNvSpPr txBox="1"/>
          <p:nvPr/>
        </p:nvSpPr>
        <p:spPr>
          <a:xfrm>
            <a:off x="381000" y="3141268"/>
            <a:ext cx="11684000" cy="3277820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900">
                <a:ea typeface="微软雅黑"/>
              </a:rPr>
              <a:t>题目是一个物体质量 </a:t>
            </a:r>
            <a:r>
              <a:rPr lang="en-US" altLang="zh-CN" sz="900">
                <a:ea typeface="微软雅黑"/>
              </a:rPr>
              <a:t>\( m = 2\,\text{kg} \)</a:t>
            </a:r>
            <a:r>
              <a:rPr lang="zh-CN" altLang="en-US" sz="900">
                <a:ea typeface="微软雅黑"/>
              </a:rPr>
              <a:t>，受水平力 </a:t>
            </a:r>
            <a:r>
              <a:rPr lang="en-US" altLang="zh-CN" sz="900">
                <a:ea typeface="微软雅黑"/>
              </a:rPr>
              <a:t>\( F = 6\,\text{N} \)</a:t>
            </a:r>
            <a:r>
              <a:rPr lang="zh-CN" altLang="en-US" sz="900">
                <a:ea typeface="微软雅黑"/>
              </a:rPr>
              <a:t>，求加速度。
牛顿第二定律告诉我们，合外力等于质量乘以加速度：
</a:t>
            </a:r>
            <a:r>
              <a:rPr lang="en-US" altLang="zh-CN" sz="900">
                <a:ea typeface="微软雅黑"/>
              </a:rPr>
              <a:t>\[
F = ma
\]
</a:t>
            </a:r>
            <a:r>
              <a:rPr lang="zh-CN" altLang="en-US" sz="900">
                <a:ea typeface="微软雅黑"/>
              </a:rPr>
              <a:t>我们把已知的数值代入这个公式：
</a:t>
            </a:r>
            <a:r>
              <a:rPr lang="en-US" altLang="zh-CN" sz="900">
                <a:ea typeface="微软雅黑"/>
              </a:rPr>
              <a:t>\[
6 = 2 \times a
\]
</a:t>
            </a:r>
            <a:r>
              <a:rPr lang="zh-CN" altLang="en-US" sz="900">
                <a:ea typeface="微软雅黑"/>
              </a:rPr>
              <a:t>于是可以计算出：
</a:t>
            </a:r>
            <a:r>
              <a:rPr lang="en-US" altLang="zh-CN" sz="900">
                <a:ea typeface="微软雅黑"/>
              </a:rPr>
              <a:t>\[
a = \frac{6}{2} = 3\,\text{m/s}^2
\]
</a:t>
            </a:r>
            <a:r>
              <a:rPr lang="zh-CN" altLang="en-US" sz="900">
                <a:ea typeface="微软雅黑"/>
              </a:rPr>
              <a:t>所以，物体的加速度大小是 </a:t>
            </a:r>
            <a:r>
              <a:rPr lang="en-US" altLang="zh-CN" sz="900">
                <a:ea typeface="微软雅黑"/>
              </a:rPr>
              <a:t>\(\boxed{3\,\text{m/s}^2}\)</a:t>
            </a:r>
            <a:r>
              <a:rPr lang="zh-CN" altLang="en-US" sz="900">
                <a:ea typeface="微软雅黑"/>
              </a:rPr>
              <a:t>，方向与水平力的方向相同。
这里需要说明一点。题目只提到了水平力，没有提到摩擦力。如果地面是光滑的，那么合外力就是 </a:t>
            </a:r>
            <a:r>
              <a:rPr lang="en-US" altLang="zh-CN" sz="900">
                <a:ea typeface="微软雅黑"/>
              </a:rPr>
              <a:t>6 N</a:t>
            </a:r>
            <a:r>
              <a:rPr lang="zh-CN" altLang="en-US" sz="900">
                <a:ea typeface="微软雅黑"/>
              </a:rPr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2385264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71B474-2A35-ABD6-4AB3-50D8D362176F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2000" b="1"/>
              <a:t>APPENDIX C2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63ACF-BCF7-9887-3554-857F417B199F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证明题</a:t>
            </a:r>
            <a:r>
              <a:rPr lang="en-US" altLang="zh-CN" sz="1200" b="1"/>
              <a:t>/</a:t>
            </a:r>
            <a:r>
              <a:rPr lang="zh-CN" altLang="en-US" sz="1200" b="1"/>
              <a:t>数学</a:t>
            </a:r>
            <a:r>
              <a:rPr lang="en-US" altLang="zh-CN" sz="1200" b="1"/>
              <a:t>] </a:t>
            </a:r>
            <a:r>
              <a:rPr lang="zh-CN" altLang="en-US" sz="1200" b="1"/>
              <a:t>证明：直角三角形斜边上的中线等于斜边的一半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A66603-13DC-4245-38A6-65EE962BD5B4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1543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10.9s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B733AF-2EAF-9BF3-4145-FD61EFEA4DFF}"/>
              </a:ext>
            </a:extLst>
          </p:cNvPr>
          <p:cNvSpPr txBox="1"/>
          <p:nvPr/>
        </p:nvSpPr>
        <p:spPr>
          <a:xfrm>
            <a:off x="381000" y="1993900"/>
            <a:ext cx="11684000" cy="2169825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证明：直角三角形斜边上的中线等于斜边的一半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已知： 在 \text{Rt}\triangle ABC 中，\angle C = 90°，D 为斜边 AB 的中点，CD 为斜边 AB 上的中线。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求证： CD = \dfrac{1}{2}AB。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证法一（倍长中线法）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证明： 我们延长 CD 至点 E，使 DE = CD，然后连接 BE。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在 \triangle ACD 和 \triangle BED 中，我们有三组对应相等的关系：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AD = BD（因为 D 为 AB 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54C2F-451F-2725-3393-88AD283C333E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计算题</a:t>
            </a:r>
            <a:r>
              <a:rPr lang="en-US" altLang="zh-CN" sz="1200" b="1"/>
              <a:t>/</a:t>
            </a:r>
            <a:r>
              <a:rPr lang="zh-CN" altLang="en-US" sz="1200" b="1"/>
              <a:t>数学</a:t>
            </a:r>
            <a:r>
              <a:rPr lang="en-US" altLang="zh-CN" sz="1200" b="1"/>
              <a:t>] </a:t>
            </a:r>
            <a:r>
              <a:rPr lang="zh-CN" altLang="en-US" sz="1200" b="1"/>
              <a:t>求函数 </a:t>
            </a:r>
            <a:r>
              <a:rPr lang="en-US" altLang="zh-CN" sz="1200" b="1"/>
              <a:t>f(x)=x^3-3x </a:t>
            </a:r>
            <a:r>
              <a:rPr lang="zh-CN" altLang="en-US" sz="1200" b="1"/>
              <a:t>的极值点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0BF194-4AE2-B76E-07AF-6BD8A51F259E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841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3.5s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D26656-9D55-8EB5-B314-D0D528DE5379}"/>
              </a:ext>
            </a:extLst>
          </p:cNvPr>
          <p:cNvSpPr txBox="1"/>
          <p:nvPr/>
        </p:nvSpPr>
        <p:spPr>
          <a:xfrm>
            <a:off x="381000" y="1479274"/>
            <a:ext cx="11684000" cy="4939814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求函数 f(x) = x^3 - 3x 的极值点</a:t>
            </a:r>
            <a:endParaRPr lang="zh-CN" altLang="en-US" sz="900"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解：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第一步：求导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f'(x) = 3x^2 - 3 = 3(x^2 - 1) = 3(x - 1)(x + 1)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第二步：求驻点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令 f'(x) = 0，得：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3(x - 1)(x + 1) =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解得驻点为：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x_1 = -1,\qquad x_2 =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第三步：判断极值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求二阶导数：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f''(x) = 6x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由二阶导数判别法：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当 x = -1 时，$f''(-1) = 6 \times (-1) = -6</a:t>
            </a:r>
          </a:p>
        </p:txBody>
      </p:sp>
    </p:spTree>
    <p:extLst>
      <p:ext uri="{BB962C8B-B14F-4D97-AF65-F5344CB8AC3E}">
        <p14:creationId xmlns:p14="http://schemas.microsoft.com/office/powerpoint/2010/main" val="69522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54C60F-E484-6D81-3CCE-A9E50538FDDB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2000" b="1"/>
              <a:t>APPENDIX C3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D04733-6B74-6157-7875-42296D50E75A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生物</a:t>
            </a:r>
            <a:r>
              <a:rPr lang="en-US" altLang="zh-CN" sz="1200" b="1"/>
              <a:t>] </a:t>
            </a:r>
            <a:r>
              <a:rPr lang="zh-CN" altLang="en-US" sz="1200" b="1"/>
              <a:t>光合作用中光反应与暗反应的关系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036035-5B64-2EB2-9F0B-10CF784D7ED7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368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12.5s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817B36-F70D-9E63-43CA-EA19D3872636}"/>
              </a:ext>
            </a:extLst>
          </p:cNvPr>
          <p:cNvSpPr txBox="1"/>
          <p:nvPr/>
        </p:nvSpPr>
        <p:spPr>
          <a:xfrm>
            <a:off x="381000" y="1993900"/>
            <a:ext cx="11684000" cy="646331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900">
                <a:ea typeface="微软雅黑"/>
              </a:rPr>
              <a:t>光合作用包括两个紧密联系的阶段：光反应和暗反应。光反应发生在叶绿体的类囊体薄膜上，需要光、色素分子和酶；它利用水、</a:t>
            </a:r>
            <a:r>
              <a:rPr lang="en-US" altLang="zh-CN" sz="900">
                <a:ea typeface="微软雅黑"/>
              </a:rPr>
              <a:t>NADP⁺</a:t>
            </a:r>
            <a:r>
              <a:rPr lang="zh-CN" altLang="en-US" sz="900">
                <a:ea typeface="微软雅黑"/>
              </a:rPr>
              <a:t>和</a:t>
            </a:r>
            <a:r>
              <a:rPr lang="en-US" altLang="zh-CN" sz="900">
                <a:ea typeface="微软雅黑"/>
              </a:rPr>
              <a:t>ADP</a:t>
            </a:r>
            <a:r>
              <a:rPr lang="zh-CN" altLang="en-US" sz="900">
                <a:ea typeface="微软雅黑"/>
              </a:rPr>
              <a:t>，通过水的光解释放氧气，并将光能转化为</a:t>
            </a:r>
            <a:r>
              <a:rPr lang="en-US" altLang="zh-CN" sz="900">
                <a:ea typeface="微软雅黑"/>
              </a:rPr>
              <a:t>ATP</a:t>
            </a:r>
            <a:r>
              <a:rPr lang="zh-CN" altLang="en-US" sz="900">
                <a:ea typeface="微软雅黑"/>
              </a:rPr>
              <a:t>和</a:t>
            </a:r>
            <a:r>
              <a:rPr lang="en-US" altLang="zh-CN" sz="900">
                <a:ea typeface="微软雅黑"/>
              </a:rPr>
              <a:t>NADPH</a:t>
            </a:r>
            <a:r>
              <a:rPr lang="zh-CN" altLang="en-US" sz="900">
                <a:ea typeface="微软雅黑"/>
              </a:rPr>
              <a:t>中活跃的化学能。暗反应发生在叶绿体的基质中，不需要光，但需要光反应提供的</a:t>
            </a:r>
            <a:r>
              <a:rPr lang="en-US" altLang="zh-CN" sz="900">
                <a:ea typeface="微软雅黑"/>
              </a:rPr>
              <a:t>ATP</a:t>
            </a:r>
            <a:r>
              <a:rPr lang="zh-CN" altLang="en-US" sz="900">
                <a:ea typeface="微软雅黑"/>
              </a:rPr>
              <a:t>和</a:t>
            </a:r>
            <a:r>
              <a:rPr lang="en-US" altLang="zh-CN" sz="900">
                <a:ea typeface="微软雅黑"/>
              </a:rPr>
              <a:t>NADPH</a:t>
            </a:r>
            <a:r>
              <a:rPr lang="zh-CN" altLang="en-US" sz="900">
                <a:ea typeface="微软雅黑"/>
              </a:rPr>
              <a:t>，以及多种酶；它通过</a:t>
            </a:r>
            <a:r>
              <a:rPr lang="en-US" altLang="zh-CN" sz="900">
                <a:ea typeface="微软雅黑"/>
              </a:rPr>
              <a:t>CO₂</a:t>
            </a:r>
            <a:r>
              <a:rPr lang="zh-CN" altLang="en-US" sz="900">
                <a:ea typeface="微软雅黑"/>
              </a:rPr>
              <a:t>的固定和</a:t>
            </a:r>
            <a:r>
              <a:rPr lang="en-US" altLang="zh-CN" sz="900">
                <a:ea typeface="微软雅黑"/>
              </a:rPr>
              <a:t>C₃</a:t>
            </a:r>
            <a:r>
              <a:rPr lang="zh-CN" altLang="en-US" sz="900">
                <a:ea typeface="微软雅黑"/>
              </a:rPr>
              <a:t>的还原，将</a:t>
            </a:r>
            <a:r>
              <a:rPr lang="en-US" altLang="zh-CN" sz="900">
                <a:ea typeface="微软雅黑"/>
              </a:rPr>
              <a:t>CO₂</a:t>
            </a:r>
            <a:r>
              <a:rPr lang="zh-CN" altLang="en-US" sz="900">
                <a:ea typeface="微软雅黑"/>
              </a:rPr>
              <a:t>转化为有机物（主要是糖类），并把</a:t>
            </a:r>
            <a:r>
              <a:rPr lang="en-US" altLang="zh-CN" sz="900">
                <a:ea typeface="微软雅黑"/>
              </a:rPr>
              <a:t>ATP</a:t>
            </a:r>
            <a:r>
              <a:rPr lang="zh-CN" altLang="en-US" sz="900">
                <a:ea typeface="微软雅黑"/>
              </a:rPr>
              <a:t>和</a:t>
            </a:r>
            <a:r>
              <a:rPr lang="en-US" altLang="zh-CN" sz="900">
                <a:ea typeface="微软雅黑"/>
              </a:rPr>
              <a:t>NADPH</a:t>
            </a:r>
            <a:r>
              <a:rPr lang="zh-CN" altLang="en-US" sz="900">
                <a:ea typeface="微软雅黑"/>
              </a:rPr>
              <a:t>中的化学能转化为有机物中稳定的化学能。
光反应与暗反应相互区别，又紧密联系、相互依存。在物质上，光反应为暗反应提供</a:t>
            </a:r>
            <a:r>
              <a:rPr lang="en-US" altLang="zh-CN" sz="900">
                <a:ea typeface="微软雅黑"/>
              </a:rPr>
              <a:t>ATP</a:t>
            </a:r>
            <a:r>
              <a:rPr lang="zh-CN" altLang="en-US" sz="900">
                <a:ea typeface="微软雅黑"/>
              </a:rPr>
              <a:t>和</a:t>
            </a:r>
            <a:r>
              <a:rPr lang="en-US" altLang="zh-CN" sz="900">
                <a:ea typeface="微软雅黑"/>
              </a:rPr>
              <a:t>NADPH</a:t>
            </a:r>
            <a:r>
              <a:rPr lang="zh-CN" altLang="en-US" sz="900">
                <a:ea typeface="微软雅黑"/>
              </a:rPr>
              <a:t>，它们是暗反应中</a:t>
            </a:r>
            <a:r>
              <a:rPr lang="en-US" altLang="zh-CN" sz="900">
                <a:ea typeface="微软雅黑"/>
              </a:rPr>
              <a:t>C₃</a:t>
            </a:r>
            <a:r>
              <a:rPr lang="zh-CN" altLang="en-US" sz="900">
                <a:ea typeface="微软雅黑"/>
              </a:rPr>
              <a:t>还原所必需的物质和能量来源；暗反应中</a:t>
            </a:r>
            <a:r>
              <a:rPr lang="en-US" altLang="zh-CN" sz="900">
                <a:ea typeface="微软雅黑"/>
              </a:rPr>
              <a:t>C₃</a:t>
            </a:r>
            <a:r>
              <a:rPr lang="zh-CN" altLang="en-US" sz="900">
                <a:ea typeface="微软雅黑"/>
              </a:rPr>
              <a:t>被还原后，重新生成</a:t>
            </a:r>
            <a:r>
              <a:rPr lang="en-US" altLang="zh-CN" sz="900">
                <a:ea typeface="微软雅黑"/>
              </a:rPr>
              <a:t>ADP</a:t>
            </a:r>
            <a:endParaRPr lang="zh-CN" altLang="en-US" sz="9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D6F762-285E-3C76-3E38-633CB4185E33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 b="1">
                <a:ea typeface="微软雅黑"/>
              </a:rPr>
              <a:t>[</a:t>
            </a:r>
            <a:r>
              <a:rPr lang="zh-CN" altLang="en-US" sz="900" b="1">
                <a:ea typeface="微软雅黑"/>
              </a:rPr>
              <a:t>计算题</a:t>
            </a:r>
            <a:r>
              <a:rPr lang="en-US" altLang="zh-CN" sz="900" b="1">
                <a:ea typeface="微软雅黑"/>
              </a:rPr>
              <a:t>/</a:t>
            </a:r>
            <a:r>
              <a:rPr lang="zh-CN" altLang="en-US" sz="900" b="1">
                <a:ea typeface="微软雅黑"/>
              </a:rPr>
              <a:t>化学</a:t>
            </a:r>
            <a:r>
              <a:rPr lang="en-US" altLang="zh-CN" sz="900" b="1">
                <a:ea typeface="微软雅黑"/>
              </a:rPr>
              <a:t>] 500mL 0.5mol/L NaCl </a:t>
            </a:r>
            <a:r>
              <a:rPr lang="zh-CN" altLang="en-US" sz="900" b="1">
                <a:ea typeface="微软雅黑"/>
              </a:rPr>
              <a:t>溶液中 </a:t>
            </a:r>
            <a:r>
              <a:rPr lang="en-US" altLang="zh-CN" sz="900" b="1">
                <a:ea typeface="微软雅黑"/>
              </a:rPr>
              <a:t>NaCl </a:t>
            </a:r>
            <a:r>
              <a:rPr lang="zh-CN" altLang="en-US" sz="900" b="1">
                <a:ea typeface="微软雅黑"/>
              </a:rPr>
              <a:t>的质量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4731C3-762B-2582-2152-40604DD88488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431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5.1s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BC5865-4505-C042-2BAF-FDC2D916A1CF}"/>
              </a:ext>
            </a:extLst>
          </p:cNvPr>
          <p:cNvSpPr txBox="1"/>
          <p:nvPr/>
        </p:nvSpPr>
        <p:spPr>
          <a:xfrm>
            <a:off x="381000" y="3418267"/>
            <a:ext cx="11684000" cy="3000821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>
                <a:ea typeface="微软雅黑"/>
              </a:rPr>
              <a:t>500 mL 0.5 mol/L NaCl </a:t>
            </a:r>
            <a:r>
              <a:rPr lang="zh-CN" altLang="en-US" sz="900">
                <a:ea typeface="微软雅黑"/>
              </a:rPr>
              <a:t>溶液中 </a:t>
            </a:r>
            <a:r>
              <a:rPr lang="en-US" altLang="zh-CN" sz="900">
                <a:ea typeface="微软雅黑"/>
              </a:rPr>
              <a:t>NaCl </a:t>
            </a:r>
            <a:r>
              <a:rPr lang="zh-CN" altLang="en-US" sz="900">
                <a:ea typeface="微软雅黑"/>
              </a:rPr>
              <a:t>的质量
解：
已知溶液体积 </a:t>
            </a:r>
            <a:r>
              <a:rPr lang="en-US" altLang="zh-CN" sz="900">
                <a:ea typeface="微软雅黑"/>
              </a:rPr>
              <a:t>V = 500 mL = 0.5 L</a:t>
            </a:r>
            <a:r>
              <a:rPr lang="zh-CN" altLang="en-US" sz="900">
                <a:ea typeface="微软雅黑"/>
              </a:rPr>
              <a:t>，物质的量浓度 </a:t>
            </a:r>
            <a:r>
              <a:rPr lang="en-US" altLang="zh-CN" sz="900">
                <a:ea typeface="微软雅黑"/>
              </a:rPr>
              <a:t>c = 0.5 mol/L</a:t>
            </a:r>
            <a:r>
              <a:rPr lang="zh-CN" altLang="en-US" sz="900">
                <a:ea typeface="微软雅黑"/>
              </a:rPr>
              <a:t>。
第一步：求 </a:t>
            </a:r>
            <a:r>
              <a:rPr lang="en-US" altLang="zh-CN" sz="900">
                <a:ea typeface="微软雅黑"/>
              </a:rPr>
              <a:t>NaCl </a:t>
            </a:r>
            <a:r>
              <a:rPr lang="zh-CN" altLang="en-US" sz="900">
                <a:ea typeface="微软雅黑"/>
              </a:rPr>
              <a:t>的物质的量。
我们由物质的量浓度公式 </a:t>
            </a:r>
            <a:r>
              <a:rPr lang="en-US" altLang="zh-CN" sz="900">
                <a:ea typeface="微软雅黑"/>
              </a:rPr>
              <a:t>c = n/V </a:t>
            </a:r>
            <a:r>
              <a:rPr lang="zh-CN" altLang="en-US" sz="900">
                <a:ea typeface="微软雅黑"/>
              </a:rPr>
              <a:t>出发，得到：
</a:t>
            </a:r>
            <a:r>
              <a:rPr lang="en-US" altLang="zh-CN" sz="900">
                <a:ea typeface="微软雅黑"/>
              </a:rPr>
              <a:t>n = c × V = 0.5 mol/L × 0.5 L = 0.25 mol</a:t>
            </a:r>
            <a:r>
              <a:rPr lang="zh-CN" altLang="en-US" sz="900">
                <a:ea typeface="微软雅黑"/>
              </a:rPr>
              <a:t>。
第二步：求 </a:t>
            </a:r>
            <a:r>
              <a:rPr lang="en-US" altLang="zh-CN" sz="900">
                <a:ea typeface="微软雅黑"/>
              </a:rPr>
              <a:t>NaCl </a:t>
            </a:r>
            <a:r>
              <a:rPr lang="zh-CN" altLang="en-US" sz="900">
                <a:ea typeface="微软雅黑"/>
              </a:rPr>
              <a:t>的质量。
</a:t>
            </a:r>
            <a:r>
              <a:rPr lang="en-US" altLang="zh-CN" sz="900">
                <a:ea typeface="微软雅黑"/>
              </a:rPr>
              <a:t>NaCl </a:t>
            </a:r>
            <a:r>
              <a:rPr lang="zh-CN" altLang="en-US" sz="900">
                <a:ea typeface="微软雅黑"/>
              </a:rPr>
              <a:t>的摩尔质量 </a:t>
            </a:r>
            <a:r>
              <a:rPr lang="en-US" altLang="zh-CN" sz="900">
                <a:ea typeface="微软雅黑"/>
              </a:rPr>
              <a:t>M = 23 + 35.5 = 58.5 g/mol</a:t>
            </a:r>
            <a:r>
              <a:rPr lang="zh-CN" altLang="en-US" sz="900">
                <a:ea typeface="微软雅黑"/>
              </a:rPr>
              <a:t>。
我们由公式 </a:t>
            </a:r>
            <a:r>
              <a:rPr lang="en-US" altLang="zh-CN" sz="900">
                <a:ea typeface="微软雅黑"/>
              </a:rPr>
              <a:t>m = n × M </a:t>
            </a:r>
            <a:r>
              <a:rPr lang="zh-CN" altLang="en-US" sz="900">
                <a:ea typeface="微软雅黑"/>
              </a:rPr>
              <a:t>得到：
</a:t>
            </a:r>
            <a:r>
              <a:rPr lang="en-US" altLang="zh-CN" sz="900">
                <a:ea typeface="微软雅黑"/>
              </a:rPr>
              <a:t>m = 0.25 mol × 58.5 g/mol = 14.625 g</a:t>
            </a:r>
            <a:r>
              <a:rPr lang="zh-CN" altLang="en-US" sz="900">
                <a:ea typeface="微软雅黑"/>
              </a:rPr>
              <a:t>。
答：</a:t>
            </a:r>
            <a:r>
              <a:rPr lang="en-US" altLang="zh-CN" sz="900">
                <a:ea typeface="微软雅黑"/>
              </a:rPr>
              <a:t>50</a:t>
            </a:r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02022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F9EEC6-2A75-6F33-4BE0-C0AFB85AB612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2000" b="1"/>
              <a:t>APPENDIX C4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601E1F-7C99-E3FE-1ACB-45C5F56C522B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历史</a:t>
            </a:r>
            <a:r>
              <a:rPr lang="en-US" altLang="zh-CN" sz="1200" b="1"/>
              <a:t>] </a:t>
            </a:r>
            <a:r>
              <a:rPr lang="zh-CN" altLang="en-US" sz="1200" b="1"/>
              <a:t>唐朝科举制度的历史意义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B610C5-974F-A4AA-1CDC-E2EC46FFD447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997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11.6s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611354-5964-F89B-C608-EE20445F9609}"/>
              </a:ext>
            </a:extLst>
          </p:cNvPr>
          <p:cNvSpPr txBox="1"/>
          <p:nvPr/>
        </p:nvSpPr>
        <p:spPr>
          <a:xfrm>
            <a:off x="381000" y="1993900"/>
            <a:ext cx="11684000" cy="1754326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900">
                <a:ea typeface="微软雅黑"/>
              </a:rPr>
              <a:t>唐朝科举制度的历史意义
一、科举制度的确立与发展
科举制度始于隋朝，是一种分科考试选拔官吏的制度。隋炀帝始设进士科，科举制由此正式创立。唐代继承并完善了这一制度，使它成为选拔官员的主要途径，制度上也趋于完备。唐代科举主要分为常科和制科两类。常科每年定期举行，有明经、进士等科目；制科由皇帝临时下诏举行。其中进士科最为重要，被人视为</a:t>
            </a:r>
            <a:r>
              <a:rPr lang="en-US" altLang="zh-CN" sz="900">
                <a:ea typeface="微软雅黑"/>
              </a:rPr>
              <a:t>"</a:t>
            </a:r>
            <a:r>
              <a:rPr lang="zh-CN" altLang="en-US" sz="900">
                <a:ea typeface="微软雅黑"/>
              </a:rPr>
              <a:t>士林华选</a:t>
            </a:r>
            <a:r>
              <a:rPr lang="en-US" altLang="zh-CN" sz="900">
                <a:ea typeface="微软雅黑"/>
              </a:rPr>
              <a:t>"</a:t>
            </a:r>
            <a:r>
              <a:rPr lang="zh-CN" altLang="en-US" sz="900">
                <a:ea typeface="微软雅黑"/>
              </a:rPr>
              <a:t>。
二、唐朝科举制度的历史意义
</a:t>
            </a:r>
            <a:r>
              <a:rPr lang="en-US" altLang="zh-CN" sz="900">
                <a:ea typeface="微软雅黑"/>
              </a:rPr>
              <a:t>1. </a:t>
            </a:r>
            <a:r>
              <a:rPr lang="zh-CN" altLang="en-US" sz="900">
                <a:ea typeface="微软雅黑"/>
              </a:rPr>
              <a:t>打破门阀士族垄断，扩大统治基础
科举制度以考试成绩作为选官的标准，打破了魏晋以来</a:t>
            </a:r>
            <a:r>
              <a:rPr lang="en-US" altLang="zh-CN" sz="900">
                <a:ea typeface="微软雅黑"/>
              </a:rPr>
              <a:t>"</a:t>
            </a:r>
            <a:r>
              <a:rPr lang="zh-CN" altLang="en-US" sz="900">
                <a:ea typeface="微软雅黑"/>
              </a:rPr>
              <a:t>九品中正制</a:t>
            </a:r>
            <a:r>
              <a:rPr lang="en-US" altLang="zh-CN" sz="900">
                <a:ea typeface="微软雅黑"/>
              </a:rPr>
              <a:t>"</a:t>
            </a:r>
            <a:r>
              <a:rPr lang="zh-CN" altLang="en-US" sz="900">
                <a:ea typeface="微软雅黑"/>
              </a:rPr>
              <a:t>下门阀士族垄断仕途的局面。出身寒微的庶族地主和普通读书人，因此有机会通过考试进入仕途。这样，封建统治的社会基础得到了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0818A8-7039-A15D-5CEF-9C573A25EAD2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 b="1">
                <a:ea typeface="微软雅黑"/>
              </a:rPr>
              <a:t>[</a:t>
            </a:r>
            <a:r>
              <a:rPr lang="zh-CN" altLang="en-US" sz="900" b="1">
                <a:ea typeface="微软雅黑"/>
              </a:rPr>
              <a:t>计算题</a:t>
            </a:r>
            <a:r>
              <a:rPr lang="en-US" altLang="zh-CN" sz="900" b="1">
                <a:ea typeface="微软雅黑"/>
              </a:rPr>
              <a:t>/</a:t>
            </a:r>
            <a:r>
              <a:rPr lang="zh-CN" altLang="en-US" sz="900" b="1">
                <a:ea typeface="微软雅黑"/>
              </a:rPr>
              <a:t>物理</a:t>
            </a:r>
            <a:r>
              <a:rPr lang="en-US" altLang="zh-CN" sz="900" b="1">
                <a:ea typeface="微软雅黑"/>
              </a:rPr>
              <a:t>] </a:t>
            </a:r>
            <a:r>
              <a:rPr lang="zh-CN" altLang="en-US" sz="900" b="1">
                <a:ea typeface="微软雅黑"/>
              </a:rPr>
              <a:t>汽车 </a:t>
            </a:r>
            <a:r>
              <a:rPr lang="en-US" altLang="zh-CN" sz="900" b="1">
                <a:ea typeface="微软雅黑"/>
              </a:rPr>
              <a:t>20m/s </a:t>
            </a:r>
            <a:r>
              <a:rPr lang="zh-CN" altLang="en-US" sz="900" b="1">
                <a:ea typeface="微软雅黑"/>
              </a:rPr>
              <a:t>刹车，加速度 </a:t>
            </a:r>
            <a:r>
              <a:rPr lang="en-US" altLang="zh-CN" sz="900" b="1">
                <a:ea typeface="微软雅黑"/>
              </a:rPr>
              <a:t>4m/s²</a:t>
            </a:r>
            <a:r>
              <a:rPr lang="zh-CN" altLang="en-US" sz="900" b="1">
                <a:ea typeface="微软雅黑"/>
              </a:rPr>
              <a:t>，求刹车距离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93656F-A1E8-0189-0DD7-49AD719FF87A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686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2.8s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E678FA-3144-B181-040D-48D4ABEF8794}"/>
              </a:ext>
            </a:extLst>
          </p:cNvPr>
          <p:cNvSpPr txBox="1"/>
          <p:nvPr/>
        </p:nvSpPr>
        <p:spPr>
          <a:xfrm>
            <a:off x="381000" y="2448770"/>
            <a:ext cx="11684000" cy="3970318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汽车刹车距离计算</a:t>
            </a:r>
            <a:endParaRPr lang="zh-CN" altLang="en-US" sz="900"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已知： 初速度 v_0 = 20\,\text{m/s}，末速度 v = 0（刹车到停止），加速度 a = -4\,\text{m/s}^2（刹车时加速度方向与运动方向相反，取负值）。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求： 刹车距离 s。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解法一（用速度—位移公式）：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匀变速直线运动的速度—位移公式为：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v^2 - v_0^2 = 2as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代入数据：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0^2 - 20^2 = 2 \times (-4) \times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-400 = -8s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$$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s = \frac{400}{8} = 50\,\</a:t>
            </a:r>
          </a:p>
        </p:txBody>
      </p:sp>
    </p:spTree>
    <p:extLst>
      <p:ext uri="{BB962C8B-B14F-4D97-AF65-F5344CB8AC3E}">
        <p14:creationId xmlns:p14="http://schemas.microsoft.com/office/powerpoint/2010/main" val="2206819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4C544C-504E-841C-391C-5BE2524E97A3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2000" b="1"/>
              <a:t>APPENDIX C5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82A4D2-6FF3-697D-AB09-D10659EE1C8C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900" b="1">
                <a:ea typeface="微软雅黑"/>
              </a:rPr>
              <a:t>[</a:t>
            </a:r>
            <a:r>
              <a:rPr lang="zh-CN" altLang="en-US" sz="900" b="1">
                <a:ea typeface="微软雅黑"/>
              </a:rPr>
              <a:t>证明题</a:t>
            </a:r>
            <a:r>
              <a:rPr lang="en-US" altLang="zh-CN" sz="900" b="1">
                <a:ea typeface="微软雅黑"/>
              </a:rPr>
              <a:t>/</a:t>
            </a:r>
            <a:r>
              <a:rPr lang="zh-CN" altLang="en-US" sz="900" b="1">
                <a:ea typeface="微软雅黑"/>
              </a:rPr>
              <a:t>数学</a:t>
            </a:r>
            <a:r>
              <a:rPr lang="en-US" altLang="zh-CN" sz="900" b="1">
                <a:ea typeface="微软雅黑"/>
              </a:rPr>
              <a:t>] </a:t>
            </a:r>
            <a:r>
              <a:rPr lang="zh-CN" altLang="en-US" sz="900" b="1">
                <a:ea typeface="微软雅黑"/>
              </a:rPr>
              <a:t>证明等差数列前 </a:t>
            </a:r>
            <a:r>
              <a:rPr lang="en-US" altLang="zh-CN" sz="900" b="1">
                <a:ea typeface="微软雅黑"/>
              </a:rPr>
              <a:t>n </a:t>
            </a:r>
            <a:r>
              <a:rPr lang="zh-CN" altLang="en-US" sz="900" b="1">
                <a:ea typeface="微软雅黑"/>
              </a:rPr>
              <a:t>项和公式 </a:t>
            </a:r>
            <a:r>
              <a:rPr lang="en-US" altLang="zh-CN" sz="900" b="1">
                <a:ea typeface="微软雅黑"/>
              </a:rPr>
              <a:t>Sn=n(a1+an)/2</a:t>
            </a:r>
            <a:endParaRPr lang="zh-CN" altLang="en-US" sz="12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46678B-897D-1E94-EF6A-A5466CF6AE1E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1290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5.1s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669A3-A50D-C036-A4B3-C9840DADDBE5}"/>
              </a:ext>
            </a:extLst>
          </p:cNvPr>
          <p:cNvSpPr txBox="1"/>
          <p:nvPr/>
        </p:nvSpPr>
        <p:spPr>
          <a:xfrm>
            <a:off x="381000" y="1993900"/>
            <a:ext cx="11684000" cy="3139321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证明等差数列前 n 项和公式 S_n = \dfrac{n(a_1 + a_n)}{2}</a:t>
            </a:r>
            <a:endParaRPr lang="zh-CN" altLang="en-US" sz="900"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证明：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设等差数列 \{a_n\} 的首项为 a_1，公差为 d，则其前 n 项和为：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S_n = a_1 + a_2 + a_3 + \cdots + a_n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方法一（倒序相加法）：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将前 n 项和按正序写出：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S_n = a_1 + a_2 + a_3 + \cdots + a_{n-1} + a_n \tag{1}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再将前 n 项和按倒序写出：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$$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S_n = a_n + a_{n-1} + a_{n-2}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11FC35-BB7A-B8AD-C33A-4829F01B4B0C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历史</a:t>
            </a:r>
            <a:r>
              <a:rPr lang="en-US" altLang="zh-CN" sz="1200" b="1"/>
              <a:t>] </a:t>
            </a:r>
            <a:r>
              <a:rPr lang="zh-CN" altLang="en-US" sz="1200" b="1"/>
              <a:t>文艺复兴对欧洲近代化的影响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FB4DC0-BB72-FA39-CBAA-501463405B9B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1181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16.6s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535D4F-665E-DD78-059F-9AC9B5DF0716}"/>
              </a:ext>
            </a:extLst>
          </p:cNvPr>
          <p:cNvSpPr txBox="1"/>
          <p:nvPr/>
        </p:nvSpPr>
        <p:spPr>
          <a:xfrm>
            <a:off x="381000" y="5080260"/>
            <a:ext cx="11684000" cy="1338828"/>
          </a:xfrm>
          <a:prstGeom prst="rect">
            <a:avLst/>
          </a:prstGeom>
          <a:noFill/>
        </p:spPr>
        <p:txBody>
          <a:bodyPr vert="horz" rtlCol="0"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文艺复兴是14至17世纪兴起于意大利、随后扩展到欧洲各国的一场资产阶级思想文化运动。它以复兴古希腊罗马文化为旗号，实质是宣扬以人为中心的人文主义思想，反对教会的神权统治和封建思想的束缚。它是欧洲历史上一次伟大的思想解放运动，对欧洲近代化产生了深刻的影响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二、文艺复兴对欧洲近代化的影响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1. 思想解放方面：为近代化奠定思想基础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文艺复兴倡导人文主义，主张以人为中心，肯定人的价值与尊严，反对神权至上和禁欲主义。它把人们从封建神学的束缚中解放出来，动摇了天主教会的权威，为后来的启蒙思想等近代资产阶级思想体系奠定了基础。人文主义强调理性、自由与个性发展，这一思想成为欧洲近代思想解</a:t>
            </a:r>
          </a:p>
        </p:txBody>
      </p:sp>
    </p:spTree>
    <p:extLst>
      <p:ext uri="{BB962C8B-B14F-4D97-AF65-F5344CB8AC3E}">
        <p14:creationId xmlns:p14="http://schemas.microsoft.com/office/powerpoint/2010/main" val="2548110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RRF 融合 · 知识库 + 网络 sources 全展示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728716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728716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291840"/>
            <a:ext cx="4357116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哲学入门书籍推荐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91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94560"/>
            <a:ext cx="27432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5180076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《苏菲的世界》（乔斯坦·贾德）：以小说形式梳理西方哲学史，适合零基础读者入门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27432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180076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《你的第一本哲学书》（Thomas Nagel）：9 个日常问题切入，9 篇短文即可建立基本哲学直觉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1051560"/>
            <a:ext cx="5728716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5916" y="1051560"/>
            <a:ext cx="5728716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3291840"/>
            <a:ext cx="4357116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物理竞赛学习方法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91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155448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[1] 知识库: 35 学科 竞赛导论 — 力学/电磁学/光学/热学四大模块系统复习路径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0175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[2] 知识库: 高中物理 培优体系 — 经典力学→分析力学 衔接路线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0175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[3] 知识库: 普物习题集 范式讲解 — 程守洙、江之永教材配套题解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0175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[4] 网络: 中国物理学会 CPhO 官网 — 历届复赛/决赛真题与官方答案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0175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[5] 网络: 物理竞赛吧 经验贴 — 高分学长复盘时间分配与考场上常见陷阱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0175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[6] 网络: 《物理学难题集萃》舒幼生 — 冲刺阶段拉高难度专用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英语单词记忆技巧 · 配实际功能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42631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7342631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5971031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英语单词记忆技巧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91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[1] 知识库: 英语词根词缀大辞典 — 词根 800 个 + 前后缀 200 个，覆盖 70% 学术词汇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4696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[2] 知识库: 艾宾浩斯遗忘曲线复习表 — 按 1/2/4/7/15 天间隔排定复习节奏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3944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[3] 知识库: 高中英语 3500 词分级表 — 按出现频次分为 A/B/C 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[4] 网络: Anki 官方使用手册 — 卡片模板 + FSRS 算法自定义复习间隔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1752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[5] 网络: 知乎「如何高效背单词」专栏 — 联想记忆法/语境记忆法实操对比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175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1688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微软雅黑"/>
              </a:rPr>
              <a:t>[6] 网络: Merriam-Webster Word of the Day — 每日推送 + 例句音频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2" y="1051560"/>
            <a:ext cx="36576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_v3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2733721"/>
            <a:ext cx="3566160" cy="17105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7680" y="3291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实际功能 UI · 2460×1180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E1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扩展测试 · 教学 + 倾诉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4 个新场景全部通过 17 维闭环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生态系统能量流动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918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教学 · 生物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6032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从单向递减到 10%-20% 传递效率，给出定量推演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32918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电磁感应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918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教学 · 物理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6032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法拉第定律 + 楞次定律 配合例题分步讲解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33756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32918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与朋友吵架后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918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倾诉 · 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56032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先接住情绪，再帮学生辨析「想赢」与「想和好」的区别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32918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49039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自我怀疑与迷茫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2918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倾诉 · 自我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56032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把"我没价值"拆为可观察的具体事件，落地为小目标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603504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32918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扩展测试 · 数据全景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30 场对话 · 0 翻车 · 4 维闭环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432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8800" b="1">
                <a:solidFill>
                  <a:srgbClr val="0F2A52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场 · 100% 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评估维度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8800" b="1">
                <a:solidFill>
                  <a:srgbClr val="E6A528"/>
                </a:solidFill>
                <a:latin typeface="Arial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维 · 结构化指标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翻车次数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432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8800" b="1">
                <a:solidFill>
                  <a:srgbClr val="2E7D32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次 · 零失败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教学闭环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040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诊断→计划→呈现→评估→调整→反思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33088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133088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3200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9 subagent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2245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Diagnostor/Planner/Presenter/Evaluator/Adapter/AnswerSolver/Affection/SelfUpdate/Individuality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82896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882896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3200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意图路由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20040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Steering/复合输入/危机先行/自我指涉 — 4 类自动判断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32704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5632704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3200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个体化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20040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17 维正交画像 + 5 层注入（语言/风格/深度/节奏/情绪）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36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产出物 · 教学视频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光合作用 128s · 4 关键帧展示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8727"/>
            <a:ext cx="3200400" cy="1800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1 · 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0:00-0:30 · 叶子为什么绿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v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48727"/>
            <a:ext cx="3200400" cy="1800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2 · 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0:30-1:30 · 类囊体膜结构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v_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48727"/>
            <a:ext cx="3200400" cy="1800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3 · 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918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1:30-2:30 · 光反应+暗反应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0" y="1051560"/>
            <a:ext cx="2377440" cy="25603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3200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视频脚本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1. 0:00  提问引入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>
                <a:latin typeface="微软雅黑"/>
                <a:ea typeface="微软雅黑"/>
              </a:rPr>
              <a:t>「叶子为什么是绿」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2. 0:30  微观结构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>
                <a:latin typeface="微软雅黑"/>
                <a:ea typeface="微软雅黑"/>
              </a:rPr>
              <a:t>类囊体膜 · 色素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3. 1:30  光→化学能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>
                <a:latin typeface="微软雅黑"/>
                <a:ea typeface="微软雅黑"/>
              </a:rPr>
              <a:t>ATP · NADPH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4. 2:30  暗反应循环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29184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>
                <a:latin typeface="微软雅黑"/>
                <a:ea typeface="微软雅黑"/>
              </a:rPr>
              <a:t>CO₂ → 葡萄糖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11612880" cy="54864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959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E6A528"/>
                </a:solidFill>
                <a:latin typeface="Microsoft YaHei"/>
                <a:ea typeface="微软雅黑"/>
              </a:rPr>
              <a:t>视频结构：4 段 · 0:00-3:30 · 观察→假设→验证→总结 · 128s 可在 PPT 中直接播放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12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</a:rPr>
              <a:t>帧 4 · 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1338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「光反应在类囊体膜上分解水放出氧气；暗反应在基质中固定二氧化碳生成糖。两者像接力赛 —— 光反应递能量，暗反应接住并制造食物。如果光照停止，暗反应只能短暂进行 —— 没有光，光合作用就会停摆。」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291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Microsoft YaHei"/>
              </a:rPr>
              <a:t>2:30 - 3:30 · 一句话总结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37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F2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产出物 · PPT MCP 一键生成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从对话到 .pptx 文件 · 产出闭环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对话内容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用户完成 30 场教学/倾诉
LLM 提炼大纲 + 关键论点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08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大纲生成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74320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自动套入 8 模块 / 6 模式
分配 17 维知识点 / 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108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排版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74320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python-pptx 自动生成
每页按"概念/过程/留白"排布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108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导出 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74320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MCP Server 写入文件
用户下载/在线编辑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11612880" cy="2651760"/>
          </a:xfrm>
          <a:prstGeom prst="rect">
            <a:avLst/>
          </a:prstGeom>
          <a:solidFill>
            <a:srgbClr val="F5F2EC"/>
          </a:solidFill>
          <a:ln w="12700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为什么这是真闭环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4389120"/>
            <a:ext cx="182880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输入源 = 真实对话 (30 场实测原文)，不是模板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输出 = 8 模块 × 6 模式 自动匹配，不是占位符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人参与 = 0 (用户不必再写大纲)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可重入 = 同主题改一段 → 整套重排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✓ 结果可下载 = .pptx 文件 (本演示就是这套机制的产出)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38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1089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PAEG 全功能能力矩阵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14 项能力 · 1 页速览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52144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01 · 教学闭环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诊断/计划/呈现/评估/调整/反思/自更新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6 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1">
                <a:solidFill>
                  <a:srgbClr val="0F2A52"/>
                </a:solidFill>
                <a:latin typeface="Microsoft YaHei"/>
              </a:rPr>
              <a:t>02 · 9 subagent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D/P/Pre/E/Ad/Ans/Aff/SU/Indiv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统一调度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31136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03 · 意图路由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Steering/复合输入/危机先行/自我指涉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4 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15184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04 · 个体化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17 维正交画像 + 5 层注入 + LLM 增量建模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17 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9232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05 · 立德树人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危机先行钩子 + 疏导+认知真实 + 先成人后成才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Affection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83279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06 · 自我进化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4 路自进化（知识/提示词/工具/新学科）+ Constitutional 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4 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67328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07 · MCP 双向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822191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Server 暴露 7 工具 + Client 调用 3 服务 (filesystem/memory/pptx)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双向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51376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08 · 语言规范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062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L1 提示词 + L2 规则检测 + L3 LLM 修正（词法/句法/介词/悬空宾语）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3 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535424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09 · 检索增强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BM25 关键词 + jieba 切词 + 知识库 + 网络检索 + 知识徽章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混合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19472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10 · PPT 一键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从对话到 .pptx (本演示 = 闭环实例)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MCP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03520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11 · 视频生成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教学视频 128s + 4 关键帧 + 嵌入式播放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TTS+MP4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687568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12 · 语音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1A1A1A"/>
                </a:solidFill>
                <a:latin typeface="Microsoft YaHei"/>
                <a:ea typeface="微软雅黑"/>
              </a:rPr>
              <a:t>edge-tts TTS + 浏览器 Web Speech STT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双向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071616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13 · 知识导图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画/列提纲/思维导图/知识结构 4 触发词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结构化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455664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0" y="3291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50" b="1">
                <a:solidFill>
                  <a:srgbClr val="0F2A52"/>
                </a:solidFill>
                <a:latin typeface="Microsoft YaHei"/>
              </a:rPr>
              <a:t>14 · 文件 4 能力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3291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找答案/讲解/输出原文/重组结构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no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BM25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11680" y="329184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4960" y="3291840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>
                <a:solidFill>
                  <a:srgbClr val="E6A528"/>
                </a:solidFill>
                <a:latin typeface="Microsoft YaHei"/>
              </a:rPr>
              <a:t>39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I · 8 层约束：从 L0 安全基线到 L7 创造性生成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动态提示词约束 · v0.50 全映射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98448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语言底线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25880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语言规范/格式/反AI腔/安全伦理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2588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永不跳过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65376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危机安全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92808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危机检测、安全护栏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892808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14016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59736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32304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直接答案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59736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取消"直接给答案"（用户要答案时）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459736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026664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999232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情绪温度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26664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情绪/共情/约纳斯克制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026664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56616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566160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深度默认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593592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教学深度/学科教学法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593592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14800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114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133088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过程讲解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160520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分步讲解/教学步骤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16052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81728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75488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700016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扩展深度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727448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母语迁移/概念对子（要深入时）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727448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48656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294376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266944"/>
            <a:ext cx="20116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迁移创造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294376"/>
            <a:ext cx="5943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迁移运用/创造力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294376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852160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2A52"/>
                </a:solidFill>
                <a:latin typeface="微软雅黑"/>
                <a:ea typeface="微软雅黑"/>
              </a:rPr>
              <a:t>mask 000=4层全约束 → 111=7层全放开（L0 恒在）；约束段 1089→1836 字随 mask 变化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J · 语言三层：L1 约束 · L2 检测 · L3 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程序化保证的规范中文 · AI 味阈值 0.4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L1 提示词约束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17320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语法自检 7 项注入 system：主谓宾/动宾搭配/介词规范/词法完整/句法完整——生成前就约束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L2 规则检测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84248"/>
            <a:ext cx="84124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detect_ai_taste（AI 味 ≥0.4 触发）+ _check_ellipsis（省略句检测）——零 LLM 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05456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51176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L3 LLM 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51176"/>
            <a:ext cx="84124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refiner.refine 保持风格补全重写——"它非常的重要。"→"这条定律很重要，我们先看清楚…"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实测案例（v0.25 介词规范）：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• "关于这个知识点，要记住重点。" → "关于这个知识点，我们需要记住它的重点。"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• "通过学习，掌握了很多方法。" → "通过学习，我掌握了很多学习方法。"（补主语）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• "把他帮助了。" → "他帮助了那个学生。"（把字句误用→正常语序）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• "被批评了。" → "他受到了老师的批评。"（被字句补施事）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• "我有点倦，想和你探讨" → "我有点疲倦了，但我还是想和你探讨这个问题"（词法完整）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436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F2A52"/>
                </a:solidFill>
                <a:latin typeface="微软雅黑"/>
                <a:ea typeface="微软雅黑"/>
              </a:rPr>
              <a:t>病句捕获率 15/16（94%），正确句零误报 · 8 模块全部覆盖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K · 检索增强：RRF 融合 · jieba 切词 · 中英双语变体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回答前强制检索 · 答案有据可依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查询变体生成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444752"/>
            <a:ext cx="78638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中英双语 × 多轮改写（5 主题 × 3 轮 → 16 条），多查询 K=2-3 甜区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多路检索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30552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BM25 + jieba 中文切词（"分离定律"不再被拆碎）· 网络检索 web_search_multi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RRF 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16352"/>
            <a:ext cx="78638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倒数排名融合（k=60）跨查询累积，无归一化问题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7472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URL 规范化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02152"/>
            <a:ext cx="78638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去 tracking 参数/尾斜杠/www，实测去 30-60% 假重复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548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6052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相关性打分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187952"/>
            <a:ext cx="78638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核心词命中 + 标题匹配 + 内容长度 + 域名权重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11430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F2A52"/>
                </a:solidFill>
                <a:latin typeface="微软雅黑"/>
                <a:ea typeface="微软雅黑"/>
              </a:rPr>
              <a:t>实测："超导体的量子隧穿效应原理与应用"→ 9 条相关结果 3.5s（此前 1-4 条跑偏）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L · 个体化画像：17 维正交 · 增量建模 · 五层注入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因材施教 · 对每个学生个别对待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1. 身份学段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28016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2. 认知通道(VARK)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28016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3. 知识掌握状态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4. 学习目标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8288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5. 价值观世界观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6. 情感状态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7. 学习动机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22860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8. 自我信念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28600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9. 会话意图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10. 投入度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8346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11. 学习节奏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8346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12. 时段偏好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13. 错误反应模式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32918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14. 协作偏好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329184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15. 多媒体偏好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947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16. 可用性需求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7947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3840480"/>
            <a:ext cx="3383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17. 母语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增量建模：说"代数弱"→ extract_user_facts → Individuality.run → 画像自动记录薄弱点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持久化：persist() 落盘 users_data/profile.json · 动态扩展 add_dimension 可加第 18/19 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五层注入：语言/风格/深度/节奏/情绪 → inject_control 注入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M · 自我进化：四路自进化 + 质量门禁 + 落地执行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越用越懂怎么教 · 数据飞轮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知识蒸馏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成功教学入库 evolved_*.json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17320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教学反思平均分&lt;0.7 触发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提示词补丁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75688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evolve_prompt 提炼 → subject_patches.md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75688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下次教学自动注入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88336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734056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工具经验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34056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工具使用效果回流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34056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改进工具调用策略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92424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新学科需求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92424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问"量子力学"→ 记录 → 自动注册入库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92424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用户需求→产品能力闭环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SelfUpdateAgent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50792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7 分类建议 + 周期调度器落地执行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50792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不再只写文档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质量门禁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53035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Constitutional AI 风格过滤有害内容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09160"/>
            <a:ext cx="29260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数据飞轮有刹车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N · 语音模块：TTS 朗读 + STT 语音输入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E6A528"/>
                </a:solidFill>
                <a:latin typeface="微软雅黑"/>
                <a:ea typeface="微软雅黑"/>
              </a:rPr>
              <a:t>edge-tts 免 key · Web Speech API · 模块门控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TTS（朗读回答）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edge-tts 中文女声 zh-CN-XiaoxiaoNeural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后端 /api/voice/tts 生成 MP3，🔊 一键朗读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STT（语音提问）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浏览器 Web Speech API（Chrome/Edge/Safari）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转文本后复用现有发送管线，🎙 语音提问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模块门控：paeg_modules.json 可开关 · 纯 I/O adapter，不进 subagent 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E6A528"/>
                </a:solidFill>
                <a:latin typeface="微软雅黑"/>
                <a:ea typeface="微软雅黑"/>
              </a:rPr>
              <a:t>真实边界：STT 需 HTTPS/localhost；微信内置浏览器（X5 内核）不支持——已明确标注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O · 知识导图 + 文件 4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从"问"到"产出" · 用户资料深度利用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知识导图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54864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说"画知识导图/列提纲/思维导图"→ 结构化知识地图
知识定位 / 知识树 / 关联 / 学习路径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文件 4 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1828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① 找答案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"我的资料里关于X怎么说" → BM25 检索文件 → 严格基于内容回答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1828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② 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"按我上传的讲义讲X" → 基于文件讲解（区分【原文】/【讲解】）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1828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③ 输出原文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5176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"把文件里X的原文给我" → 逐字输出（不依赖 LLM）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1828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④ 重组结构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"把讲义整理成提纲" → 大纲/表格/思维导图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技术：lib/ingest/（readers 多格式 → chunker 中文分块 → retriever BM25+jieba → intent_router → handlers）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H1 · 全功能能力矩阵 · 教学与 Agent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PAEG 全部功能一览（上半）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教学闭环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3502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诊断→计划→呈现→评估→调整→反思 六阶段流水线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9 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9384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Diagnostor/Planner/Presenter/Evaluator/Adapter/AnswerSolver/AffectionSupportor/SelfUpdateAgent/Individuality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意图路由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2374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模式短路(conf 0.95) + LLM 判断 + 规则兜底 三层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学段-学科联动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1810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SUBJECT_MIN_GRADE：初中12/高中22/本科28/考研2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个体化因材施教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1246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17 维正交画像 + 增量建模 + 持久化 + 五层注入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立德树人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0682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危机先行钩子 + 先回应再关怀 + 薇依世界观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846320"/>
            <a:ext cx="25603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多层意图拦截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01184"/>
            <a:ext cx="8321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复合输入检测/自指路由/steering 自动切学科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H2 · 全功能能力矩阵 · 工具与产出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PAEG 全部功能一览（下半）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8层动态约束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16736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L0-L7 + mask 000-111 动态放开，L0 保底永不跳过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5564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检索增强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92224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RRF 融合 + URL 规范化 + jieba 切词 + 中英双语变体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31136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语言规范三层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67712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L1 提示词约束 + L2 规则检测(AI味0.4) + L3 LLM 修正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自我进化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43200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四路自进化 + SelfUpdateAgent 7 分类 + 质量门禁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82112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209544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MCP 双向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218688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3 MCP server · 34 工具 · opencode 兼容插件生态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PPT 一键生成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94176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授课讲义模式（目标/要求/形式/视觉风格）· 经验库驱动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3308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视频生成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169664"/>
            <a:ext cx="832104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演讲稿驱动 · narration/audio_duration/subtitle_cues 三字段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08576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语音模块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45152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edge-tts TTS + Web Speech API STT · 模块门控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84064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111496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文件4能力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找答案/基于文件讲解/输出原文/重组结构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59552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586984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知识导图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596128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结构化知识地图（定位/知识树/关联/学习路径）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3504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3504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多语言教学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071616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英/法/德 12 字段 + 母语迁移对照块（v0.36）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1052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035040"/>
            <a:ext cx="25603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上下文打包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6071616"/>
            <a:ext cx="83210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历史+画像+自我陈述+BDI+模式+学科+学段全注入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P · 测试体系：从单元到 E2E 的五层保障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每次改动前后必跑 · 5 命令全绿才发版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单元测试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44168"/>
            <a:ext cx="84124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pytest + tmp_path 隔离 · 可并行(pytest -n auto) · 不依赖环境变量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管线契约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9280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7 用例验证教学管线完整性（诊断→评估全链路）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API 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4144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6 用例覆盖核心端点 · SSE 流式测试助手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9260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学段学科矩阵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9008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5 用例：学段×学科联动（跨学段拦截/正常教学/未收录）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7472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全模式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3872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chat/teach/mock 三模式端到端 · 36 端点 × 多轮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02336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多轮注入实验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8736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multi_turn_eval 5 维度：退化/决策/语言风格/约束/tool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57200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audit_check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63600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24/24 静态检视：P0(bare except/写端点校验) + P1(展示质量)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smoke_test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184648"/>
            <a:ext cx="8412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F6B"/>
                </a:solidFill>
                <a:latin typeface="微软雅黑"/>
                <a:ea typeface="微软雅黑"/>
              </a:rPr>
              <a:t>27 秒验证关键 API · arch_check 季度架构连通性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394960"/>
            <a:ext cx="2859437" cy="137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Q · 测试数据全景：30 场对话 · 0 翻车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真实运行数据 · 24 维结构化指标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50 / 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对话全部达标（教学15 + 倾诉15）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24 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结构化指标（轮次/字数/耗时/通过/步骤数）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0 翻车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无答非所问/无乱码/无崩溃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82880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4 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诊断-教学-评估-反思 全链路闭环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5863 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教学 15 轮完整原文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84048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9723 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4048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倾诉 15 轮完整原文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15.2s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教学平均响应（R1 用时 23.4s → R15 收敛）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3840480"/>
            <a:ext cx="2286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840480"/>
            <a:ext cx="2286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找答案 10 题全部 ok=true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E6A528"/>
                </a:solidFill>
                <a:latin typeface="微软雅黑"/>
                <a:ea typeface="微软雅黑"/>
              </a:rPr>
              <a:t>数据来源：v51_test_results.json（真实运行日志，可复验）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R · 查资料 3 场景：检索增强真实效果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E6A528"/>
                </a:solidFill>
                <a:latin typeface="微软雅黑"/>
                <a:ea typeface="微软雅黑"/>
              </a:rPr>
              <a:t>哲学/物理/英语 · RRF 融合 + 知识库 + 网络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27432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哲学入门书籍推荐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8046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n=2 条 · 知识库优先（哲学书单）→ 网络补充 → RRF 融合 → 推荐 2 本入门书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7432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物理竞赛学习方法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8046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n=6 条 · 知识库 + 网络（竞赛经验帖）→ URL 规范化去重 → 融合出 6 条高相关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27432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英语单词记忆技巧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8046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n=6 条 · jieba 切词提升命中 → 词根词缀 + 记忆法 sources 卡片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3901440" cy="21945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390144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E6A528"/>
                </a:solidFill>
                <a:latin typeface="微软雅黑"/>
                <a:ea typeface="微软雅黑"/>
              </a:rPr>
              <a:t>检索增强 v0.45：多查询 K=2-3 · RRF(k=60) · URL 规范化去 30-60% 假重复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S · 视频生成实测：演讲稿驱动管线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光合作用 128s · 先写稿再配音 · 音画同步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帧1 光合作用：植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98448"/>
            <a:ext cx="9326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同学们，想象一下，你每天吃的米饭、面包，它们最初是怎么来的呢？不是天上掉下来的，而是植物制造的。植物没有嘴巴，却能制造出我们赖以生存的有机物。这一切的秘密，就藏…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645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帧2 光反应阶段：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01368"/>
            <a:ext cx="9326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上一页我们知道了光合作用是植物制造食物的过程，那具体是怎么开始的呢？首先，植物叶子里的叶绿体，就像一个小工厂，而类囊体膜就是工厂的生产线。当阳光照射到叶子上，光…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1645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帧3 暗反应阶段：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304288"/>
            <a:ext cx="9326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上一页我们了解了光反应，它产生了能量和氢气。接下来，这些能量被用来做什么呢？这就是暗反应阶段，也叫卡尔文循环。它发生在叶绿体的基质中，不需要光，但需要光反应提供…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1645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帧4 练习与总结：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07208"/>
            <a:ext cx="9326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55F6B"/>
                </a:solidFill>
                <a:latin typeface="微软雅黑"/>
                <a:ea typeface="微软雅黑"/>
              </a:rPr>
              <a:t>现在我们回顾一下整个过程：光反应在类囊体膜上，把水分解，放出氧气；暗反应在基质中，固定二氧化碳，生成糖。两者配合，就像接力赛——光反应递出能量，暗反应接住并制造…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F2A52"/>
                </a:solidFill>
                <a:latin typeface="微软雅黑"/>
                <a:ea typeface="微软雅黑"/>
              </a:rPr>
              <a:t>管线：写演讲稿(narration) → TTS 合成(audio_duration) → 字幕(subtitle_cues) → 合并输出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06240"/>
            <a:ext cx="3738880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E6A528"/>
                </a:solidFill>
                <a:latin typeface="微软雅黑"/>
                <a:ea typeface="微软雅黑"/>
              </a:rPr>
              <a:t>v0.53：演讲稿驱动修复音画不同步 · 关键帧静态图防导出空白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T · 版本演进时间线：v0.25 → v0.53 关键节点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从单文件到完整 Agent 架构 · 48 个版本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1732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学段-学科联动 + PPT MCP + SelfUpdateAgent 7 分类落地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4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LLM 优先意图路由（14 意图选项）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2316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语音模块（edge-tts + Web Speech）+ 母语迁移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907792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2608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模块化拆分（server.py -550 行）+ 测试隔离根治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2900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提示词模板引擎（固定模板 + 12 动态槽）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913632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93192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检索增强（RRF + URL 规范化 + jieba）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389120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43484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3 位掩码动态约束 + 全模块语言规范审计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919472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93776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8 层约束（L0-L7）+ 全模式测试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9496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v0.51-52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44068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发布加固（P0/P1 全修 + SECRET_KEY 双轨）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89788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925312"/>
            <a:ext cx="1463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43600"/>
            <a:ext cx="9326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视频演讲稿驱动 + PPT 讲义 + 插件生态 + 经验库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完整 48 版本历史见 CHANGELOG.md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A4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R1-R3 · 每轮完整原文（1129字）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我们从一个你每天都能观察到的现象说起：你和你爸妈的眼睛颜色不一样。
我们先来观察一个事实。你爸爸是棕色眼睛，你妈妈也是棕色眼睛，可你是蓝色眼睛——这种情况在我们身边并不少见。问题来了：孩子是从父母那里“各取一半”的，那怎么会取着取着，颜色反而变了？
这一点很关键：“各取一半”这四个字，并不是说把爸爸的颜色和妈妈的颜色倒进杯子里搅一搅，得到一杯混合色。遗传更像是一人递给你一张卡片——爸爸那张写着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435字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我们接着往下走。眼睛颜色不一样，关键在“显性”和“隐性”这两个词。你爸妈都是棕色眼睛，却生出蓝眼睛的你。这说明什么？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概念：每个性状由一对“等位基因”决定，一个来自爸爸，一个来自妈妈。棕色眼基因用 B 表示，蓝色眼基因用 b 表示。棕色是显性，只要有一个 B 就显棕色；蓝色是隐性，必须两个都是 b 才显蓝色。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推理：你是蓝眼睛，所以你的基因型一定是 bb，两个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399字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39496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你放手，自己先来试一个。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练习：假设眼睛颜色由一对基因决定，B 代表棕色（显性），b 代表蓝色（隐性）。爸爸是棕色眼睛，妈妈也是棕色眼睛，但他们的基因型都是 Bb。请你用刚才"一个来自爸爸、一个来自妈妈"的思路，写出孩子可能的基因型有哪几种，其中哪种会表现出蓝眼睛？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我先给你一个小台阶：爸爸能提供的基因只有两种可能——B 或 b；妈妈同样。你把爸爸的一种和妈妈的一种配在一起，就得到孩子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295字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94960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A5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R4-R6 · 每轮完整原文（1256字）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好的，我们用眼睛颜色这个最小的例子，把它讲清楚。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假设决定眼色的基因有两种版本：B（棕色，显性）和 b（蓝色，隐性）。你从爸爸那里得到一个版本，从妈妈那里得到一个版本，所以你的基因是成对的，有三种可能：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BB——两个都是棕色，表现棕色。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Bb——一个棕色、一个蓝色，表现棕色。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bb——两个都是蓝色，表现蓝色。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你看，Bb 和 BB 看起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464字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这一步我们往深走一层：为什么 Aa 会表现成显性，而 aa 才是隐性？关键不在哪个字母大，而在基因到底做了什么。
每个基因都在指挥细胞生产一种蛋白质。我们用眼睛的颜色来说明这个道理。B这个版本，能指挥细胞造出棕色色素这种蛋白质；b这个版本，是个哑巴——它指挥不了，也造不出色素。
现在我们来观察三种组合。BB：两个都造棕色色素，所以眼睛是棕色。Bb：虽然只有一个B在工作，但它已经能造出足够多的色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437字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39496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学生，你刚才的理解方向是对的：Aa 表现显性，aa 表现隐性，这个结论没有错。但这里藏着一个容易绊倒人的地方，我想让你自己踩一次。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我们先来看一个相似的问题，你独立来做这件事。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假设有一种花的颜色由一对基因决定，R 是红色显性，r 是白色隐性。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请你回答两个小问题。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第一个问题，如果一株花是白色的，它的基因型一定是什么？为什么只能是这一种，没有别的可能？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第二个问题，如果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355字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94960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A6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R7-R9 · 每轮完整原文（1164字）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学生，你问到了一个关键的岔路口。孟德尔研究的是完全显性，紫色对白色，一个压住一个，干脆利落。
但自然界不总这么听话，粉色花就是证据。
我们先来想象两管颜料。孟德尔的紫花，是深紫和白混在一起，深紫的颜料太浓，把白色完全盖住，所以后代还是紫的。这叫完全显性。
但粉花不一样。它像是红和白两管颜料各倒了一半，红色不够浓，盖不住白，两种颜色都露出来，调成了中间色。这就是不完全显性（incomplete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406字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学生，你问粉色花是怎么来的。要走进不完全显性（incomplete dominance），我们才能看清楚这个问题。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我们来观察一个最小的例子。金鱼草的红色花（RR）和白色花（rr）杂交，子一代既不是红，也不是白，而是粉色（Rr）。这是为什么？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这一点很关键，关键在于“剂量”。孟德尔的紫花里，显性基因 P 像一个开关。只要有一个这样的开关，就足以把花染成紫色。但金鱼草的颜色基因不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533字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39496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我们来完成这个练习，通过它来检验你是否真正掌握了不完全显性的规律。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练习：假设某种植物开红花是 RR，开白花是 rr，杂合 Rr 开粉花。如果让两株粉花植物（Rr \times Rr）杂交，后代的花色比例会是什么？你先不要急着计算，而是把你的思路告诉我。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我给你一个思考的台阶：我们先一起思考一下，粉花植株 Rr 能产生哪几种配子？每一种配子各占多少比例？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你想好了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225字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94960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A7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R10-R12 · 每轮完整原文（1114字）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色盲是个特别好的例子，因为它把“隐性遗传”和“性别”这两件事连在了一起。我们先来观察最小的一套规则。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色盲基因在 X 染色体上，它是隐性的。女生有两条 X（XX），男生只有一条 X（XY）。我们用字母来表示这个差别：X^C 是正常的显性基因，X^c 是色盲的隐性基因。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女生要得色盲，她得让两条 X 都是 X^c，也就是 X^cX^c，两条都必须坏掉。男生只有一条 X，所以只要这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472字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好，我们继续往下走一步。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色盲基因位于X染色体上，Y染色体上没有它的位置。所以它被称为“伴X隐性遗传”。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男生只有一条X染色体（XY），只要这条X上带着色盲基因，他就会发病——因为没有第二条X来掩护他。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女生有两条X染色体。隐性遗传的意思是：两条X上的致病基因都坏了，才会发病。女生如果只有一条X带色盲基因，另一条正常，她不会发病，只是携带者。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我们用一句话来对照：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• 男生：一条X坏了，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333字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39496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我们来做一个小练习，你独立完成一遍推演。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题目：一位红绿色盲的男性，和一位携带色盲基因但视觉正常的女性，生了一个儿子。这个儿子会是色盲吗？概率是多少？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先给你一个提示：色盲基因位于X染色体上，并且是隐性的。男性只有一条X染色体，这条染色体来自母亲，所以只要这条X染色体上带有色盲基因，他就必然患病。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现在，我们一起来思考三个问题：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1. 这位父亲的X染色体上，是否带有色盲基因？（提示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309字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94960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A8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R13-R15 · 每轮完整原文（1200字）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我们一起来观察孟德尔两大定律的分工。它们回答的是两个不同的问题。
分离定律回答的问题是：一对性状是怎么传递的？比如豌豆的高茎和矮茎。一对等位基因（比如 \(D\) 和 \(d\)）在形成配子时彼此分开，每个配子只携带其中一个。所以杂合子 \(Dd\) 产生的配子是一半 \(D\)、一半 \(d\)，这就是分离的含义。
自由组合定律回答的问题是：两对性状一起传递时，它们会不会互相干扰？比如高茎矮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448字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这节课我们往深处走一步，要弄清楚两大定律各自管辖的是哪一层。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分离定律管的是“一对基因”。它说的是：体细胞里成对的等位基因，比如 D 和 d，在形成配子，也就是精子和卵细胞时，彼此分开，各进入一个配子。所以一个配子里只有 D，或者只有 d，不会两个同时存在。它回答的问题是“一对基因怎么分家”。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自由组合定律管的是“两对基因”。它说的是：两对位于不同染色体上的基因，比如 $D/d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409字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39496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我们直接进入一个相似的问题，你来独立做。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练习：黄色圆粒豌豆（YyRr）与绿色皱粒豌豆（yyrr）杂交。请回答：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1. 分离定律在这道题里管的是哪一对基因？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2. 自由组合定律管的是哪两对基因之间的事？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3. 写出生殖细胞（配子）的种类和比例。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我们先想第一问。分离定律只盯着一对等位基因看，比如 Yy 这对在形成配子时怎么分开，Rr 这对又怎么分开。它不关心别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343字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94960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B4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R1-R2 · 每轮完整原文（575字）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两个月，在新学校，交不到朋友，上课走神。这三件事叠在一起，日子确实不好过。
我想先问一个具体的问题：你说的“交不到朋友”，是指还没有人能说上话，还是有过几次交谈，但感觉没能深入下去？这两个情况不太一样，我想先弄清楚。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109字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你说了两件事：成绩下滑了，还有，以前在原来学校你是前十名。后一句里藏着一点委屈，也藏着一点判断：好像在说，我本来不是这个水平。
我想先接住这个判断，因为它很重要。前十名是过去的坐标，它证明你有学习的能力，这一点没有消失。成绩下滑这件事，恰恰说明你现在面对的是一个新环境、新难度——不是你变笨了，是参照系变了。这就像换了跑道，原来那条跑道上你是领跑的人，新跑道坡度不一样，起跑自然吃力。这不能说明你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466字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B5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R3-R4 · 每轮完整原文（1174字）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从成绩说到了另一件事。你觉得同学们可能觉得你奇怪，因为你不太会主动跟人说话。这两件事放在一起，我心里有个判断：它们很可能是同一件事。你怕的不是成绩本身，是怕在新的地方不被认可。前十名是你在原来那个地方被认可的方式。到了新环境，这个方式暂时失效了，于是你开始担心自己整个人都不被接纳。
我先把“奇怪”这个词拆开看。你用了“可能觉得”，这说明你并没有亲耳听到谁说，你是在猜。猜的基础，往往不是别人真的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585字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你这句话比前面那些都更具体了。一个人坐在教室里，午休，周围有声音、有别人，但你觉得自己格格不入。这不是你猜出来的，是你亲身待过的时刻。我把它当真。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我想先指出一个你可能没注意到的地方：你用了“格格不入”这个词，但它前面其实还藏着一层意思——你坐在那里，是一个人。孤独和格格不入不一样。孤独是你身边没人；格格不入是你身边有人，可你觉得自己不属于他们。你描述的是后者。这说明你并不是真的被孤立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589字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B6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R5-R6 · 每轮完整原文（1330字）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你这句话里有一个很重要的词：两个月了。你承认转学需要适应期，但你用“两个月”给自己划了一条线，好像到这时候还这样，就说明自己失败了。我想先把这条线松开。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latin typeface="微软雅黑"/>
                <a:ea typeface="微软雅黑"/>
              </a:rPr>
              <a:t>两个月，对适应新环境来说，其实不算长。你可能觉得两个月很长，因为你每一天都在扛着那种悬空的感觉，一天天数着，显得格外久。但适应期从来不是按日历算的，是按你真正摸清了多少路算的。有些人一个月就找到节奏，有些人需要半年，这跟聪明不聪明、行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536字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问出了一个比前面所有问题都更深的问题：我是不是性格有问题。这句话的分量很重，因为你在用一个整体性的判断否定自己，而不是在说某件具体的事。前面你谈的是成绩下滑，午休一个人坐着，现在你把它们拧成了一句自我审判：问题在我这个人身上。
我想先把这个判断接住，因为它值得被认真对待，而不是被一句“你想多了”打发掉。但我也要把它拆开来观察。“性格有问题”是一个很模糊的说法，它没有边界。而“别人都能很快交到朋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794字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B7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R7-R8 · 每轮完整原文（1701字）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你这句话，把前面所有散的线都收拢到一起了。成绩下滑、午休一个人坐着、觉得自己格格不入、担心性格有问题——你现在告诉我，上课走神是因为总在想"他们是不是在看我"。这才是最底下那一层。
我想让你先观察这句话里藏着的逻辑：你担心别人在看你，但别人其实并没有真的在看你。这个念头是你自己造出来的，然后它反过来占据了你的注意力。你的注意力本来应该放在黑板、放在题目上，现在却被一个"被审视"的想象分走了。成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803字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前面所有的话都落到了最实处。前面你谈的是感受——觉得被看、觉得格格不入、担心性格有问题。现在你说的是一件具体的、没有发生过的事：你从来没有主动邀请过别人一起吃饭，或者课间聊天。这是你第一次从“我心里怎么想”走到“我实际上做过什么”。这一步很关键，因为感受会骗人，行为不会。
我想先指出这件事里一个你可能没意识到的地方。你前面说“别人都能很快交到朋友”，但你刚刚承认，你从来没有主动发起过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898字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B8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R9-R10 · 每轮完整原文（1498字）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是我们聊了这么多天里最重要的一句。不是因为内容有多大，而是因为你第一次从“我可能有问题”走到了“我可以试着做一件事”。你用了“可能”“试着”这两个词，说明你还有些犹豫，有些怕，这很正常。但你已经把方向从“我够不够好”转到了“我明天可以做什么”。这一步，比任何一次自我怀疑都有力。
我想先接住你选的那个具体动作：跟同桌说一句话。你选了同桌，这个选择很好，因为同桌是你每天接触最多、距离最近的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790字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把“跟同桌说一句话”这件事，又往前推了一步：这周每天主动跟一个同学打招呼。这个目标选得好，因为它比“交朋友”小得多，小到几乎不会失败，却又能每天给你一次“我主动了”的体验。我特别想肯定你的一点是，你给了自己一个期限——一周，而不是“等我有勇气了再说”。勇气不是等出来的，是练出来的。你已经在练了。
我想帮你把这个目标再打磨一下，让它真正立得住，而不是第二天就松掉。第一件要注意的事是：别把“打招呼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708字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B9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R11-R12 · 每轮完整原文（1410字）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那个一直悬着的东西说出来了：我怕的不是打招呼本身，是怕那一声招呼落空，怕对方不理我，然后我会觉得更失败。这个担心很真实，我把它当真。因为对你来说，开口已经很难了，如果开口之后还被冷落，那就像把好不容易鼓起的勇气，亲手递过去又被推回来——那确实比不开口更疼。
我想先帮你把“不理我”这件事拆开看。你害怕的“不理”，其实分好几种。一种是对方没听见，这在教室里很常见，周围吵，他正低头看手机，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822字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整件事的钥匙握住了。你说“打招呼是练习，不是考试，不需要每次都成功”——这句话的分量，比前面任何一次自我怀疑都重。因为你终于把“开口”从一件被审判的事，变成了一件可以反复练习的事。练习就意味着允许失败，一次没做好不是终点，只是下一次的开始。你给自己松了绑。
我想顺着这句话，再往前推一小步。你既然已经明白“这是练习不是考试”，那我想让你顺便把另一件事也想通：练习的评判标准，从来不是“对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B10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R13-R14 · 每轮完整原文（1409字）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是这几轮对话里最安静，也最结实的一句。前面你说“打招呼是练习，不是考试”，那是在说一件具体的事；现在你说“我好像能接受慢慢来了”，这是在说你整个人——你在允许自己，不必一口气把所有问题都解决掉。这不是同一个层面的进步，这是更底下的那一层。
我想先把你过去的样子和现在做个对照，因为你自己可能还没看清这个变化有多大。以前的你，是那种“一口气解决”的人：成绩要稳住前十，转学要马上适应，朋友要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817字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484632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前面那些零散的想法收拢成了一根线。你说“交朋友和成绩一样，需要时间积累”——这句话里有一种很稳的踏实感。你不再把交朋友当成一场必须立刻赢的比赛，而是把它当成一件需要浇水、需要等它慢慢长的事。你以前能接受成绩需要积累，是因为你亲眼见过自己一点点把分数提上来；现在你愿意用同样的耐心对待人际关系，是因为你开始相信，这件事也遵循同样的规律。
我想把你这句话再往前推一步，因为你说“和成绩一样”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592字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APPENDIX B11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R15-R15 · 每轮完整原文（626字）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55F6B"/>
                </a:solidFill>
                <a:latin typeface="微软雅黑"/>
                <a:ea typeface="微软雅黑"/>
              </a:rPr>
              <a:t>你这句话，把这几轮对话收住了。你说“我会先从小目标做起，下周再来跟你分享进展”——这不再是一个试探性的“可能”“试着”，而是一句完整的承诺。你定了方向，给了自己期限，还约好了回来。从“我是不是性格有问题”走到这里，你已经走了很远。而这一步，是把自己交给了行动，也交给了时间。
我想先肯定你这句话里两个结实的部分。第一个是“小目标”。你没有说“我要彻底改变”，没有说“下周我要交到很多朋友”，你只说“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430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626字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55F6B"/>
                </a:solidFill>
                <a:latin typeface="微软雅黑"/>
                <a:ea typeface="微软雅黑"/>
              </a:rPr>
              <a:t>PAEG 教育者 Agent · v6.0 · 2026.08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9015</Words>
  <Application>Microsoft Office PowerPoint</Application>
  <PresentationFormat>宽屏</PresentationFormat>
  <Paragraphs>1263</Paragraphs>
  <Slides>66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3" baseType="lpstr">
      <vt:lpstr>思源黑体 CN</vt:lpstr>
      <vt:lpstr>思源宋体 CN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天行 李</cp:lastModifiedBy>
  <cp:revision>3</cp:revision>
  <dcterms:created xsi:type="dcterms:W3CDTF">2013-01-27T09:14:16Z</dcterms:created>
  <dcterms:modified xsi:type="dcterms:W3CDTF">2026-08-11T17:38:04Z</dcterms:modified>
  <cp:category/>
</cp:coreProperties>
</file>