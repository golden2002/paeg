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81A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286000" y="-2286000"/>
            <a:ext cx="4572000" cy="4572000"/>
          </a:xfrm>
          <a:prstGeom prst="ellipse">
            <a:avLst/>
          </a:prstGeom>
          <a:solidFill>
            <a:srgbClr val="E6A528">
              <a:alpha val="1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1371600" y="-1371600"/>
            <a:ext cx="2743200" cy="2743200"/>
          </a:xfrm>
          <a:prstGeom prst="ellipse">
            <a:avLst/>
          </a:prstGeom>
          <a:solidFill>
            <a:srgbClr val="E6A528">
              <a:alpha val="3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 rot="900000">
            <a:off x="9144000" y="5029200"/>
            <a:ext cx="4572000" cy="4572000"/>
          </a:xfrm>
          <a:prstGeom prst="rect">
            <a:avLst/>
          </a:prstGeom>
          <a:solidFill>
            <a:srgbClr val="0F2A52">
              <a:alpha val="50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731520" y="914400"/>
            <a:ext cx="365760" cy="73152"/>
          </a:xfrm>
          <a:prstGeom prst="rect">
            <a:avLst/>
          </a:prstGeom>
          <a:solidFill>
            <a:srgbClr val="E6A528"/>
          </a:solidFill>
          <a:ln/>
        </p:spPr>
      </p:sp>
      <p:sp>
        <p:nvSpPr>
          <p:cNvPr id="6" name="Text 4"/>
          <p:cNvSpPr/>
          <p:nvPr/>
        </p:nvSpPr>
        <p:spPr>
          <a:xfrm>
            <a:off x="1234440" y="77724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E6A52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EDUCATION AGENT · 2026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731520" y="2194560"/>
            <a:ext cx="10972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它不只在回答问题，</a:t>
            </a:r>
            <a:endParaRPr lang="en-US" sz="5400" dirty="0"/>
          </a:p>
        </p:txBody>
      </p:sp>
      <p:sp>
        <p:nvSpPr>
          <p:cNvPr id="8" name="Text 6"/>
          <p:cNvSpPr/>
          <p:nvPr/>
        </p:nvSpPr>
        <p:spPr>
          <a:xfrm>
            <a:off x="731520" y="3108960"/>
            <a:ext cx="10972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E6A52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它在理解一个人。</a:t>
            </a:r>
            <a:endParaRPr lang="en-US" sz="5400" dirty="0"/>
          </a:p>
        </p:txBody>
      </p:sp>
      <p:sp>
        <p:nvSpPr>
          <p:cNvPr id="9" name="Text 7"/>
          <p:cNvSpPr/>
          <p:nvPr/>
        </p:nvSpPr>
        <p:spPr>
          <a:xfrm>
            <a:off x="731520" y="438912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B8C2D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PAEG 教育智能体 · 商业路演</a:t>
            </a:r>
            <a:endParaRPr lang="en-US" sz="2000" dirty="0"/>
          </a:p>
        </p:txBody>
      </p:sp>
      <p:sp>
        <p:nvSpPr>
          <p:cNvPr id="10" name="Shape 8"/>
          <p:cNvSpPr/>
          <p:nvPr/>
        </p:nvSpPr>
        <p:spPr>
          <a:xfrm>
            <a:off x="731520" y="5760720"/>
            <a:ext cx="548640" cy="36576"/>
          </a:xfrm>
          <a:prstGeom prst="rect">
            <a:avLst/>
          </a:prstGeom>
          <a:solidFill>
            <a:srgbClr val="E6A528"/>
          </a:solidFill>
          <a:ln/>
        </p:spPr>
      </p:sp>
      <p:sp>
        <p:nvSpPr>
          <p:cNvPr id="11" name="Text 9"/>
          <p:cNvSpPr/>
          <p:nvPr/>
        </p:nvSpPr>
        <p:spPr>
          <a:xfrm>
            <a:off x="1371600" y="565099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8C2D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面向投资人 / 评委  ·  v5.1  ·  2026.08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789920" y="274320"/>
            <a:ext cx="914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3600" b="1" dirty="0">
                <a:solidFill>
                  <a:srgbClr val="E6A52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457200" y="41148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E6A52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PART 01  ·  THE PROBLEM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1005840"/>
            <a:ext cx="11247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0F2A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教育缺的不是第二个搜索框，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457200" y="1783080"/>
            <a:ext cx="11247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E6A52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而是长期理解的关系。</a:t>
            </a:r>
            <a:endParaRPr lang="en-US" sz="4000" dirty="0"/>
          </a:p>
        </p:txBody>
      </p:sp>
      <p:sp>
        <p:nvSpPr>
          <p:cNvPr id="6" name="Shape 4"/>
          <p:cNvSpPr/>
          <p:nvPr/>
        </p:nvSpPr>
        <p:spPr>
          <a:xfrm>
            <a:off x="457200" y="3108960"/>
            <a:ext cx="3657600" cy="2926080"/>
          </a:xfrm>
          <a:prstGeom prst="rect">
            <a:avLst/>
          </a:prstGeom>
          <a:solidFill>
            <a:srgbClr val="FFFFFF"/>
          </a:solidFill>
          <a:ln w="9525">
            <a:solidFill>
              <a:srgbClr val="D9DEE7"/>
            </a:solidFill>
            <a:prstDash val="solid"/>
          </a:ln>
          <a:effectLst>
            <a:outerShdw sx="100000" sy="100000" kx="0" ky="0" algn="bl" rotWithShape="0" blurRad="76200" dist="12700" dir="8100000">
              <a:srgbClr val="0F2A52">
                <a:alpha val="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57200" y="3108960"/>
            <a:ext cx="3657600" cy="73152"/>
          </a:xfrm>
          <a:prstGeom prst="rect">
            <a:avLst/>
          </a:prstGeom>
          <a:solidFill>
            <a:srgbClr val="FCA5A5"/>
          </a:solidFill>
          <a:ln/>
        </p:spPr>
      </p:sp>
      <p:sp>
        <p:nvSpPr>
          <p:cNvPr id="8" name="Text 6"/>
          <p:cNvSpPr/>
          <p:nvPr/>
        </p:nvSpPr>
        <p:spPr>
          <a:xfrm>
            <a:off x="731520" y="3291840"/>
            <a:ext cx="731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731520" y="384048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2A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答题式 AI 的天花板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731520" y="4389120"/>
            <a:ext cx="32004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4B556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它知道每道题的解法，但不知道你昨天学到哪了。今天学新课时，它无法接住你前天的卡点。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297680" y="3108960"/>
            <a:ext cx="3657600" cy="2926080"/>
          </a:xfrm>
          <a:prstGeom prst="rect">
            <a:avLst/>
          </a:prstGeom>
          <a:solidFill>
            <a:srgbClr val="FFFFFF"/>
          </a:solidFill>
          <a:ln w="9525">
            <a:solidFill>
              <a:srgbClr val="D9DEE7"/>
            </a:solidFill>
            <a:prstDash val="solid"/>
          </a:ln>
          <a:effectLst>
            <a:outerShdw sx="100000" sy="100000" kx="0" ky="0" algn="bl" rotWithShape="0" blurRad="76200" dist="12700" dir="8100000">
              <a:srgbClr val="0F2A52">
                <a:alpha val="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297680" y="3108960"/>
            <a:ext cx="3657600" cy="73152"/>
          </a:xfrm>
          <a:prstGeom prst="rect">
            <a:avLst/>
          </a:prstGeom>
          <a:solidFill>
            <a:srgbClr val="FCD34D"/>
          </a:solidFill>
          <a:ln/>
        </p:spPr>
      </p:sp>
      <p:sp>
        <p:nvSpPr>
          <p:cNvPr id="13" name="Text 11"/>
          <p:cNvSpPr/>
          <p:nvPr/>
        </p:nvSpPr>
        <p:spPr>
          <a:xfrm>
            <a:off x="4572000" y="3291840"/>
            <a:ext cx="731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</a:t>
            </a:r>
            <a:endParaRPr lang="en-US" sz="2800" dirty="0"/>
          </a:p>
        </p:txBody>
      </p:sp>
      <p:sp>
        <p:nvSpPr>
          <p:cNvPr id="14" name="Text 12"/>
          <p:cNvSpPr/>
          <p:nvPr/>
        </p:nvSpPr>
        <p:spPr>
          <a:xfrm>
            <a:off x="4572000" y="384048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2A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答疑工具的边界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4572000" y="4389120"/>
            <a:ext cx="32004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4B556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它能秒答，但情绪、状态、学习节奏都不在它的视野里。一节课之后，没有沉淀，也没有跟进。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8138160" y="3108960"/>
            <a:ext cx="3657600" cy="2926080"/>
          </a:xfrm>
          <a:prstGeom prst="rect">
            <a:avLst/>
          </a:prstGeom>
          <a:solidFill>
            <a:srgbClr val="FFFFFF"/>
          </a:solidFill>
          <a:ln w="9525">
            <a:solidFill>
              <a:srgbClr val="D9DEE7"/>
            </a:solidFill>
            <a:prstDash val="solid"/>
          </a:ln>
          <a:effectLst>
            <a:outerShdw sx="100000" sy="100000" kx="0" ky="0" algn="bl" rotWithShape="0" blurRad="76200" dist="12700" dir="8100000">
              <a:srgbClr val="0F2A52">
                <a:alpha val="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8138160" y="3108960"/>
            <a:ext cx="3657600" cy="73152"/>
          </a:xfrm>
          <a:prstGeom prst="rect">
            <a:avLst/>
          </a:prstGeom>
          <a:solidFill>
            <a:srgbClr val="93C5FD"/>
          </a:solidFill>
          <a:ln/>
        </p:spPr>
      </p:sp>
      <p:sp>
        <p:nvSpPr>
          <p:cNvPr id="18" name="Text 16"/>
          <p:cNvSpPr/>
          <p:nvPr/>
        </p:nvSpPr>
        <p:spPr>
          <a:xfrm>
            <a:off x="8412480" y="3291840"/>
            <a:ext cx="731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</a:t>
            </a:r>
            <a:endParaRPr lang="en-US" sz="2800" dirty="0"/>
          </a:p>
        </p:txBody>
      </p:sp>
      <p:sp>
        <p:nvSpPr>
          <p:cNvPr id="19" name="Text 17"/>
          <p:cNvSpPr/>
          <p:nvPr/>
        </p:nvSpPr>
        <p:spPr>
          <a:xfrm>
            <a:off x="8412480" y="384048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2A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真人教师的不可复制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8412480" y="4389120"/>
            <a:ext cx="32004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4B556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一位老师面对 40 个学生，没有余力记住每一个人的卡点、情绪与节奏。陪伴，无法规模化。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457200" y="6126480"/>
            <a:ext cx="11247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i="1" dirty="0">
                <a:solidFill>
                  <a:srgbClr val="0F2A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→  这个空白，才是 PAEG 要填补的位置。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457200" y="6446520"/>
            <a:ext cx="11247120" cy="0"/>
          </a:xfrm>
          <a:prstGeom prst="line">
            <a:avLst/>
          </a:prstGeom>
          <a:noFill/>
          <a:ln w="9525">
            <a:solidFill>
              <a:srgbClr val="D9DEE7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57200" y="651052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PAEG 教育智能体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10972800" y="6510528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 / 14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F2A5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7315200" cy="5669280"/>
          </a:xfrm>
          <a:prstGeom prst="rect">
            <a:avLst/>
          </a:prstGeom>
          <a:solidFill>
            <a:srgbClr val="081A33"/>
          </a:solidFill>
          <a:ln w="12700">
            <a:solidFill>
              <a:srgbClr val="E6A528"/>
            </a:solidFill>
            <a:prstDash val="solid"/>
          </a:ln>
          <a:effectLst>
            <a:outerShdw sx="100000" sy="100000" kx="0" ky="0" algn="bl" rotWithShape="0" blurRad="152400" dist="38100" dir="8100000">
              <a:srgbClr val="0F2A52">
                <a:alpha val="12000"/>
              </a:srgbClr>
            </a:outerShdw>
          </a:effectLst>
        </p:spPr>
      </p:sp>
      <p:sp>
        <p:nvSpPr>
          <p:cNvPr id="3" name="Text 1"/>
          <p:cNvSpPr/>
          <p:nvPr/>
        </p:nvSpPr>
        <p:spPr>
          <a:xfrm>
            <a:off x="822960" y="82296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F5C7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学生说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100584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0" b="1" dirty="0">
                <a:solidFill>
                  <a:srgbClr val="E6A52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"</a:t>
            </a:r>
            <a:endParaRPr lang="en-US" sz="7200" dirty="0"/>
          </a:p>
        </p:txBody>
      </p:sp>
      <p:sp>
        <p:nvSpPr>
          <p:cNvPr id="5" name="Text 3"/>
          <p:cNvSpPr/>
          <p:nvPr/>
        </p:nvSpPr>
        <p:spPr>
          <a:xfrm>
            <a:off x="1463040" y="1280160"/>
            <a:ext cx="5943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我撑不住了。</a:t>
            </a:r>
            <a:endParaRPr lang="en-US" sz="5600" dirty="0"/>
          </a:p>
        </p:txBody>
      </p:sp>
      <p:sp>
        <p:nvSpPr>
          <p:cNvPr id="6" name="Shape 4"/>
          <p:cNvSpPr/>
          <p:nvPr/>
        </p:nvSpPr>
        <p:spPr>
          <a:xfrm>
            <a:off x="822960" y="3108960"/>
            <a:ext cx="6583680" cy="45720"/>
          </a:xfrm>
          <a:prstGeom prst="rect">
            <a:avLst/>
          </a:prstGeom>
          <a:solidFill>
            <a:srgbClr val="E6A528">
              <a:alpha val="50000"/>
            </a:srgbClr>
          </a:solidFill>
          <a:ln/>
        </p:spPr>
      </p:sp>
      <p:sp>
        <p:nvSpPr>
          <p:cNvPr id="7" name="Text 5"/>
          <p:cNvSpPr/>
          <p:nvPr/>
        </p:nvSpPr>
        <p:spPr>
          <a:xfrm>
            <a:off x="822960" y="329184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9CA3A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大多数 AI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2651760" y="3246120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D1D5D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继续讲下一题。</a:t>
            </a:r>
            <a:endParaRPr lang="en-US" sz="2200" dirty="0"/>
          </a:p>
        </p:txBody>
      </p:sp>
      <p:sp>
        <p:nvSpPr>
          <p:cNvPr id="9" name="Shape 7"/>
          <p:cNvSpPr/>
          <p:nvPr/>
        </p:nvSpPr>
        <p:spPr>
          <a:xfrm>
            <a:off x="822960" y="3886200"/>
            <a:ext cx="6583680" cy="0"/>
          </a:xfrm>
          <a:prstGeom prst="line">
            <a:avLst/>
          </a:prstGeom>
          <a:noFill/>
          <a:ln w="6350">
            <a:solidFill>
              <a:srgbClr val="37415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22960" y="402336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6A52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PAEG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2651760" y="3977640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E6A52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停下来。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822960" y="4526280"/>
            <a:ext cx="6583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B8C2D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把"撑不住"当作主语，重新理解此刻。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8229600" y="914400"/>
            <a:ext cx="3657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当学生说"我撑不住了"，</a:t>
            </a:r>
            <a:endParaRPr lang="en-US" sz="2800" dirty="0"/>
          </a:p>
        </p:txBody>
      </p:sp>
      <p:sp>
        <p:nvSpPr>
          <p:cNvPr id="14" name="Text 12"/>
          <p:cNvSpPr/>
          <p:nvPr/>
        </p:nvSpPr>
        <p:spPr>
          <a:xfrm>
            <a:off x="8229600" y="182880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6A52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PAEG 会停下来。</a:t>
            </a:r>
            <a:endParaRPr lang="en-US" sz="2800" dirty="0"/>
          </a:p>
        </p:txBody>
      </p:sp>
      <p:sp>
        <p:nvSpPr>
          <p:cNvPr id="15" name="Shape 13"/>
          <p:cNvSpPr/>
          <p:nvPr/>
        </p:nvSpPr>
        <p:spPr>
          <a:xfrm>
            <a:off x="8229600" y="3108960"/>
            <a:ext cx="457200" cy="457200"/>
          </a:xfrm>
          <a:prstGeom prst="ellipse">
            <a:avLst/>
          </a:prstGeom>
          <a:solidFill>
            <a:srgbClr val="E6A528"/>
          </a:solidFill>
          <a:ln/>
        </p:spPr>
      </p:sp>
      <p:sp>
        <p:nvSpPr>
          <p:cNvPr id="16" name="Text 14"/>
          <p:cNvSpPr/>
          <p:nvPr/>
        </p:nvSpPr>
        <p:spPr>
          <a:xfrm>
            <a:off x="8229600" y="315468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81A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8823960" y="3090672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情绪冲击识别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8823960" y="3429000"/>
            <a:ext cx="3200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8C2D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8 层约束中的 L0/L1 把情绪、安全置于解题之上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8229600" y="4114800"/>
            <a:ext cx="457200" cy="457200"/>
          </a:xfrm>
          <a:prstGeom prst="ellipse">
            <a:avLst/>
          </a:prstGeom>
          <a:solidFill>
            <a:srgbClr val="E6A528"/>
          </a:solidFill>
          <a:ln/>
        </p:spPr>
      </p:sp>
      <p:sp>
        <p:nvSpPr>
          <p:cNvPr id="20" name="Text 18"/>
          <p:cNvSpPr/>
          <p:nvPr/>
        </p:nvSpPr>
        <p:spPr>
          <a:xfrm>
            <a:off x="8229600" y="416052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81A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8823960" y="4096512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可验证的实测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8823960" y="4434840"/>
            <a:ext cx="3200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8C2D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15 轮学业压力场景，全程留痕，每轮达标可查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8229600" y="5120640"/>
            <a:ext cx="457200" cy="457200"/>
          </a:xfrm>
          <a:prstGeom prst="ellipse">
            <a:avLst/>
          </a:prstGeom>
          <a:solidFill>
            <a:srgbClr val="E6A528"/>
          </a:solidFill>
          <a:ln/>
        </p:spPr>
      </p:sp>
      <p:sp>
        <p:nvSpPr>
          <p:cNvPr id="24" name="Text 22"/>
          <p:cNvSpPr/>
          <p:nvPr/>
        </p:nvSpPr>
        <p:spPr>
          <a:xfrm>
            <a:off x="8229600" y="516636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81A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8823960" y="5102352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竞品做不到</a:t>
            </a:r>
            <a:endParaRPr lang="en-US" sz="1500" dirty="0"/>
          </a:p>
        </p:txBody>
      </p:sp>
      <p:sp>
        <p:nvSpPr>
          <p:cNvPr id="26" name="Text 24"/>
          <p:cNvSpPr/>
          <p:nvPr/>
        </p:nvSpPr>
        <p:spPr>
          <a:xfrm>
            <a:off x="8823960" y="5440680"/>
            <a:ext cx="3200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8C2D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门控层结构上必须先评估状态，再决定下一步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457200" y="640080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F5C7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这个差异不是修辞，是结构。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789920" y="274320"/>
            <a:ext cx="914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3600" b="1" dirty="0">
                <a:solidFill>
                  <a:srgbClr val="E6A52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457200" y="41148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E6A52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PART 02  ·  HIGHLIGHTS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96012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F2A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六种教学场景中，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457200" y="160020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E6A52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PAEG 构建了完整的"教学 + 情绪"双闭环。</a:t>
            </a:r>
            <a:endParaRPr lang="en-US" sz="3400" dirty="0"/>
          </a:p>
        </p:txBody>
      </p:sp>
      <p:sp>
        <p:nvSpPr>
          <p:cNvPr id="6" name="Shape 4"/>
          <p:cNvSpPr/>
          <p:nvPr/>
        </p:nvSpPr>
        <p:spPr>
          <a:xfrm>
            <a:off x="457200" y="2743200"/>
            <a:ext cx="3657600" cy="1691640"/>
          </a:xfrm>
          <a:prstGeom prst="rect">
            <a:avLst/>
          </a:prstGeom>
          <a:solidFill>
            <a:srgbClr val="FFFFFF"/>
          </a:solidFill>
          <a:ln w="6350">
            <a:solidFill>
              <a:srgbClr val="D9DEE7"/>
            </a:solidFill>
            <a:prstDash val="solid"/>
          </a:ln>
          <a:effectLst>
            <a:outerShdw sx="100000" sy="100000" kx="0" ky="0" algn="bl" rotWithShape="0" blurRad="76200" dist="12700" dir="8100000">
              <a:srgbClr val="0F2A52">
                <a:alpha val="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57200" y="2743200"/>
            <a:ext cx="73152" cy="1691640"/>
          </a:xfrm>
          <a:prstGeom prst="rect">
            <a:avLst/>
          </a:prstGeom>
          <a:solidFill>
            <a:srgbClr val="E6A528"/>
          </a:solidFill>
          <a:ln/>
        </p:spPr>
      </p:sp>
      <p:sp>
        <p:nvSpPr>
          <p:cNvPr id="8" name="Text 6"/>
          <p:cNvSpPr/>
          <p:nvPr/>
        </p:nvSpPr>
        <p:spPr>
          <a:xfrm>
            <a:off x="685800" y="2880360"/>
            <a:ext cx="14630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000" b="1" dirty="0">
                <a:solidFill>
                  <a:srgbClr val="0F2A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10</a:t>
            </a:r>
            <a:endParaRPr lang="en-US" sz="6000" dirty="0"/>
          </a:p>
        </p:txBody>
      </p:sp>
      <p:sp>
        <p:nvSpPr>
          <p:cNvPr id="9" name="Text 7"/>
          <p:cNvSpPr/>
          <p:nvPr/>
        </p:nvSpPr>
        <p:spPr>
          <a:xfrm>
            <a:off x="2194560" y="320040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6A52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子代理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685800" y="3931920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B556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含 ResourceLibrarian，分工明确、协同决策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389120" y="2743200"/>
            <a:ext cx="3657600" cy="1691640"/>
          </a:xfrm>
          <a:prstGeom prst="rect">
            <a:avLst/>
          </a:prstGeom>
          <a:solidFill>
            <a:srgbClr val="FFFFFF"/>
          </a:solidFill>
          <a:ln w="6350">
            <a:solidFill>
              <a:srgbClr val="D9DEE7"/>
            </a:solidFill>
            <a:prstDash val="solid"/>
          </a:ln>
          <a:effectLst>
            <a:outerShdw sx="100000" sy="100000" kx="0" ky="0" algn="bl" rotWithShape="0" blurRad="76200" dist="12700" dir="8100000">
              <a:srgbClr val="0F2A52">
                <a:alpha val="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389120" y="2743200"/>
            <a:ext cx="73152" cy="1691640"/>
          </a:xfrm>
          <a:prstGeom prst="rect">
            <a:avLst/>
          </a:prstGeom>
          <a:solidFill>
            <a:srgbClr val="E6A528"/>
          </a:solidFill>
          <a:ln/>
        </p:spPr>
      </p:sp>
      <p:sp>
        <p:nvSpPr>
          <p:cNvPr id="13" name="Text 11"/>
          <p:cNvSpPr/>
          <p:nvPr/>
        </p:nvSpPr>
        <p:spPr>
          <a:xfrm>
            <a:off x="4617720" y="2880360"/>
            <a:ext cx="14630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000" b="1" dirty="0">
                <a:solidFill>
                  <a:srgbClr val="0F2A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35</a:t>
            </a:r>
            <a:endParaRPr lang="en-US" sz="6000" dirty="0"/>
          </a:p>
        </p:txBody>
      </p:sp>
      <p:sp>
        <p:nvSpPr>
          <p:cNvPr id="14" name="Text 12"/>
          <p:cNvSpPr/>
          <p:nvPr/>
        </p:nvSpPr>
        <p:spPr>
          <a:xfrm>
            <a:off x="6126480" y="320040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6A52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学科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4617720" y="3931920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B556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覆盖 K12 主干，从语文作文到物理压轴题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8321040" y="2743200"/>
            <a:ext cx="3657600" cy="1691640"/>
          </a:xfrm>
          <a:prstGeom prst="rect">
            <a:avLst/>
          </a:prstGeom>
          <a:solidFill>
            <a:srgbClr val="FFFFFF"/>
          </a:solidFill>
          <a:ln w="6350">
            <a:solidFill>
              <a:srgbClr val="D9DEE7"/>
            </a:solidFill>
            <a:prstDash val="solid"/>
          </a:ln>
          <a:effectLst>
            <a:outerShdw sx="100000" sy="100000" kx="0" ky="0" algn="bl" rotWithShape="0" blurRad="76200" dist="12700" dir="8100000">
              <a:srgbClr val="0F2A52">
                <a:alpha val="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8321040" y="2743200"/>
            <a:ext cx="73152" cy="1691640"/>
          </a:xfrm>
          <a:prstGeom prst="rect">
            <a:avLst/>
          </a:prstGeom>
          <a:solidFill>
            <a:srgbClr val="E6A528"/>
          </a:solidFill>
          <a:ln/>
        </p:spPr>
      </p:sp>
      <p:sp>
        <p:nvSpPr>
          <p:cNvPr id="18" name="Text 16"/>
          <p:cNvSpPr/>
          <p:nvPr/>
        </p:nvSpPr>
        <p:spPr>
          <a:xfrm>
            <a:off x="8549640" y="2880360"/>
            <a:ext cx="14630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000" b="1" dirty="0">
                <a:solidFill>
                  <a:srgbClr val="0F2A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17</a:t>
            </a:r>
            <a:endParaRPr lang="en-US" sz="6000" dirty="0"/>
          </a:p>
        </p:txBody>
      </p:sp>
      <p:sp>
        <p:nvSpPr>
          <p:cNvPr id="19" name="Text 17"/>
          <p:cNvSpPr/>
          <p:nvPr/>
        </p:nvSpPr>
        <p:spPr>
          <a:xfrm>
            <a:off x="10058400" y="320040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6A52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维画像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8549640" y="3931920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B556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学生长期画像跨会话保留，情绪与节奏可追溯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457200" y="4572000"/>
            <a:ext cx="3657600" cy="1691640"/>
          </a:xfrm>
          <a:prstGeom prst="rect">
            <a:avLst/>
          </a:prstGeom>
          <a:solidFill>
            <a:srgbClr val="FFFFFF"/>
          </a:solidFill>
          <a:ln w="6350">
            <a:solidFill>
              <a:srgbClr val="D9DEE7"/>
            </a:solidFill>
            <a:prstDash val="solid"/>
          </a:ln>
          <a:effectLst>
            <a:outerShdw sx="100000" sy="100000" kx="0" ky="0" algn="bl" rotWithShape="0" blurRad="76200" dist="12700" dir="8100000">
              <a:srgbClr val="0F2A52">
                <a:alpha val="8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457200" y="4572000"/>
            <a:ext cx="73152" cy="1691640"/>
          </a:xfrm>
          <a:prstGeom prst="rect">
            <a:avLst/>
          </a:prstGeom>
          <a:solidFill>
            <a:srgbClr val="E6A528"/>
          </a:solidFill>
          <a:ln/>
        </p:spPr>
      </p:sp>
      <p:sp>
        <p:nvSpPr>
          <p:cNvPr id="23" name="Text 21"/>
          <p:cNvSpPr/>
          <p:nvPr/>
        </p:nvSpPr>
        <p:spPr>
          <a:xfrm>
            <a:off x="685800" y="4709160"/>
            <a:ext cx="14630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000" b="1" dirty="0">
                <a:solidFill>
                  <a:srgbClr val="0F2A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</a:t>
            </a:r>
            <a:endParaRPr lang="en-US" sz="6000" dirty="0"/>
          </a:p>
        </p:txBody>
      </p:sp>
      <p:sp>
        <p:nvSpPr>
          <p:cNvPr id="24" name="Text 22"/>
          <p:cNvSpPr/>
          <p:nvPr/>
        </p:nvSpPr>
        <p:spPr>
          <a:xfrm>
            <a:off x="2194560" y="502920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6A52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种模式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685800" y="5760720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B556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导入 / 新授 / 巩固 / 复习 / 应用 / 提高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4389120" y="4572000"/>
            <a:ext cx="3657600" cy="1691640"/>
          </a:xfrm>
          <a:prstGeom prst="rect">
            <a:avLst/>
          </a:prstGeom>
          <a:solidFill>
            <a:srgbClr val="FFFFFF"/>
          </a:solidFill>
          <a:ln w="6350">
            <a:solidFill>
              <a:srgbClr val="D9DEE7"/>
            </a:solidFill>
            <a:prstDash val="solid"/>
          </a:ln>
          <a:effectLst>
            <a:outerShdw sx="100000" sy="100000" kx="0" ky="0" algn="bl" rotWithShape="0" blurRad="76200" dist="12700" dir="8100000">
              <a:srgbClr val="0F2A52">
                <a:alpha val="8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4389120" y="4572000"/>
            <a:ext cx="73152" cy="1691640"/>
          </a:xfrm>
          <a:prstGeom prst="rect">
            <a:avLst/>
          </a:prstGeom>
          <a:solidFill>
            <a:srgbClr val="E6A528"/>
          </a:solidFill>
          <a:ln/>
        </p:spPr>
      </p:sp>
      <p:sp>
        <p:nvSpPr>
          <p:cNvPr id="28" name="Text 26"/>
          <p:cNvSpPr/>
          <p:nvPr/>
        </p:nvSpPr>
        <p:spPr>
          <a:xfrm>
            <a:off x="4617720" y="4709160"/>
            <a:ext cx="14630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000" b="1" dirty="0">
                <a:solidFill>
                  <a:srgbClr val="0F2A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8</a:t>
            </a:r>
            <a:endParaRPr lang="en-US" sz="6000" dirty="0"/>
          </a:p>
        </p:txBody>
      </p:sp>
      <p:sp>
        <p:nvSpPr>
          <p:cNvPr id="29" name="Text 27"/>
          <p:cNvSpPr/>
          <p:nvPr/>
        </p:nvSpPr>
        <p:spPr>
          <a:xfrm>
            <a:off x="6126480" y="502920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6A52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层约束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4617720" y="5760720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B556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L0 绝对底线 → L7 自由创造，层层守护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8321040" y="4572000"/>
            <a:ext cx="3657600" cy="1691640"/>
          </a:xfrm>
          <a:prstGeom prst="rect">
            <a:avLst/>
          </a:prstGeom>
          <a:solidFill>
            <a:srgbClr val="FFFFFF"/>
          </a:solidFill>
          <a:ln w="6350">
            <a:solidFill>
              <a:srgbClr val="D9DEE7"/>
            </a:solidFill>
            <a:prstDash val="solid"/>
          </a:ln>
          <a:effectLst>
            <a:outerShdw sx="100000" sy="100000" kx="0" ky="0" algn="bl" rotWithShape="0" blurRad="76200" dist="12700" dir="8100000">
              <a:srgbClr val="0F2A52">
                <a:alpha val="8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8321040" y="4572000"/>
            <a:ext cx="73152" cy="1691640"/>
          </a:xfrm>
          <a:prstGeom prst="rect">
            <a:avLst/>
          </a:prstGeom>
          <a:solidFill>
            <a:srgbClr val="E6A528"/>
          </a:solidFill>
          <a:ln/>
        </p:spPr>
      </p:sp>
      <p:sp>
        <p:nvSpPr>
          <p:cNvPr id="33" name="Text 31"/>
          <p:cNvSpPr/>
          <p:nvPr/>
        </p:nvSpPr>
        <p:spPr>
          <a:xfrm>
            <a:off x="8549640" y="4709160"/>
            <a:ext cx="14630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000" b="1" dirty="0">
                <a:solidFill>
                  <a:srgbClr val="0F2A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30</a:t>
            </a:r>
            <a:endParaRPr lang="en-US" sz="6000" dirty="0"/>
          </a:p>
        </p:txBody>
      </p:sp>
      <p:sp>
        <p:nvSpPr>
          <p:cNvPr id="34" name="Text 32"/>
          <p:cNvSpPr/>
          <p:nvPr/>
        </p:nvSpPr>
        <p:spPr>
          <a:xfrm>
            <a:off x="10058400" y="502920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6A52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轮实测</a:t>
            </a:r>
            <a:endParaRPr lang="en-US" sz="1600" dirty="0"/>
          </a:p>
        </p:txBody>
      </p:sp>
      <p:sp>
        <p:nvSpPr>
          <p:cNvPr id="35" name="Text 33"/>
          <p:cNvSpPr/>
          <p:nvPr/>
        </p:nvSpPr>
        <p:spPr>
          <a:xfrm>
            <a:off x="8549640" y="5760720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B556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教学 15 轮 + 倾诉 15 轮，达标率 100%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457200" y="63550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* 数字来自 v5.1 工程实测，下文将逐项验证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457200" y="6446520"/>
            <a:ext cx="11247120" cy="0"/>
          </a:xfrm>
          <a:prstGeom prst="line">
            <a:avLst/>
          </a:prstGeom>
          <a:noFill/>
          <a:ln w="9525">
            <a:solidFill>
              <a:srgbClr val="D9DEE7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57200" y="651052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PAEG 教育智能体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10972800" y="6510528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 / 14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789920" y="274320"/>
            <a:ext cx="914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3600" b="1" dirty="0">
                <a:solidFill>
                  <a:srgbClr val="E6A52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457200" y="41148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E6A52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PART 03  ·  ARCHITECTURE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96012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2A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10 个子代理 + MCP 双向通道，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457200" y="160020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6A52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让"理解人"这件事可以被工程化。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5212080" y="3566160"/>
            <a:ext cx="1737360" cy="1737360"/>
          </a:xfrm>
          <a:prstGeom prst="ellipse">
            <a:avLst/>
          </a:prstGeom>
          <a:solidFill>
            <a:srgbClr val="0F2A52"/>
          </a:solidFill>
          <a:ln w="25400">
            <a:solidFill>
              <a:srgbClr val="E6A52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212080" y="402336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Agent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5212080" y="4389120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E6A52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循环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983480" y="470916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B8C2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Observe · Think · Act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457200" y="2788920"/>
            <a:ext cx="1828800" cy="1097280"/>
          </a:xfrm>
          <a:prstGeom prst="rect">
            <a:avLst/>
          </a:prstGeom>
          <a:solidFill>
            <a:srgbClr val="FFFFFF"/>
          </a:solidFill>
          <a:ln w="9525">
            <a:solidFill>
              <a:srgbClr val="D9DEE7"/>
            </a:solidFill>
            <a:prstDash val="solid"/>
          </a:ln>
          <a:effectLst>
            <a:outerShdw sx="100000" sy="100000" kx="0" ky="0" algn="bl" rotWithShape="0" blurRad="76200" dist="12700" dir="8100000">
              <a:srgbClr val="0F2A52">
                <a:alpha val="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57200" y="2788920"/>
            <a:ext cx="1828800" cy="73152"/>
          </a:xfrm>
          <a:prstGeom prst="rect">
            <a:avLst/>
          </a:prstGeom>
          <a:solidFill>
            <a:srgbClr val="E6A528"/>
          </a:solidFill>
          <a:ln/>
        </p:spPr>
      </p:sp>
      <p:sp>
        <p:nvSpPr>
          <p:cNvPr id="12" name="Text 10"/>
          <p:cNvSpPr/>
          <p:nvPr/>
        </p:nvSpPr>
        <p:spPr>
          <a:xfrm>
            <a:off x="594360" y="2953512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2A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教学编排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594360" y="3319272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6A52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 模式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114800" y="2606040"/>
            <a:ext cx="1828800" cy="1097280"/>
          </a:xfrm>
          <a:prstGeom prst="rect">
            <a:avLst/>
          </a:prstGeom>
          <a:solidFill>
            <a:srgbClr val="FFFFFF"/>
          </a:solidFill>
          <a:ln w="9525">
            <a:solidFill>
              <a:srgbClr val="D9DEE7"/>
            </a:solidFill>
            <a:prstDash val="solid"/>
          </a:ln>
          <a:effectLst>
            <a:outerShdw sx="100000" sy="100000" kx="0" ky="0" algn="bl" rotWithShape="0" blurRad="76200" dist="12700" dir="8100000">
              <a:srgbClr val="0F2A52">
                <a:alpha val="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114800" y="2606040"/>
            <a:ext cx="1828800" cy="73152"/>
          </a:xfrm>
          <a:prstGeom prst="rect">
            <a:avLst/>
          </a:prstGeom>
          <a:solidFill>
            <a:srgbClr val="E6A528"/>
          </a:solidFill>
          <a:ln/>
        </p:spPr>
      </p:sp>
      <p:sp>
        <p:nvSpPr>
          <p:cNvPr id="16" name="Text 14"/>
          <p:cNvSpPr/>
          <p:nvPr/>
        </p:nvSpPr>
        <p:spPr>
          <a:xfrm>
            <a:off x="4251960" y="2770632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2A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情绪识别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4251960" y="3136392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6A52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L0/L1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7772400" y="2788920"/>
            <a:ext cx="1828800" cy="1097280"/>
          </a:xfrm>
          <a:prstGeom prst="rect">
            <a:avLst/>
          </a:prstGeom>
          <a:solidFill>
            <a:srgbClr val="FFFFFF"/>
          </a:solidFill>
          <a:ln w="9525">
            <a:solidFill>
              <a:srgbClr val="D9DEE7"/>
            </a:solidFill>
            <a:prstDash val="solid"/>
          </a:ln>
          <a:effectLst>
            <a:outerShdw sx="100000" sy="100000" kx="0" ky="0" algn="bl" rotWithShape="0" blurRad="76200" dist="12700" dir="8100000">
              <a:srgbClr val="0F2A52">
                <a:alpha val="8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7772400" y="2788920"/>
            <a:ext cx="1828800" cy="73152"/>
          </a:xfrm>
          <a:prstGeom prst="rect">
            <a:avLst/>
          </a:prstGeom>
          <a:solidFill>
            <a:srgbClr val="E6A528"/>
          </a:solidFill>
          <a:ln/>
        </p:spPr>
      </p:sp>
      <p:sp>
        <p:nvSpPr>
          <p:cNvPr id="20" name="Text 18"/>
          <p:cNvSpPr/>
          <p:nvPr/>
        </p:nvSpPr>
        <p:spPr>
          <a:xfrm>
            <a:off x="7909560" y="2953512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2A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学科知识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7909560" y="3319272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6A52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35 科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457200" y="5166360"/>
            <a:ext cx="1828800" cy="1097280"/>
          </a:xfrm>
          <a:prstGeom prst="rect">
            <a:avLst/>
          </a:prstGeom>
          <a:solidFill>
            <a:srgbClr val="FFFFFF"/>
          </a:solidFill>
          <a:ln w="9525">
            <a:solidFill>
              <a:srgbClr val="D9DEE7"/>
            </a:solidFill>
            <a:prstDash val="solid"/>
          </a:ln>
          <a:effectLst>
            <a:outerShdw sx="100000" sy="100000" kx="0" ky="0" algn="bl" rotWithShape="0" blurRad="76200" dist="12700" dir="8100000">
              <a:srgbClr val="0F2A52">
                <a:alpha val="8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457200" y="5166360"/>
            <a:ext cx="1828800" cy="73152"/>
          </a:xfrm>
          <a:prstGeom prst="rect">
            <a:avLst/>
          </a:prstGeom>
          <a:solidFill>
            <a:srgbClr val="E6A528"/>
          </a:solidFill>
          <a:ln/>
        </p:spPr>
      </p:sp>
      <p:sp>
        <p:nvSpPr>
          <p:cNvPr id="24" name="Text 22"/>
          <p:cNvSpPr/>
          <p:nvPr/>
        </p:nvSpPr>
        <p:spPr>
          <a:xfrm>
            <a:off x="594360" y="5330952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2A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学习画像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594360" y="5696712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6A52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17 维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4114800" y="5349240"/>
            <a:ext cx="1828800" cy="1097280"/>
          </a:xfrm>
          <a:prstGeom prst="rect">
            <a:avLst/>
          </a:prstGeom>
          <a:solidFill>
            <a:srgbClr val="FFFFFF"/>
          </a:solidFill>
          <a:ln w="9525">
            <a:solidFill>
              <a:srgbClr val="D9DEE7"/>
            </a:solidFill>
            <a:prstDash val="solid"/>
          </a:ln>
          <a:effectLst>
            <a:outerShdw sx="100000" sy="100000" kx="0" ky="0" algn="bl" rotWithShape="0" blurRad="76200" dist="12700" dir="8100000">
              <a:srgbClr val="0F2A52">
                <a:alpha val="8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4114800" y="5349240"/>
            <a:ext cx="1828800" cy="73152"/>
          </a:xfrm>
          <a:prstGeom prst="rect">
            <a:avLst/>
          </a:prstGeom>
          <a:solidFill>
            <a:srgbClr val="E6A528"/>
          </a:solidFill>
          <a:ln/>
        </p:spPr>
      </p:sp>
      <p:sp>
        <p:nvSpPr>
          <p:cNvPr id="28" name="Text 26"/>
          <p:cNvSpPr/>
          <p:nvPr/>
        </p:nvSpPr>
        <p:spPr>
          <a:xfrm>
            <a:off x="4251960" y="5513832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2A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资源调度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4251960" y="5879592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6A52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MCP 通道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7772400" y="5166360"/>
            <a:ext cx="1828800" cy="1097280"/>
          </a:xfrm>
          <a:prstGeom prst="rect">
            <a:avLst/>
          </a:prstGeom>
          <a:solidFill>
            <a:srgbClr val="FFFFFF"/>
          </a:solidFill>
          <a:ln w="9525">
            <a:solidFill>
              <a:srgbClr val="D9DEE7"/>
            </a:solidFill>
            <a:prstDash val="solid"/>
          </a:ln>
          <a:effectLst>
            <a:outerShdw sx="100000" sy="100000" kx="0" ky="0" algn="bl" rotWithShape="0" blurRad="76200" dist="12700" dir="8100000">
              <a:srgbClr val="0F2A52">
                <a:alpha val="8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7772400" y="5166360"/>
            <a:ext cx="1828800" cy="73152"/>
          </a:xfrm>
          <a:prstGeom prst="rect">
            <a:avLst/>
          </a:prstGeom>
          <a:solidFill>
            <a:srgbClr val="E6A528"/>
          </a:solidFill>
          <a:ln/>
        </p:spPr>
      </p:sp>
      <p:sp>
        <p:nvSpPr>
          <p:cNvPr id="32" name="Text 30"/>
          <p:cNvSpPr/>
          <p:nvPr/>
        </p:nvSpPr>
        <p:spPr>
          <a:xfrm>
            <a:off x="7909560" y="5330952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2A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安全审计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7909560" y="5696712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6A52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L0 底线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457200" y="6263640"/>
            <a:ext cx="10972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2A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模块化设计 · </a:t>
            </a:r>
            <a:pPr indent="0" marL="0">
              <a:buNone/>
            </a:pPr>
            <a:r>
              <a:rPr lang="en-US" sz="1100" dirty="0">
                <a:solidFill>
                  <a:srgbClr val="4B556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任一子代理可独立替换 · 单元测试覆盖关键决策路径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457200" y="6446520"/>
            <a:ext cx="11247120" cy="0"/>
          </a:xfrm>
          <a:prstGeom prst="line">
            <a:avLst/>
          </a:prstGeom>
          <a:noFill/>
          <a:ln w="9525">
            <a:solidFill>
              <a:srgbClr val="D9DEE7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57200" y="651052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PAEG 教育智能体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10972800" y="6510528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 / 14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789920" y="274320"/>
            <a:ext cx="914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3600" b="1" dirty="0">
                <a:solidFill>
                  <a:srgbClr val="E6A52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04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457200" y="41148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E6A52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PART 03  ·  CONSTRAINT STACK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96012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2A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从 L0 绝对底线到 L7 自由创造，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457200" y="160020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6A52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8 层约束守护每一次回答。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1965960" y="2423160"/>
            <a:ext cx="8229600" cy="411480"/>
          </a:xfrm>
          <a:prstGeom prst="rect">
            <a:avLst/>
          </a:prstGeom>
          <a:solidFill>
            <a:srgbClr val="DBEAFE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103120" y="242316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81A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L7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2606040" y="2423160"/>
            <a:ext cx="1371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2A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自由创造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3977640" y="2423160"/>
            <a:ext cx="5303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B556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鼓励联想、跨学科、生活化类比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372600" y="2514600"/>
            <a:ext cx="731520" cy="228600"/>
          </a:xfrm>
          <a:prstGeom prst="rect">
            <a:avLst/>
          </a:prstGeom>
          <a:solidFill>
            <a:srgbClr val="0F2A52"/>
          </a:solidFill>
          <a:ln/>
        </p:spPr>
      </p:sp>
      <p:sp>
        <p:nvSpPr>
          <p:cNvPr id="11" name="Text 9"/>
          <p:cNvSpPr/>
          <p:nvPr/>
        </p:nvSpPr>
        <p:spPr>
          <a:xfrm>
            <a:off x="9372600" y="2514600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宽松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2148840" y="2880360"/>
            <a:ext cx="7863840" cy="411480"/>
          </a:xfrm>
          <a:prstGeom prst="rect">
            <a:avLst/>
          </a:prstGeom>
          <a:solidFill>
            <a:srgbClr val="BFDBFE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286000" y="288036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81A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L6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2788920" y="2880360"/>
            <a:ext cx="1371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2A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风格塑造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4160520" y="2880360"/>
            <a:ext cx="4937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B556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鼓励式语言、节奏、比喻偏好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331720" y="3337560"/>
            <a:ext cx="7498080" cy="411480"/>
          </a:xfrm>
          <a:prstGeom prst="rect">
            <a:avLst/>
          </a:prstGeom>
          <a:solidFill>
            <a:srgbClr val="FDE68A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468880" y="333756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81A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L5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2971800" y="3337560"/>
            <a:ext cx="1371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2A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教学策略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4343400" y="3337560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B556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导入/新授/巩固/复习/应用/提高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2514600" y="3794760"/>
            <a:ext cx="7132320" cy="411480"/>
          </a:xfrm>
          <a:prstGeom prst="rect">
            <a:avLst/>
          </a:prstGeom>
          <a:solidFill>
            <a:srgbClr val="FCD34D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651760" y="379476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81A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L4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3154680" y="3794760"/>
            <a:ext cx="1371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2A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学科规范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4526280" y="3794760"/>
            <a:ext cx="4206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B556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公式、术语、解题步骤正确性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2697480" y="4251960"/>
            <a:ext cx="6766560" cy="411480"/>
          </a:xfrm>
          <a:prstGeom prst="rect">
            <a:avLst/>
          </a:prstGeom>
          <a:solidFill>
            <a:srgbClr val="FCA5A5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2834640" y="425196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81A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L3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3337560" y="4251960"/>
            <a:ext cx="1371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2A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学习画像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4709160" y="4251960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B556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对接 17 维画像，因材施教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2880360" y="4709160"/>
            <a:ext cx="6400800" cy="411480"/>
          </a:xfrm>
          <a:prstGeom prst="rect">
            <a:avLst/>
          </a:prstGeom>
          <a:solidFill>
            <a:srgbClr val="F87171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017520" y="470916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81A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L2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3520440" y="4709160"/>
            <a:ext cx="1371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2A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上下文连贯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4892040" y="4709160"/>
            <a:ext cx="3474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B556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长对话记忆，前情提要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3063240" y="5166360"/>
            <a:ext cx="6035040" cy="411480"/>
          </a:xfrm>
          <a:prstGeom prst="rect">
            <a:avLst/>
          </a:prstGeom>
          <a:solidFill>
            <a:srgbClr val="DC2626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200400" y="516636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81A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L1</a:t>
            </a:r>
            <a:endParaRPr lang="en-US" sz="1400" dirty="0"/>
          </a:p>
        </p:txBody>
      </p:sp>
      <p:sp>
        <p:nvSpPr>
          <p:cNvPr id="34" name="Text 32"/>
          <p:cNvSpPr/>
          <p:nvPr/>
        </p:nvSpPr>
        <p:spPr>
          <a:xfrm>
            <a:off x="3703320" y="5166360"/>
            <a:ext cx="1371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2A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情绪安全</a:t>
            </a:r>
            <a:endParaRPr lang="en-US" sz="1300" dirty="0"/>
          </a:p>
        </p:txBody>
      </p:sp>
      <p:sp>
        <p:nvSpPr>
          <p:cNvPr id="35" name="Text 33"/>
          <p:cNvSpPr/>
          <p:nvPr/>
        </p:nvSpPr>
        <p:spPr>
          <a:xfrm>
            <a:off x="5074920" y="5166360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B556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识别"撑不住" → 降速 / 暂停 / 追问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8275320" y="5257800"/>
            <a:ext cx="731520" cy="228600"/>
          </a:xfrm>
          <a:prstGeom prst="rect">
            <a:avLst/>
          </a:prstGeom>
          <a:solidFill>
            <a:srgbClr val="0F2A52"/>
          </a:solidFill>
          <a:ln/>
        </p:spPr>
      </p:sp>
      <p:sp>
        <p:nvSpPr>
          <p:cNvPr id="37" name="Text 35"/>
          <p:cNvSpPr/>
          <p:nvPr/>
        </p:nvSpPr>
        <p:spPr>
          <a:xfrm>
            <a:off x="8275320" y="5257800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红线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3246120" y="5623560"/>
            <a:ext cx="5669280" cy="411480"/>
          </a:xfrm>
          <a:prstGeom prst="rect">
            <a:avLst/>
          </a:prstGeom>
          <a:solidFill>
            <a:srgbClr val="991B1B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3383280" y="562356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L0</a:t>
            </a:r>
            <a:endParaRPr lang="en-US" sz="1400" dirty="0"/>
          </a:p>
        </p:txBody>
      </p:sp>
      <p:sp>
        <p:nvSpPr>
          <p:cNvPr id="40" name="Text 38"/>
          <p:cNvSpPr/>
          <p:nvPr/>
        </p:nvSpPr>
        <p:spPr>
          <a:xfrm>
            <a:off x="3886200" y="5623560"/>
            <a:ext cx="1371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绝对底线</a:t>
            </a:r>
            <a:endParaRPr lang="en-US" sz="1300" dirty="0"/>
          </a:p>
        </p:txBody>
      </p:sp>
      <p:sp>
        <p:nvSpPr>
          <p:cNvPr id="41" name="Text 39"/>
          <p:cNvSpPr/>
          <p:nvPr/>
        </p:nvSpPr>
        <p:spPr>
          <a:xfrm>
            <a:off x="5257800" y="5623560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ECAC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隐私 / 自伤干预 / 价值观偏差</a:t>
            </a:r>
            <a:endParaRPr lang="en-US" sz="1100" dirty="0"/>
          </a:p>
        </p:txBody>
      </p:sp>
      <p:sp>
        <p:nvSpPr>
          <p:cNvPr id="42" name="Shape 40"/>
          <p:cNvSpPr/>
          <p:nvPr/>
        </p:nvSpPr>
        <p:spPr>
          <a:xfrm>
            <a:off x="8092440" y="5715000"/>
            <a:ext cx="731520" cy="228600"/>
          </a:xfrm>
          <a:prstGeom prst="rect">
            <a:avLst/>
          </a:prstGeom>
          <a:solidFill>
            <a:srgbClr val="E6A528"/>
          </a:solidFill>
          <a:ln/>
        </p:spPr>
      </p:sp>
      <p:sp>
        <p:nvSpPr>
          <p:cNvPr id="43" name="Text 41"/>
          <p:cNvSpPr/>
          <p:nvPr/>
        </p:nvSpPr>
        <p:spPr>
          <a:xfrm>
            <a:off x="8092440" y="5715000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F2A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不可越</a:t>
            </a:r>
            <a:endParaRPr lang="en-US" sz="900" dirty="0"/>
          </a:p>
        </p:txBody>
      </p:sp>
      <p:sp>
        <p:nvSpPr>
          <p:cNvPr id="44" name="Text 42"/>
          <p:cNvSpPr/>
          <p:nvPr/>
        </p:nvSpPr>
        <p:spPr>
          <a:xfrm>
            <a:off x="457200" y="2468880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B556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宽松</a:t>
            </a:r>
            <a:endParaRPr lang="en-US" sz="1100" dirty="0"/>
          </a:p>
        </p:txBody>
      </p:sp>
      <p:sp>
        <p:nvSpPr>
          <p:cNvPr id="45" name="Shape 43"/>
          <p:cNvSpPr/>
          <p:nvPr/>
        </p:nvSpPr>
        <p:spPr>
          <a:xfrm>
            <a:off x="914400" y="2606040"/>
            <a:ext cx="274320" cy="0"/>
          </a:xfrm>
          <a:prstGeom prst="line">
            <a:avLst/>
          </a:prstGeom>
          <a:noFill/>
          <a:ln w="19050">
            <a:solidFill>
              <a:srgbClr val="4B5563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457200" y="5989320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2A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严格</a:t>
            </a:r>
            <a:endParaRPr lang="en-US" sz="1100" dirty="0"/>
          </a:p>
        </p:txBody>
      </p:sp>
      <p:sp>
        <p:nvSpPr>
          <p:cNvPr id="47" name="Shape 45"/>
          <p:cNvSpPr/>
          <p:nvPr/>
        </p:nvSpPr>
        <p:spPr>
          <a:xfrm>
            <a:off x="10424160" y="2423160"/>
            <a:ext cx="1463040" cy="3657600"/>
          </a:xfrm>
          <a:prstGeom prst="rect">
            <a:avLst/>
          </a:prstGeom>
          <a:solidFill>
            <a:srgbClr val="FFFFFF"/>
          </a:solidFill>
          <a:ln w="6350">
            <a:solidFill>
              <a:srgbClr val="D9DEE7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10424160" y="246888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2A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教学阶段</a:t>
            </a:r>
            <a:endParaRPr lang="en-US" sz="1100" dirty="0"/>
          </a:p>
        </p:txBody>
      </p:sp>
      <p:sp>
        <p:nvSpPr>
          <p:cNvPr id="49" name="Text 47"/>
          <p:cNvSpPr/>
          <p:nvPr/>
        </p:nvSpPr>
        <p:spPr>
          <a:xfrm>
            <a:off x="10424160" y="2697480"/>
            <a:ext cx="1463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E6A52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映射</a:t>
            </a:r>
            <a:endParaRPr lang="en-US" sz="900" dirty="0"/>
          </a:p>
        </p:txBody>
      </p:sp>
      <p:sp>
        <p:nvSpPr>
          <p:cNvPr id="50" name="Text 48"/>
          <p:cNvSpPr/>
          <p:nvPr/>
        </p:nvSpPr>
        <p:spPr>
          <a:xfrm>
            <a:off x="10515600" y="310896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导入 → L5</a:t>
            </a:r>
            <a:endParaRPr lang="en-US" sz="1000" dirty="0"/>
          </a:p>
        </p:txBody>
      </p:sp>
      <p:sp>
        <p:nvSpPr>
          <p:cNvPr id="51" name="Text 49"/>
          <p:cNvSpPr/>
          <p:nvPr/>
        </p:nvSpPr>
        <p:spPr>
          <a:xfrm>
            <a:off x="10515600" y="342900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新授 → L5</a:t>
            </a:r>
            <a:endParaRPr lang="en-US" sz="1000" dirty="0"/>
          </a:p>
        </p:txBody>
      </p:sp>
      <p:sp>
        <p:nvSpPr>
          <p:cNvPr id="52" name="Text 50"/>
          <p:cNvSpPr/>
          <p:nvPr/>
        </p:nvSpPr>
        <p:spPr>
          <a:xfrm>
            <a:off x="10515600" y="374904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巩固 → L4</a:t>
            </a:r>
            <a:endParaRPr lang="en-US" sz="1000" dirty="0"/>
          </a:p>
        </p:txBody>
      </p:sp>
      <p:sp>
        <p:nvSpPr>
          <p:cNvPr id="53" name="Text 51"/>
          <p:cNvSpPr/>
          <p:nvPr/>
        </p:nvSpPr>
        <p:spPr>
          <a:xfrm>
            <a:off x="10515600" y="406908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复习 → L3</a:t>
            </a:r>
            <a:endParaRPr lang="en-US" sz="1000" dirty="0"/>
          </a:p>
        </p:txBody>
      </p:sp>
      <p:sp>
        <p:nvSpPr>
          <p:cNvPr id="54" name="Text 52"/>
          <p:cNvSpPr/>
          <p:nvPr/>
        </p:nvSpPr>
        <p:spPr>
          <a:xfrm>
            <a:off x="10515600" y="438912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应用 → L4</a:t>
            </a:r>
            <a:endParaRPr lang="en-US" sz="1000" dirty="0"/>
          </a:p>
        </p:txBody>
      </p:sp>
      <p:sp>
        <p:nvSpPr>
          <p:cNvPr id="55" name="Text 53"/>
          <p:cNvSpPr/>
          <p:nvPr/>
        </p:nvSpPr>
        <p:spPr>
          <a:xfrm>
            <a:off x="10515600" y="470916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提高 → L6</a:t>
            </a:r>
            <a:endParaRPr lang="en-US" sz="1000" dirty="0"/>
          </a:p>
        </p:txBody>
      </p:sp>
      <p:sp>
        <p:nvSpPr>
          <p:cNvPr id="56" name="Text 54"/>
          <p:cNvSpPr/>
          <p:nvPr/>
        </p:nvSpPr>
        <p:spPr>
          <a:xfrm>
            <a:off x="10515600" y="502920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总结 → L2</a:t>
            </a:r>
            <a:endParaRPr lang="en-US" sz="1000" dirty="0"/>
          </a:p>
        </p:txBody>
      </p:sp>
      <p:sp>
        <p:nvSpPr>
          <p:cNvPr id="57" name="Shape 55"/>
          <p:cNvSpPr/>
          <p:nvPr/>
        </p:nvSpPr>
        <p:spPr>
          <a:xfrm>
            <a:off x="457200" y="6446520"/>
            <a:ext cx="11247120" cy="0"/>
          </a:xfrm>
          <a:prstGeom prst="line">
            <a:avLst/>
          </a:prstGeom>
          <a:noFill/>
          <a:ln w="9525">
            <a:solidFill>
              <a:srgbClr val="D9DEE7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457200" y="651052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PAEG 教育智能体</a:t>
            </a:r>
            <a:endParaRPr lang="en-US" sz="900" dirty="0"/>
          </a:p>
        </p:txBody>
      </p:sp>
      <p:sp>
        <p:nvSpPr>
          <p:cNvPr id="59" name="Text 57"/>
          <p:cNvSpPr/>
          <p:nvPr/>
        </p:nvSpPr>
        <p:spPr>
          <a:xfrm>
            <a:off x="10972800" y="6510528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 / 14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789920" y="274320"/>
            <a:ext cx="914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3600" b="1" dirty="0">
                <a:solidFill>
                  <a:srgbClr val="E6A52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05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457200" y="41148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E6A52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PART 03  ·  LANGUAGE LAYERS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96012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2A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L1 是什么 · L2 怎么做 · L3 为什么——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457200" y="160020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6A52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三层语言规范覆盖 8 个模块。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457200" y="2743200"/>
            <a:ext cx="3657600" cy="3383280"/>
          </a:xfrm>
          <a:prstGeom prst="rect">
            <a:avLst/>
          </a:prstGeom>
          <a:solidFill>
            <a:srgbClr val="FFFFFF"/>
          </a:solidFill>
          <a:ln w="9525">
            <a:solidFill>
              <a:srgbClr val="D9DEE7"/>
            </a:solidFill>
            <a:prstDash val="solid"/>
          </a:ln>
          <a:effectLst>
            <a:outerShdw sx="100000" sy="100000" kx="0" ky="0" algn="bl" rotWithShape="0" blurRad="76200" dist="12700" dir="8100000">
              <a:srgbClr val="0F2A52">
                <a:alpha val="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57200" y="2743200"/>
            <a:ext cx="3657600" cy="640080"/>
          </a:xfrm>
          <a:prstGeom prst="rect">
            <a:avLst/>
          </a:prstGeom>
          <a:solidFill>
            <a:srgbClr val="0F2A52"/>
          </a:solidFill>
          <a:ln/>
        </p:spPr>
      </p:sp>
      <p:sp>
        <p:nvSpPr>
          <p:cNvPr id="8" name="Text 6"/>
          <p:cNvSpPr/>
          <p:nvPr/>
        </p:nvSpPr>
        <p:spPr>
          <a:xfrm>
            <a:off x="640080" y="2788920"/>
            <a:ext cx="914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L1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1645920" y="283464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是什么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645920" y="3108960"/>
            <a:ext cx="2377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ECAC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What · 概念锚定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685800" y="352044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E6A52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教学示例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685800" y="3794760"/>
            <a:ext cx="3246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“分离定律是……基因在形成配子时彼此分开”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685800" y="457200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E6A52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覆盖模块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685800" y="4892040"/>
            <a:ext cx="164592" cy="164592"/>
          </a:xfrm>
          <a:prstGeom prst="ellipse">
            <a:avLst/>
          </a:prstGeom>
          <a:solidFill>
            <a:srgbClr val="0F2A52"/>
          </a:solidFill>
          <a:ln/>
        </p:spPr>
      </p:sp>
      <p:sp>
        <p:nvSpPr>
          <p:cNvPr id="15" name="Text 13"/>
          <p:cNvSpPr/>
          <p:nvPr/>
        </p:nvSpPr>
        <p:spPr>
          <a:xfrm>
            <a:off x="914400" y="4846320"/>
            <a:ext cx="3017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概念引入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85800" y="5239512"/>
            <a:ext cx="164592" cy="164592"/>
          </a:xfrm>
          <a:prstGeom prst="ellipse">
            <a:avLst/>
          </a:prstGeom>
          <a:solidFill>
            <a:srgbClr val="0F2A52"/>
          </a:solidFill>
          <a:ln/>
        </p:spPr>
      </p:sp>
      <p:sp>
        <p:nvSpPr>
          <p:cNvPr id="17" name="Text 15"/>
          <p:cNvSpPr/>
          <p:nvPr/>
        </p:nvSpPr>
        <p:spPr>
          <a:xfrm>
            <a:off x="914400" y="5193792"/>
            <a:ext cx="3017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术语对齐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685800" y="5586984"/>
            <a:ext cx="164592" cy="164592"/>
          </a:xfrm>
          <a:prstGeom prst="ellipse">
            <a:avLst/>
          </a:prstGeom>
          <a:solidFill>
            <a:srgbClr val="0F2A52"/>
          </a:solidFill>
          <a:ln/>
        </p:spPr>
      </p:sp>
      <p:sp>
        <p:nvSpPr>
          <p:cNvPr id="19" name="Text 17"/>
          <p:cNvSpPr/>
          <p:nvPr/>
        </p:nvSpPr>
        <p:spPr>
          <a:xfrm>
            <a:off x="914400" y="5541264"/>
            <a:ext cx="3017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直觉建立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4297680" y="2743200"/>
            <a:ext cx="3657600" cy="3383280"/>
          </a:xfrm>
          <a:prstGeom prst="rect">
            <a:avLst/>
          </a:prstGeom>
          <a:solidFill>
            <a:srgbClr val="FFFFFF"/>
          </a:solidFill>
          <a:ln w="9525">
            <a:solidFill>
              <a:srgbClr val="D9DEE7"/>
            </a:solidFill>
            <a:prstDash val="solid"/>
          </a:ln>
          <a:effectLst>
            <a:outerShdw sx="100000" sy="100000" kx="0" ky="0" algn="bl" rotWithShape="0" blurRad="76200" dist="12700" dir="8100000">
              <a:srgbClr val="0F2A52">
                <a:alpha val="8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297680" y="2743200"/>
            <a:ext cx="3657600" cy="640080"/>
          </a:xfrm>
          <a:prstGeom prst="rect">
            <a:avLst/>
          </a:prstGeom>
          <a:solidFill>
            <a:srgbClr val="E6A528"/>
          </a:solidFill>
          <a:ln/>
        </p:spPr>
      </p:sp>
      <p:sp>
        <p:nvSpPr>
          <p:cNvPr id="22" name="Text 20"/>
          <p:cNvSpPr/>
          <p:nvPr/>
        </p:nvSpPr>
        <p:spPr>
          <a:xfrm>
            <a:off x="4480560" y="2788920"/>
            <a:ext cx="914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L2</a:t>
            </a:r>
            <a:endParaRPr lang="en-US" sz="2800" dirty="0"/>
          </a:p>
        </p:txBody>
      </p:sp>
      <p:sp>
        <p:nvSpPr>
          <p:cNvPr id="23" name="Text 21"/>
          <p:cNvSpPr/>
          <p:nvPr/>
        </p:nvSpPr>
        <p:spPr>
          <a:xfrm>
            <a:off x="5486400" y="283464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怎么做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5486400" y="3108960"/>
            <a:ext cx="2377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ECAC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How · 步骤拆解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4526280" y="352044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E6A52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教学示例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4526280" y="3794760"/>
            <a:ext cx="3246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“先写出 Bb × Bb 的配子，再做 2×2 棋盘”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4526280" y="457200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E6A52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覆盖模块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4526280" y="4892040"/>
            <a:ext cx="164592" cy="164592"/>
          </a:xfrm>
          <a:prstGeom prst="ellipse">
            <a:avLst/>
          </a:prstGeom>
          <a:solidFill>
            <a:srgbClr val="E6A528"/>
          </a:solidFill>
          <a:ln/>
        </p:spPr>
      </p:sp>
      <p:sp>
        <p:nvSpPr>
          <p:cNvPr id="29" name="Text 27"/>
          <p:cNvSpPr/>
          <p:nvPr/>
        </p:nvSpPr>
        <p:spPr>
          <a:xfrm>
            <a:off x="4754880" y="4846320"/>
            <a:ext cx="3017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步骤分解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4526280" y="5239512"/>
            <a:ext cx="164592" cy="164592"/>
          </a:xfrm>
          <a:prstGeom prst="ellipse">
            <a:avLst/>
          </a:prstGeom>
          <a:solidFill>
            <a:srgbClr val="E6A528"/>
          </a:solidFill>
          <a:ln/>
        </p:spPr>
      </p:sp>
      <p:sp>
        <p:nvSpPr>
          <p:cNvPr id="31" name="Text 29"/>
          <p:cNvSpPr/>
          <p:nvPr/>
        </p:nvSpPr>
        <p:spPr>
          <a:xfrm>
            <a:off x="4754880" y="5193792"/>
            <a:ext cx="3017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思维脚手架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4526280" y="5586984"/>
            <a:ext cx="164592" cy="164592"/>
          </a:xfrm>
          <a:prstGeom prst="ellipse">
            <a:avLst/>
          </a:prstGeom>
          <a:solidFill>
            <a:srgbClr val="E6A528"/>
          </a:solidFill>
          <a:ln/>
        </p:spPr>
      </p:sp>
      <p:sp>
        <p:nvSpPr>
          <p:cNvPr id="33" name="Text 31"/>
          <p:cNvSpPr/>
          <p:nvPr/>
        </p:nvSpPr>
        <p:spPr>
          <a:xfrm>
            <a:off x="4754880" y="5541264"/>
            <a:ext cx="3017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练习巩固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8138160" y="2743200"/>
            <a:ext cx="3657600" cy="3383280"/>
          </a:xfrm>
          <a:prstGeom prst="rect">
            <a:avLst/>
          </a:prstGeom>
          <a:solidFill>
            <a:srgbClr val="FFFFFF"/>
          </a:solidFill>
          <a:ln w="9525">
            <a:solidFill>
              <a:srgbClr val="D9DEE7"/>
            </a:solidFill>
            <a:prstDash val="solid"/>
          </a:ln>
          <a:effectLst>
            <a:outerShdw sx="100000" sy="100000" kx="0" ky="0" algn="bl" rotWithShape="0" blurRad="76200" dist="12700" dir="8100000">
              <a:srgbClr val="0F2A52">
                <a:alpha val="8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8138160" y="2743200"/>
            <a:ext cx="3657600" cy="640080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36" name="Text 34"/>
          <p:cNvSpPr/>
          <p:nvPr/>
        </p:nvSpPr>
        <p:spPr>
          <a:xfrm>
            <a:off x="8321040" y="2788920"/>
            <a:ext cx="914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L3</a:t>
            </a:r>
            <a:endParaRPr lang="en-US" sz="2800" dirty="0"/>
          </a:p>
        </p:txBody>
      </p:sp>
      <p:sp>
        <p:nvSpPr>
          <p:cNvPr id="37" name="Text 35"/>
          <p:cNvSpPr/>
          <p:nvPr/>
        </p:nvSpPr>
        <p:spPr>
          <a:xfrm>
            <a:off x="9326880" y="283464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为什么</a:t>
            </a:r>
            <a:endParaRPr lang="en-US" sz="1600" dirty="0"/>
          </a:p>
        </p:txBody>
      </p:sp>
      <p:sp>
        <p:nvSpPr>
          <p:cNvPr id="38" name="Text 36"/>
          <p:cNvSpPr/>
          <p:nvPr/>
        </p:nvSpPr>
        <p:spPr>
          <a:xfrm>
            <a:off x="9326880" y="3108960"/>
            <a:ext cx="2377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ECAC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Why · 因果与边界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8366760" y="352044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E6A52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教学示例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8366760" y="3794760"/>
            <a:ext cx="3246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“为什么 Bb 看起来像 B？这背后是显性机制”</a:t>
            </a:r>
            <a:endParaRPr lang="en-US" sz="1200" dirty="0"/>
          </a:p>
        </p:txBody>
      </p:sp>
      <p:sp>
        <p:nvSpPr>
          <p:cNvPr id="41" name="Text 39"/>
          <p:cNvSpPr/>
          <p:nvPr/>
        </p:nvSpPr>
        <p:spPr>
          <a:xfrm>
            <a:off x="8366760" y="457200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E6A52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覆盖模块</a:t>
            </a:r>
            <a:endParaRPr lang="en-US" sz="1000" dirty="0"/>
          </a:p>
        </p:txBody>
      </p:sp>
      <p:sp>
        <p:nvSpPr>
          <p:cNvPr id="42" name="Shape 40"/>
          <p:cNvSpPr/>
          <p:nvPr/>
        </p:nvSpPr>
        <p:spPr>
          <a:xfrm>
            <a:off x="8366760" y="4892040"/>
            <a:ext cx="164592" cy="164592"/>
          </a:xfrm>
          <a:prstGeom prst="ellipse">
            <a:avLst/>
          </a:prstGeom>
          <a:solidFill>
            <a:srgbClr val="DC2626"/>
          </a:solidFill>
          <a:ln/>
        </p:spPr>
      </p:sp>
      <p:sp>
        <p:nvSpPr>
          <p:cNvPr id="43" name="Text 41"/>
          <p:cNvSpPr/>
          <p:nvPr/>
        </p:nvSpPr>
        <p:spPr>
          <a:xfrm>
            <a:off x="8595360" y="4846320"/>
            <a:ext cx="3017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因果追问</a:t>
            </a:r>
            <a:endParaRPr lang="en-US" sz="1200" dirty="0"/>
          </a:p>
        </p:txBody>
      </p:sp>
      <p:sp>
        <p:nvSpPr>
          <p:cNvPr id="44" name="Shape 42"/>
          <p:cNvSpPr/>
          <p:nvPr/>
        </p:nvSpPr>
        <p:spPr>
          <a:xfrm>
            <a:off x="8366760" y="5239512"/>
            <a:ext cx="164592" cy="164592"/>
          </a:xfrm>
          <a:prstGeom prst="ellipse">
            <a:avLst/>
          </a:prstGeom>
          <a:solidFill>
            <a:srgbClr val="DC2626"/>
          </a:solidFill>
          <a:ln/>
        </p:spPr>
      </p:sp>
      <p:sp>
        <p:nvSpPr>
          <p:cNvPr id="45" name="Text 43"/>
          <p:cNvSpPr/>
          <p:nvPr/>
        </p:nvSpPr>
        <p:spPr>
          <a:xfrm>
            <a:off x="8595360" y="5193792"/>
            <a:ext cx="3017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跨学科类比</a:t>
            </a:r>
            <a:endParaRPr lang="en-US" sz="1200" dirty="0"/>
          </a:p>
        </p:txBody>
      </p:sp>
      <p:sp>
        <p:nvSpPr>
          <p:cNvPr id="46" name="Shape 44"/>
          <p:cNvSpPr/>
          <p:nvPr/>
        </p:nvSpPr>
        <p:spPr>
          <a:xfrm>
            <a:off x="8366760" y="5586984"/>
            <a:ext cx="164592" cy="164592"/>
          </a:xfrm>
          <a:prstGeom prst="ellipse">
            <a:avLst/>
          </a:prstGeom>
          <a:solidFill>
            <a:srgbClr val="DC2626"/>
          </a:solidFill>
          <a:ln/>
        </p:spPr>
      </p:sp>
      <p:sp>
        <p:nvSpPr>
          <p:cNvPr id="47" name="Text 45"/>
          <p:cNvSpPr/>
          <p:nvPr/>
        </p:nvSpPr>
        <p:spPr>
          <a:xfrm>
            <a:off x="8595360" y="5541264"/>
            <a:ext cx="3017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挑战与扩展</a:t>
            </a:r>
            <a:endParaRPr lang="en-US" sz="1200" dirty="0"/>
          </a:p>
        </p:txBody>
      </p:sp>
      <p:sp>
        <p:nvSpPr>
          <p:cNvPr id="48" name="Text 46"/>
          <p:cNvSpPr/>
          <p:nvPr/>
        </p:nvSpPr>
        <p:spPr>
          <a:xfrm>
            <a:off x="457200" y="630936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i="1" dirty="0">
                <a:solidFill>
                  <a:srgbClr val="0F2A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三层语言规范 × 8 模块 × 6 模式 = 可被评估的"会教"</a:t>
            </a:r>
            <a:endParaRPr lang="en-US" sz="1200" dirty="0"/>
          </a:p>
        </p:txBody>
      </p:sp>
      <p:sp>
        <p:nvSpPr>
          <p:cNvPr id="49" name="Shape 47"/>
          <p:cNvSpPr/>
          <p:nvPr/>
        </p:nvSpPr>
        <p:spPr>
          <a:xfrm>
            <a:off x="457200" y="6446520"/>
            <a:ext cx="11247120" cy="0"/>
          </a:xfrm>
          <a:prstGeom prst="line">
            <a:avLst/>
          </a:prstGeom>
          <a:noFill/>
          <a:ln w="9525">
            <a:solidFill>
              <a:srgbClr val="D9DEE7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457200" y="651052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PAEG 教育智能体</a:t>
            </a:r>
            <a:endParaRPr lang="en-US" sz="900" dirty="0"/>
          </a:p>
        </p:txBody>
      </p:sp>
      <p:sp>
        <p:nvSpPr>
          <p:cNvPr id="51" name="Text 49"/>
          <p:cNvSpPr/>
          <p:nvPr/>
        </p:nvSpPr>
        <p:spPr>
          <a:xfrm>
            <a:off x="10972800" y="6510528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7 / 14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789920" y="274320"/>
            <a:ext cx="914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3600" b="1" dirty="0">
                <a:solidFill>
                  <a:srgbClr val="E6A52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06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457200" y="41148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E6A52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PART 03  ·  ENGINEERING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96012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2A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检索 RRF · 单步教学 · 预算窗口 · 安全加固——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457200" y="160020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6A52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每一项工程决策，都为"长对话"服务。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457200" y="2743200"/>
            <a:ext cx="5486400" cy="1691640"/>
          </a:xfrm>
          <a:prstGeom prst="rect">
            <a:avLst/>
          </a:prstGeom>
          <a:solidFill>
            <a:srgbClr val="FFFFFF"/>
          </a:solidFill>
          <a:ln w="6350">
            <a:solidFill>
              <a:srgbClr val="D9DEE7"/>
            </a:solidFill>
            <a:prstDash val="solid"/>
          </a:ln>
          <a:effectLst>
            <a:outerShdw sx="100000" sy="100000" kx="0" ky="0" algn="bl" rotWithShape="0" blurRad="76200" dist="12700" dir="8100000">
              <a:srgbClr val="0F2A52">
                <a:alpha val="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731520" y="3017520"/>
            <a:ext cx="640080" cy="640080"/>
          </a:xfrm>
          <a:prstGeom prst="ellipse">
            <a:avLst/>
          </a:prstGeom>
          <a:solidFill>
            <a:srgbClr val="0F2A52"/>
          </a:solidFill>
          <a:ln/>
        </p:spPr>
      </p:sp>
      <p:sp>
        <p:nvSpPr>
          <p:cNvPr id="8" name="Text 6"/>
          <p:cNvSpPr/>
          <p:nvPr/>
        </p:nvSpPr>
        <p:spPr>
          <a:xfrm>
            <a:off x="731520" y="301752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E6A52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554480" y="3017520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F2A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检索 · RRF 融合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1554480" y="3566160"/>
            <a:ext cx="4114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B556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向量召回 + 关键词召回 RRF 融合排序，让长对话里的旧知识点不会被新话题淹没。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263640" y="2743200"/>
            <a:ext cx="5486400" cy="1691640"/>
          </a:xfrm>
          <a:prstGeom prst="rect">
            <a:avLst/>
          </a:prstGeom>
          <a:solidFill>
            <a:srgbClr val="FFFFFF"/>
          </a:solidFill>
          <a:ln w="6350">
            <a:solidFill>
              <a:srgbClr val="D9DEE7"/>
            </a:solidFill>
            <a:prstDash val="solid"/>
          </a:ln>
          <a:effectLst>
            <a:outerShdw sx="100000" sy="100000" kx="0" ky="0" algn="bl" rotWithShape="0" blurRad="76200" dist="12700" dir="8100000">
              <a:srgbClr val="0F2A52">
                <a:alpha val="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6537960" y="3017520"/>
            <a:ext cx="640080" cy="640080"/>
          </a:xfrm>
          <a:prstGeom prst="ellipse">
            <a:avLst/>
          </a:prstGeom>
          <a:solidFill>
            <a:srgbClr val="0F2A52"/>
          </a:solidFill>
          <a:ln/>
        </p:spPr>
      </p:sp>
      <p:sp>
        <p:nvSpPr>
          <p:cNvPr id="13" name="Text 11"/>
          <p:cNvSpPr/>
          <p:nvPr/>
        </p:nvSpPr>
        <p:spPr>
          <a:xfrm>
            <a:off x="6537960" y="301752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E6A52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7360920" y="3017520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F2A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教学 · 单步原则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7360920" y="3566160"/>
            <a:ext cx="4114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B556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每轮只讲一步 + 一个台阶。卡点未解决前不进入下一概念，避免学生被抛下。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57200" y="4572000"/>
            <a:ext cx="5486400" cy="1691640"/>
          </a:xfrm>
          <a:prstGeom prst="rect">
            <a:avLst/>
          </a:prstGeom>
          <a:solidFill>
            <a:srgbClr val="FFFFFF"/>
          </a:solidFill>
          <a:ln w="6350">
            <a:solidFill>
              <a:srgbClr val="D9DEE7"/>
            </a:solidFill>
            <a:prstDash val="solid"/>
          </a:ln>
          <a:effectLst>
            <a:outerShdw sx="100000" sy="100000" kx="0" ky="0" algn="bl" rotWithShape="0" blurRad="76200" dist="12700" dir="8100000">
              <a:srgbClr val="0F2A52">
                <a:alpha val="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731520" y="4846320"/>
            <a:ext cx="640080" cy="640080"/>
          </a:xfrm>
          <a:prstGeom prst="ellipse">
            <a:avLst/>
          </a:prstGeom>
          <a:solidFill>
            <a:srgbClr val="0F2A52"/>
          </a:solidFill>
          <a:ln/>
        </p:spPr>
      </p:sp>
      <p:sp>
        <p:nvSpPr>
          <p:cNvPr id="18" name="Text 16"/>
          <p:cNvSpPr/>
          <p:nvPr/>
        </p:nvSpPr>
        <p:spPr>
          <a:xfrm>
            <a:off x="731520" y="484632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E6A52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554480" y="4846320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F2A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成本 · 预算窗口</a:t>
            </a:r>
            <a:endParaRPr lang="en-US" sz="1700" dirty="0"/>
          </a:p>
        </p:txBody>
      </p:sp>
      <p:sp>
        <p:nvSpPr>
          <p:cNvPr id="20" name="Text 18"/>
          <p:cNvSpPr/>
          <p:nvPr/>
        </p:nvSpPr>
        <p:spPr>
          <a:xfrm>
            <a:off x="1554480" y="5394960"/>
            <a:ext cx="4114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B556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上下文按教学阶段动态裁剪，预算窗口跟随轮次自动收紧。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6263640" y="4572000"/>
            <a:ext cx="5486400" cy="1691640"/>
          </a:xfrm>
          <a:prstGeom prst="rect">
            <a:avLst/>
          </a:prstGeom>
          <a:solidFill>
            <a:srgbClr val="FFFFFF"/>
          </a:solidFill>
          <a:ln w="6350">
            <a:solidFill>
              <a:srgbClr val="D9DEE7"/>
            </a:solidFill>
            <a:prstDash val="solid"/>
          </a:ln>
          <a:effectLst>
            <a:outerShdw sx="100000" sy="100000" kx="0" ky="0" algn="bl" rotWithShape="0" blurRad="76200" dist="12700" dir="8100000">
              <a:srgbClr val="0F2A52">
                <a:alpha val="8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6537960" y="4846320"/>
            <a:ext cx="640080" cy="640080"/>
          </a:xfrm>
          <a:prstGeom prst="ellipse">
            <a:avLst/>
          </a:prstGeom>
          <a:solidFill>
            <a:srgbClr val="0F2A52"/>
          </a:solidFill>
          <a:ln/>
        </p:spPr>
      </p:sp>
      <p:sp>
        <p:nvSpPr>
          <p:cNvPr id="23" name="Text 21"/>
          <p:cNvSpPr/>
          <p:nvPr/>
        </p:nvSpPr>
        <p:spPr>
          <a:xfrm>
            <a:off x="6537960" y="484632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E6A52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04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7360920" y="4846320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F2A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安全 · 加固</a:t>
            </a:r>
            <a:endParaRPr lang="en-US" sz="1700" dirty="0"/>
          </a:p>
        </p:txBody>
      </p:sp>
      <p:sp>
        <p:nvSpPr>
          <p:cNvPr id="25" name="Text 23"/>
          <p:cNvSpPr/>
          <p:nvPr/>
        </p:nvSpPr>
        <p:spPr>
          <a:xfrm>
            <a:off x="7360920" y="5394960"/>
            <a:ext cx="4114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B556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PBKDF2 密码哈希、登录限流、原子写、敏感字段加密、CORS 白名单。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457200" y="644652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i="1" dirty="0">
                <a:solidFill>
                  <a:srgbClr val="0F2A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没有"炫技式架构"——只解决"15 轮之后还记得你"这个真问题。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457200" y="6446520"/>
            <a:ext cx="11247120" cy="0"/>
          </a:xfrm>
          <a:prstGeom prst="line">
            <a:avLst/>
          </a:prstGeom>
          <a:noFill/>
          <a:ln w="9525">
            <a:solidFill>
              <a:srgbClr val="D9DEE7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57200" y="651052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PAEG 教育智能体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10972800" y="6510528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8 / 14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789920" y="274320"/>
            <a:ext cx="914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3600" b="1" dirty="0">
                <a:solidFill>
                  <a:srgbClr val="E6A52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07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457200" y="41148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E6A52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PART 04  ·  EVALUATION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96012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2A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我们用 6 模式 × 30 轮真实对话，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457200" y="160020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6A52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给 PAEG 出了一份完整的"考试"。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457200" y="2743200"/>
            <a:ext cx="5029200" cy="777240"/>
          </a:xfrm>
          <a:prstGeom prst="rect">
            <a:avLst/>
          </a:prstGeom>
          <a:solidFill>
            <a:srgbClr val="FFFFFF"/>
          </a:solidFill>
          <a:ln w="6350">
            <a:solidFill>
              <a:srgbClr val="D9DEE7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" y="2743200"/>
            <a:ext cx="73152" cy="777240"/>
          </a:xfrm>
          <a:prstGeom prst="rect">
            <a:avLst/>
          </a:prstGeom>
          <a:solidFill>
            <a:srgbClr val="E6A528"/>
          </a:solidFill>
          <a:ln/>
        </p:spPr>
      </p:sp>
      <p:sp>
        <p:nvSpPr>
          <p:cNvPr id="8" name="Text 6"/>
          <p:cNvSpPr/>
          <p:nvPr/>
        </p:nvSpPr>
        <p:spPr>
          <a:xfrm>
            <a:off x="640080" y="2788920"/>
            <a:ext cx="1463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F2A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30</a:t>
            </a:r>
            <a:endParaRPr lang="en-US" sz="3200" dirty="0"/>
          </a:p>
        </p:txBody>
      </p:sp>
      <p:sp>
        <p:nvSpPr>
          <p:cNvPr id="9" name="Text 7"/>
          <p:cNvSpPr/>
          <p:nvPr/>
        </p:nvSpPr>
        <p:spPr>
          <a:xfrm>
            <a:off x="2194560" y="283464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2A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轮真实对话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2194560" y="315468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B556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教学 15 + 倾诉 15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57200" y="3611880"/>
            <a:ext cx="5029200" cy="777240"/>
          </a:xfrm>
          <a:prstGeom prst="rect">
            <a:avLst/>
          </a:prstGeom>
          <a:solidFill>
            <a:srgbClr val="FFFFFF"/>
          </a:solidFill>
          <a:ln w="6350">
            <a:solidFill>
              <a:srgbClr val="D9DEE7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57200" y="3611880"/>
            <a:ext cx="73152" cy="777240"/>
          </a:xfrm>
          <a:prstGeom prst="rect">
            <a:avLst/>
          </a:prstGeom>
          <a:solidFill>
            <a:srgbClr val="E6A528"/>
          </a:solidFill>
          <a:ln/>
        </p:spPr>
      </p:sp>
      <p:sp>
        <p:nvSpPr>
          <p:cNvPr id="13" name="Text 11"/>
          <p:cNvSpPr/>
          <p:nvPr/>
        </p:nvSpPr>
        <p:spPr>
          <a:xfrm>
            <a:off x="640080" y="3657600"/>
            <a:ext cx="1463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F2A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15</a:t>
            </a:r>
            <a:endParaRPr lang="en-US" sz="3200" dirty="0"/>
          </a:p>
        </p:txBody>
      </p:sp>
      <p:sp>
        <p:nvSpPr>
          <p:cNvPr id="14" name="Text 12"/>
          <p:cNvSpPr/>
          <p:nvPr/>
        </p:nvSpPr>
        <p:spPr>
          <a:xfrm>
            <a:off x="2194560" y="370332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2A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轮超长对话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2194560" y="402336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B556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单次会话不中断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57200" y="4480560"/>
            <a:ext cx="5029200" cy="777240"/>
          </a:xfrm>
          <a:prstGeom prst="rect">
            <a:avLst/>
          </a:prstGeom>
          <a:solidFill>
            <a:srgbClr val="FFFFFF"/>
          </a:solidFill>
          <a:ln w="6350">
            <a:solidFill>
              <a:srgbClr val="D9DEE7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57200" y="4480560"/>
            <a:ext cx="73152" cy="777240"/>
          </a:xfrm>
          <a:prstGeom prst="rect">
            <a:avLst/>
          </a:prstGeom>
          <a:solidFill>
            <a:srgbClr val="E6A528"/>
          </a:solidFill>
          <a:ln/>
        </p:spPr>
      </p:sp>
      <p:sp>
        <p:nvSpPr>
          <p:cNvPr id="18" name="Text 16"/>
          <p:cNvSpPr/>
          <p:nvPr/>
        </p:nvSpPr>
        <p:spPr>
          <a:xfrm>
            <a:off x="640080" y="4526280"/>
            <a:ext cx="1463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F2A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</a:t>
            </a:r>
            <a:endParaRPr lang="en-US" sz="3200" dirty="0"/>
          </a:p>
        </p:txBody>
      </p:sp>
      <p:sp>
        <p:nvSpPr>
          <p:cNvPr id="19" name="Text 17"/>
          <p:cNvSpPr/>
          <p:nvPr/>
        </p:nvSpPr>
        <p:spPr>
          <a:xfrm>
            <a:off x="2194560" y="457200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2A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教学阶段全跑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2194560" y="489204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B556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导入→挑战全覆盖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457200" y="5349240"/>
            <a:ext cx="5029200" cy="777240"/>
          </a:xfrm>
          <a:prstGeom prst="rect">
            <a:avLst/>
          </a:prstGeom>
          <a:solidFill>
            <a:srgbClr val="FFFFFF"/>
          </a:solidFill>
          <a:ln w="6350">
            <a:solidFill>
              <a:srgbClr val="D9DEE7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57200" y="5349240"/>
            <a:ext cx="73152" cy="777240"/>
          </a:xfrm>
          <a:prstGeom prst="rect">
            <a:avLst/>
          </a:prstGeom>
          <a:solidFill>
            <a:srgbClr val="E6A528"/>
          </a:solidFill>
          <a:ln/>
        </p:spPr>
      </p:sp>
      <p:sp>
        <p:nvSpPr>
          <p:cNvPr id="23" name="Text 21"/>
          <p:cNvSpPr/>
          <p:nvPr/>
        </p:nvSpPr>
        <p:spPr>
          <a:xfrm>
            <a:off x="640080" y="5394960"/>
            <a:ext cx="1463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F2A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100%</a:t>
            </a:r>
            <a:endParaRPr lang="en-US" sz="3200" dirty="0"/>
          </a:p>
        </p:txBody>
      </p:sp>
      <p:sp>
        <p:nvSpPr>
          <p:cNvPr id="24" name="Text 22"/>
          <p:cNvSpPr/>
          <p:nvPr/>
        </p:nvSpPr>
        <p:spPr>
          <a:xfrm>
            <a:off x="2194560" y="544068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2A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达标率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2194560" y="576072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B556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30/30 轮通过优秀线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5943600" y="2743200"/>
            <a:ext cx="5760720" cy="3474720"/>
          </a:xfrm>
          <a:prstGeom prst="rect">
            <a:avLst/>
          </a:prstGeom>
          <a:solidFill>
            <a:srgbClr val="0F2A52"/>
          </a:solidFill>
          <a:ln/>
        </p:spPr>
      </p:sp>
      <p:sp>
        <p:nvSpPr>
          <p:cNvPr id="27" name="Shape 25"/>
          <p:cNvSpPr/>
          <p:nvPr/>
        </p:nvSpPr>
        <p:spPr>
          <a:xfrm>
            <a:off x="5943600" y="2743200"/>
            <a:ext cx="5760720" cy="457200"/>
          </a:xfrm>
          <a:prstGeom prst="rect">
            <a:avLst/>
          </a:prstGeom>
          <a:solidFill>
            <a:srgbClr val="E6A528"/>
          </a:solidFill>
          <a:ln/>
        </p:spPr>
      </p:sp>
      <p:sp>
        <p:nvSpPr>
          <p:cNvPr id="28" name="Text 26"/>
          <p:cNvSpPr/>
          <p:nvPr/>
        </p:nvSpPr>
        <p:spPr>
          <a:xfrm>
            <a:off x="6126480" y="278892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2A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优秀线标准</a:t>
            </a:r>
            <a:endParaRPr lang="en-US" sz="1400" dirty="0"/>
          </a:p>
        </p:txBody>
      </p:sp>
      <p:sp>
        <p:nvSpPr>
          <p:cNvPr id="29" name="Shape 27"/>
          <p:cNvSpPr/>
          <p:nvPr/>
        </p:nvSpPr>
        <p:spPr>
          <a:xfrm>
            <a:off x="6126480" y="3383280"/>
            <a:ext cx="164592" cy="164592"/>
          </a:xfrm>
          <a:prstGeom prst="ellipse">
            <a:avLst/>
          </a:prstGeom>
          <a:solidFill>
            <a:srgbClr val="E6A528"/>
          </a:solidFill>
          <a:ln/>
        </p:spPr>
      </p:sp>
      <p:sp>
        <p:nvSpPr>
          <p:cNvPr id="30" name="Text 28"/>
          <p:cNvSpPr/>
          <p:nvPr/>
        </p:nvSpPr>
        <p:spPr>
          <a:xfrm>
            <a:off x="6355080" y="333756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6A52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教学准确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7863840" y="333756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无概念错误，步骤完整，公式与术语一致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6126480" y="3931920"/>
            <a:ext cx="164592" cy="164592"/>
          </a:xfrm>
          <a:prstGeom prst="ellipse">
            <a:avLst/>
          </a:prstGeom>
          <a:solidFill>
            <a:srgbClr val="E6A528"/>
          </a:solidFill>
          <a:ln/>
        </p:spPr>
      </p:sp>
      <p:sp>
        <p:nvSpPr>
          <p:cNvPr id="33" name="Text 31"/>
          <p:cNvSpPr/>
          <p:nvPr/>
        </p:nvSpPr>
        <p:spPr>
          <a:xfrm>
            <a:off x="6355080" y="388620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6A52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单步推进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7863840" y="38862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每轮只讲一步，卡点未解决不进入下一步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6126480" y="4480560"/>
            <a:ext cx="164592" cy="164592"/>
          </a:xfrm>
          <a:prstGeom prst="ellipse">
            <a:avLst/>
          </a:prstGeom>
          <a:solidFill>
            <a:srgbClr val="E6A528"/>
          </a:solidFill>
          <a:ln/>
        </p:spPr>
      </p:sp>
      <p:sp>
        <p:nvSpPr>
          <p:cNvPr id="36" name="Text 34"/>
          <p:cNvSpPr/>
          <p:nvPr/>
        </p:nvSpPr>
        <p:spPr>
          <a:xfrm>
            <a:off x="6355080" y="443484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6A52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语气适配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7863840" y="44348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鼓励式而非评判式，留白让学生思考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6126480" y="5029200"/>
            <a:ext cx="164592" cy="164592"/>
          </a:xfrm>
          <a:prstGeom prst="ellipse">
            <a:avLst/>
          </a:prstGeom>
          <a:solidFill>
            <a:srgbClr val="E6A528"/>
          </a:solidFill>
          <a:ln/>
        </p:spPr>
      </p:sp>
      <p:sp>
        <p:nvSpPr>
          <p:cNvPr id="39" name="Text 37"/>
          <p:cNvSpPr/>
          <p:nvPr/>
        </p:nvSpPr>
        <p:spPr>
          <a:xfrm>
            <a:off x="6355080" y="498348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6A52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情绪安全</a:t>
            </a:r>
            <a:endParaRPr lang="en-US" sz="1200" dirty="0"/>
          </a:p>
        </p:txBody>
      </p:sp>
      <p:sp>
        <p:nvSpPr>
          <p:cNvPr id="40" name="Text 38"/>
          <p:cNvSpPr/>
          <p:nvPr/>
        </p:nvSpPr>
        <p:spPr>
          <a:xfrm>
            <a:off x="7863840" y="49834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识别"撑不住"，降速、暂停、追问</a:t>
            </a:r>
            <a:endParaRPr lang="en-US" sz="1100" dirty="0"/>
          </a:p>
        </p:txBody>
      </p:sp>
      <p:sp>
        <p:nvSpPr>
          <p:cNvPr id="41" name="Shape 39"/>
          <p:cNvSpPr/>
          <p:nvPr/>
        </p:nvSpPr>
        <p:spPr>
          <a:xfrm>
            <a:off x="6126480" y="5577840"/>
            <a:ext cx="164592" cy="164592"/>
          </a:xfrm>
          <a:prstGeom prst="ellipse">
            <a:avLst/>
          </a:prstGeom>
          <a:solidFill>
            <a:srgbClr val="E6A528"/>
          </a:solidFill>
          <a:ln/>
        </p:spPr>
      </p:sp>
      <p:sp>
        <p:nvSpPr>
          <p:cNvPr id="42" name="Text 40"/>
          <p:cNvSpPr/>
          <p:nvPr/>
        </p:nvSpPr>
        <p:spPr>
          <a:xfrm>
            <a:off x="6355080" y="553212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6A52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画像联动</a:t>
            </a:r>
            <a:endParaRPr lang="en-US" sz="1200" dirty="0"/>
          </a:p>
        </p:txBody>
      </p:sp>
      <p:sp>
        <p:nvSpPr>
          <p:cNvPr id="43" name="Text 41"/>
          <p:cNvSpPr/>
          <p:nvPr/>
        </p:nvSpPr>
        <p:spPr>
          <a:xfrm>
            <a:off x="7863840" y="55321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对接 17 维画像，因材施教可追溯</a:t>
            </a:r>
            <a:endParaRPr lang="en-US" sz="1100" dirty="0"/>
          </a:p>
        </p:txBody>
      </p:sp>
      <p:sp>
        <p:nvSpPr>
          <p:cNvPr id="44" name="Text 42"/>
          <p:cNvSpPr/>
          <p:nvPr/>
        </p:nvSpPr>
        <p:spPr>
          <a:xfrm>
            <a:off x="457200" y="640080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i="1" dirty="0">
                <a:solidFill>
                  <a:srgbClr val="0F2A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下一两页，是这份"考试"的真实答卷。</a:t>
            </a:r>
            <a:endParaRPr lang="en-US" sz="1200" dirty="0"/>
          </a:p>
        </p:txBody>
      </p:sp>
      <p:sp>
        <p:nvSpPr>
          <p:cNvPr id="45" name="Shape 43"/>
          <p:cNvSpPr/>
          <p:nvPr/>
        </p:nvSpPr>
        <p:spPr>
          <a:xfrm>
            <a:off x="457200" y="6446520"/>
            <a:ext cx="11247120" cy="0"/>
          </a:xfrm>
          <a:prstGeom prst="line">
            <a:avLst/>
          </a:prstGeom>
          <a:noFill/>
          <a:ln w="9525">
            <a:solidFill>
              <a:srgbClr val="D9DEE7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457200" y="651052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PAEG 教育智能体</a:t>
            </a:r>
            <a:endParaRPr lang="en-US" sz="900" dirty="0"/>
          </a:p>
        </p:txBody>
      </p:sp>
      <p:sp>
        <p:nvSpPr>
          <p:cNvPr id="47" name="Text 45"/>
          <p:cNvSpPr/>
          <p:nvPr/>
        </p:nvSpPr>
        <p:spPr>
          <a:xfrm>
            <a:off x="10972800" y="6510528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9 / 14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789920" y="274320"/>
            <a:ext cx="914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3600" b="1" dirty="0">
                <a:solidFill>
                  <a:srgbClr val="E6A52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08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457200" y="4114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E6A52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PART 04  ·  TEACHING DEMO  ·  孟德尔遗传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96012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2A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孟德尔遗传 15 轮：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457200" y="155448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6A52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从"父母眼睛颜色不同"，到"自己推出分离定律"。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457200" y="2468880"/>
            <a:ext cx="7132320" cy="3657600"/>
          </a:xfrm>
          <a:prstGeom prst="rect">
            <a:avLst/>
          </a:prstGeom>
          <a:solidFill>
            <a:srgbClr val="FFFFFF"/>
          </a:solidFill>
          <a:ln w="9525">
            <a:solidFill>
              <a:srgbClr val="D9DEE7"/>
            </a:solidFill>
            <a:prstDash val="solid"/>
          </a:ln>
          <a:effectLst>
            <a:outerShdw sx="100000" sy="100000" kx="0" ky="0" algn="bl" rotWithShape="0" blurRad="152400" dist="38100" dir="8100000">
              <a:srgbClr val="0F2A52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57200" y="2468880"/>
            <a:ext cx="7132320" cy="73152"/>
          </a:xfrm>
          <a:prstGeom prst="rect">
            <a:avLst/>
          </a:prstGeom>
          <a:solidFill>
            <a:srgbClr val="E6A528"/>
          </a:solidFill>
          <a:ln/>
        </p:spPr>
      </p:sp>
      <p:sp>
        <p:nvSpPr>
          <p:cNvPr id="8" name="Text 6"/>
          <p:cNvSpPr/>
          <p:nvPr/>
        </p:nvSpPr>
        <p:spPr>
          <a:xfrm>
            <a:off x="640080" y="260604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E6A52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学生提问 · R13 复习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40080" y="2788920"/>
            <a:ext cx="5486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0" b="1" dirty="0">
                <a:solidFill>
                  <a:srgbClr val="E6A52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"</a:t>
            </a:r>
            <a:endParaRPr lang="en-US" sz="7200" dirty="0"/>
          </a:p>
        </p:txBody>
      </p:sp>
      <p:sp>
        <p:nvSpPr>
          <p:cNvPr id="10" name="Text 8"/>
          <p:cNvSpPr/>
          <p:nvPr/>
        </p:nvSpPr>
        <p:spPr>
          <a:xfrm>
            <a:off x="1143000" y="3063240"/>
            <a:ext cx="62636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2A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分离定律和自由组合定律的区别是？</a:t>
            </a:r>
            <a:endParaRPr lang="en-US" sz="2600" dirty="0"/>
          </a:p>
        </p:txBody>
      </p:sp>
      <p:sp>
        <p:nvSpPr>
          <p:cNvPr id="11" name="Shape 9"/>
          <p:cNvSpPr/>
          <p:nvPr/>
        </p:nvSpPr>
        <p:spPr>
          <a:xfrm>
            <a:off x="640080" y="4617720"/>
            <a:ext cx="6766560" cy="0"/>
          </a:xfrm>
          <a:prstGeom prst="line">
            <a:avLst/>
          </a:prstGeom>
          <a:noFill/>
          <a:ln w="9525">
            <a:solidFill>
              <a:srgbClr val="D9DEE7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40080" y="47091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E6A52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PAEG 回答节选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40080" y="4983480"/>
            <a:ext cx="67665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B556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分离定律回答"一对基因怎么分家"，自由组合定律回答"两对基因之间怎么分家"。前者只盯 D/d 这一对，后者看 D/d 与 R/r 之间的自由组合……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7863840" y="2468880"/>
            <a:ext cx="3840480" cy="3657600"/>
          </a:xfrm>
          <a:prstGeom prst="rect">
            <a:avLst/>
          </a:prstGeom>
          <a:solidFill>
            <a:srgbClr val="0F2A52"/>
          </a:solidFill>
          <a:ln/>
        </p:spPr>
      </p:sp>
      <p:sp>
        <p:nvSpPr>
          <p:cNvPr id="15" name="Text 13"/>
          <p:cNvSpPr/>
          <p:nvPr/>
        </p:nvSpPr>
        <p:spPr>
          <a:xfrm>
            <a:off x="8046720" y="260604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6A52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实测凭证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8046720" y="310896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200" kern="0" dirty="0">
                <a:solidFill>
                  <a:srgbClr val="B8C2D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对话轮次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8046720" y="333756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15 / 15 全部达标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8046720" y="374904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200" kern="0" dirty="0">
                <a:solidFill>
                  <a:srgbClr val="B8C2D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覆盖阶段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8046720" y="397764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导入→新授→巩固→复习→应用→提高→挑战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8046720" y="438912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200" kern="0" dirty="0">
                <a:solidFill>
                  <a:srgbClr val="B8C2D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平均耗时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8046720" y="461772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23.0 秒 / 轮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8046720" y="502920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200" kern="0" dirty="0">
                <a:solidFill>
                  <a:srgbClr val="B8C2D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平均字数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8046720" y="525780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397 字 / 轮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457200" y="60807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200" kern="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15 轮进度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1828800" y="6126480"/>
            <a:ext cx="365760" cy="365760"/>
          </a:xfrm>
          <a:prstGeom prst="ellipse">
            <a:avLst/>
          </a:prstGeom>
          <a:solidFill>
            <a:srgbClr val="0F2A52"/>
          </a:solidFill>
          <a:ln/>
        </p:spPr>
      </p:sp>
      <p:sp>
        <p:nvSpPr>
          <p:cNvPr id="26" name="Text 24"/>
          <p:cNvSpPr/>
          <p:nvPr/>
        </p:nvSpPr>
        <p:spPr>
          <a:xfrm>
            <a:off x="1828800" y="61264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2377440" y="6126480"/>
            <a:ext cx="365760" cy="365760"/>
          </a:xfrm>
          <a:prstGeom prst="ellipse">
            <a:avLst/>
          </a:prstGeom>
          <a:solidFill>
            <a:srgbClr val="0F2A52"/>
          </a:solidFill>
          <a:ln/>
        </p:spPr>
      </p:sp>
      <p:sp>
        <p:nvSpPr>
          <p:cNvPr id="28" name="Text 26"/>
          <p:cNvSpPr/>
          <p:nvPr/>
        </p:nvSpPr>
        <p:spPr>
          <a:xfrm>
            <a:off x="2377440" y="61264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2926080" y="6126480"/>
            <a:ext cx="365760" cy="365760"/>
          </a:xfrm>
          <a:prstGeom prst="ellipse">
            <a:avLst/>
          </a:prstGeom>
          <a:solidFill>
            <a:srgbClr val="0F2A52"/>
          </a:solidFill>
          <a:ln/>
        </p:spPr>
      </p:sp>
      <p:sp>
        <p:nvSpPr>
          <p:cNvPr id="30" name="Text 28"/>
          <p:cNvSpPr/>
          <p:nvPr/>
        </p:nvSpPr>
        <p:spPr>
          <a:xfrm>
            <a:off x="2926080" y="61264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3474720" y="6126480"/>
            <a:ext cx="365760" cy="365760"/>
          </a:xfrm>
          <a:prstGeom prst="ellipse">
            <a:avLst/>
          </a:prstGeom>
          <a:solidFill>
            <a:srgbClr val="0F2A52"/>
          </a:solidFill>
          <a:ln/>
        </p:spPr>
      </p:sp>
      <p:sp>
        <p:nvSpPr>
          <p:cNvPr id="32" name="Text 30"/>
          <p:cNvSpPr/>
          <p:nvPr/>
        </p:nvSpPr>
        <p:spPr>
          <a:xfrm>
            <a:off x="3474720" y="61264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4023360" y="6126480"/>
            <a:ext cx="365760" cy="365760"/>
          </a:xfrm>
          <a:prstGeom prst="ellipse">
            <a:avLst/>
          </a:prstGeom>
          <a:solidFill>
            <a:srgbClr val="0F2A52"/>
          </a:solidFill>
          <a:ln/>
        </p:spPr>
      </p:sp>
      <p:sp>
        <p:nvSpPr>
          <p:cNvPr id="34" name="Text 32"/>
          <p:cNvSpPr/>
          <p:nvPr/>
        </p:nvSpPr>
        <p:spPr>
          <a:xfrm>
            <a:off x="4023360" y="61264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4572000" y="6126480"/>
            <a:ext cx="365760" cy="365760"/>
          </a:xfrm>
          <a:prstGeom prst="ellipse">
            <a:avLst/>
          </a:prstGeom>
          <a:solidFill>
            <a:srgbClr val="E6A528"/>
          </a:solidFill>
          <a:ln/>
        </p:spPr>
      </p:sp>
      <p:sp>
        <p:nvSpPr>
          <p:cNvPr id="36" name="Text 34"/>
          <p:cNvSpPr/>
          <p:nvPr/>
        </p:nvSpPr>
        <p:spPr>
          <a:xfrm>
            <a:off x="4572000" y="61264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5120640" y="6126480"/>
            <a:ext cx="365760" cy="365760"/>
          </a:xfrm>
          <a:prstGeom prst="ellipse">
            <a:avLst/>
          </a:prstGeom>
          <a:solidFill>
            <a:srgbClr val="E6A528"/>
          </a:solidFill>
          <a:ln/>
        </p:spPr>
      </p:sp>
      <p:sp>
        <p:nvSpPr>
          <p:cNvPr id="38" name="Text 36"/>
          <p:cNvSpPr/>
          <p:nvPr/>
        </p:nvSpPr>
        <p:spPr>
          <a:xfrm>
            <a:off x="5120640" y="61264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7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5669280" y="6126480"/>
            <a:ext cx="365760" cy="365760"/>
          </a:xfrm>
          <a:prstGeom prst="ellipse">
            <a:avLst/>
          </a:prstGeom>
          <a:solidFill>
            <a:srgbClr val="E6A528"/>
          </a:solidFill>
          <a:ln/>
        </p:spPr>
      </p:sp>
      <p:sp>
        <p:nvSpPr>
          <p:cNvPr id="40" name="Text 38"/>
          <p:cNvSpPr/>
          <p:nvPr/>
        </p:nvSpPr>
        <p:spPr>
          <a:xfrm>
            <a:off x="5669280" y="61264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8</a:t>
            </a:r>
            <a:endParaRPr lang="en-US" sz="900" dirty="0"/>
          </a:p>
        </p:txBody>
      </p:sp>
      <p:sp>
        <p:nvSpPr>
          <p:cNvPr id="41" name="Shape 39"/>
          <p:cNvSpPr/>
          <p:nvPr/>
        </p:nvSpPr>
        <p:spPr>
          <a:xfrm>
            <a:off x="6217920" y="6126480"/>
            <a:ext cx="365760" cy="365760"/>
          </a:xfrm>
          <a:prstGeom prst="ellipse">
            <a:avLst/>
          </a:prstGeom>
          <a:solidFill>
            <a:srgbClr val="E6A528"/>
          </a:solidFill>
          <a:ln/>
        </p:spPr>
      </p:sp>
      <p:sp>
        <p:nvSpPr>
          <p:cNvPr id="42" name="Text 40"/>
          <p:cNvSpPr/>
          <p:nvPr/>
        </p:nvSpPr>
        <p:spPr>
          <a:xfrm>
            <a:off x="6217920" y="61264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9</a:t>
            </a:r>
            <a:endParaRPr lang="en-US" sz="900" dirty="0"/>
          </a:p>
        </p:txBody>
      </p:sp>
      <p:sp>
        <p:nvSpPr>
          <p:cNvPr id="43" name="Shape 41"/>
          <p:cNvSpPr/>
          <p:nvPr/>
        </p:nvSpPr>
        <p:spPr>
          <a:xfrm>
            <a:off x="6766560" y="6126480"/>
            <a:ext cx="365760" cy="365760"/>
          </a:xfrm>
          <a:prstGeom prst="ellipse">
            <a:avLst/>
          </a:prstGeom>
          <a:solidFill>
            <a:srgbClr val="E6A528"/>
          </a:solidFill>
          <a:ln/>
        </p:spPr>
      </p:sp>
      <p:sp>
        <p:nvSpPr>
          <p:cNvPr id="44" name="Text 42"/>
          <p:cNvSpPr/>
          <p:nvPr/>
        </p:nvSpPr>
        <p:spPr>
          <a:xfrm>
            <a:off x="6766560" y="61264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10</a:t>
            </a:r>
            <a:endParaRPr lang="en-US" sz="900" dirty="0"/>
          </a:p>
        </p:txBody>
      </p:sp>
      <p:sp>
        <p:nvSpPr>
          <p:cNvPr id="45" name="Shape 43"/>
          <p:cNvSpPr/>
          <p:nvPr/>
        </p:nvSpPr>
        <p:spPr>
          <a:xfrm>
            <a:off x="7315200" y="6126480"/>
            <a:ext cx="365760" cy="365760"/>
          </a:xfrm>
          <a:prstGeom prst="ellipse">
            <a:avLst/>
          </a:prstGeom>
          <a:solidFill>
            <a:srgbClr val="15803D"/>
          </a:solidFill>
          <a:ln/>
        </p:spPr>
      </p:sp>
      <p:sp>
        <p:nvSpPr>
          <p:cNvPr id="46" name="Text 44"/>
          <p:cNvSpPr/>
          <p:nvPr/>
        </p:nvSpPr>
        <p:spPr>
          <a:xfrm>
            <a:off x="7315200" y="61264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11</a:t>
            </a:r>
            <a:endParaRPr lang="en-US" sz="900" dirty="0"/>
          </a:p>
        </p:txBody>
      </p:sp>
      <p:sp>
        <p:nvSpPr>
          <p:cNvPr id="47" name="Shape 45"/>
          <p:cNvSpPr/>
          <p:nvPr/>
        </p:nvSpPr>
        <p:spPr>
          <a:xfrm>
            <a:off x="7863840" y="6126480"/>
            <a:ext cx="365760" cy="365760"/>
          </a:xfrm>
          <a:prstGeom prst="ellipse">
            <a:avLst/>
          </a:prstGeom>
          <a:solidFill>
            <a:srgbClr val="15803D"/>
          </a:solidFill>
          <a:ln/>
        </p:spPr>
      </p:sp>
      <p:sp>
        <p:nvSpPr>
          <p:cNvPr id="48" name="Text 46"/>
          <p:cNvSpPr/>
          <p:nvPr/>
        </p:nvSpPr>
        <p:spPr>
          <a:xfrm>
            <a:off x="7863840" y="61264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12</a:t>
            </a:r>
            <a:endParaRPr lang="en-US" sz="900" dirty="0"/>
          </a:p>
        </p:txBody>
      </p:sp>
      <p:sp>
        <p:nvSpPr>
          <p:cNvPr id="49" name="Shape 47"/>
          <p:cNvSpPr/>
          <p:nvPr/>
        </p:nvSpPr>
        <p:spPr>
          <a:xfrm>
            <a:off x="8412480" y="6126480"/>
            <a:ext cx="365760" cy="365760"/>
          </a:xfrm>
          <a:prstGeom prst="ellipse">
            <a:avLst/>
          </a:prstGeom>
          <a:solidFill>
            <a:srgbClr val="15803D"/>
          </a:solidFill>
          <a:ln/>
        </p:spPr>
      </p:sp>
      <p:sp>
        <p:nvSpPr>
          <p:cNvPr id="50" name="Text 48"/>
          <p:cNvSpPr/>
          <p:nvPr/>
        </p:nvSpPr>
        <p:spPr>
          <a:xfrm>
            <a:off x="8412480" y="61264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13</a:t>
            </a:r>
            <a:endParaRPr lang="en-US" sz="900" dirty="0"/>
          </a:p>
        </p:txBody>
      </p:sp>
      <p:sp>
        <p:nvSpPr>
          <p:cNvPr id="51" name="Shape 49"/>
          <p:cNvSpPr/>
          <p:nvPr/>
        </p:nvSpPr>
        <p:spPr>
          <a:xfrm>
            <a:off x="8961120" y="6126480"/>
            <a:ext cx="365760" cy="365760"/>
          </a:xfrm>
          <a:prstGeom prst="ellipse">
            <a:avLst/>
          </a:prstGeom>
          <a:solidFill>
            <a:srgbClr val="DC2626"/>
          </a:solidFill>
          <a:ln/>
        </p:spPr>
      </p:sp>
      <p:sp>
        <p:nvSpPr>
          <p:cNvPr id="52" name="Text 50"/>
          <p:cNvSpPr/>
          <p:nvPr/>
        </p:nvSpPr>
        <p:spPr>
          <a:xfrm>
            <a:off x="8961120" y="61264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14</a:t>
            </a:r>
            <a:endParaRPr lang="en-US" sz="900" dirty="0"/>
          </a:p>
        </p:txBody>
      </p:sp>
      <p:sp>
        <p:nvSpPr>
          <p:cNvPr id="53" name="Shape 51"/>
          <p:cNvSpPr/>
          <p:nvPr/>
        </p:nvSpPr>
        <p:spPr>
          <a:xfrm>
            <a:off x="9509760" y="6126480"/>
            <a:ext cx="365760" cy="365760"/>
          </a:xfrm>
          <a:prstGeom prst="ellipse">
            <a:avLst/>
          </a:prstGeom>
          <a:solidFill>
            <a:srgbClr val="DC2626"/>
          </a:solidFill>
          <a:ln/>
        </p:spPr>
      </p:sp>
      <p:sp>
        <p:nvSpPr>
          <p:cNvPr id="54" name="Text 52"/>
          <p:cNvSpPr/>
          <p:nvPr/>
        </p:nvSpPr>
        <p:spPr>
          <a:xfrm>
            <a:off x="9509760" y="61264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15</a:t>
            </a:r>
            <a:endParaRPr lang="en-US" sz="900" dirty="0"/>
          </a:p>
        </p:txBody>
      </p:sp>
      <p:sp>
        <p:nvSpPr>
          <p:cNvPr id="55" name="Text 53"/>
          <p:cNvSpPr/>
          <p:nvPr/>
        </p:nvSpPr>
        <p:spPr>
          <a:xfrm>
            <a:off x="10332720" y="6080760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E6A52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全 ✓</a:t>
            </a:r>
            <a:endParaRPr lang="en-US" sz="1200" dirty="0"/>
          </a:p>
        </p:txBody>
      </p:sp>
      <p:sp>
        <p:nvSpPr>
          <p:cNvPr id="56" name="Shape 54"/>
          <p:cNvSpPr/>
          <p:nvPr/>
        </p:nvSpPr>
        <p:spPr>
          <a:xfrm>
            <a:off x="457200" y="6446520"/>
            <a:ext cx="11247120" cy="0"/>
          </a:xfrm>
          <a:prstGeom prst="line">
            <a:avLst/>
          </a:prstGeom>
          <a:noFill/>
          <a:ln w="9525">
            <a:solidFill>
              <a:srgbClr val="D9DEE7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457200" y="651052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PAEG 教育智能体</a:t>
            </a:r>
            <a:endParaRPr lang="en-US" sz="900" dirty="0"/>
          </a:p>
        </p:txBody>
      </p:sp>
      <p:sp>
        <p:nvSpPr>
          <p:cNvPr id="58" name="Text 56"/>
          <p:cNvSpPr/>
          <p:nvPr/>
        </p:nvSpPr>
        <p:spPr>
          <a:xfrm>
            <a:off x="10972800" y="6510528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10 / 14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789920" y="274320"/>
            <a:ext cx="914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3600" b="1" dirty="0">
                <a:solidFill>
                  <a:srgbClr val="E6A52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09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457200" y="4114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E6A52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PART 04  ·  AFFECTION DEMO  ·  学业压力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96012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2A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学业压力 15 轮：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457200" y="155448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6A52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从"我是不是性格有问题"，到"我会先从小目标做起"。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457200" y="2468880"/>
            <a:ext cx="7132320" cy="3657600"/>
          </a:xfrm>
          <a:prstGeom prst="rect">
            <a:avLst/>
          </a:prstGeom>
          <a:solidFill>
            <a:srgbClr val="FFFFFF"/>
          </a:solidFill>
          <a:ln w="9525">
            <a:solidFill>
              <a:srgbClr val="D9DEE7"/>
            </a:solidFill>
            <a:prstDash val="solid"/>
          </a:ln>
          <a:effectLst>
            <a:outerShdw sx="100000" sy="100000" kx="0" ky="0" algn="bl" rotWithShape="0" blurRad="152400" dist="38100" dir="8100000">
              <a:srgbClr val="0F2A52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57200" y="2468880"/>
            <a:ext cx="7132320" cy="73152"/>
          </a:xfrm>
          <a:prstGeom prst="rect">
            <a:avLst/>
          </a:prstGeom>
          <a:solidFill>
            <a:srgbClr val="E6A528"/>
          </a:solidFill>
          <a:ln/>
        </p:spPr>
      </p:sp>
      <p:sp>
        <p:nvSpPr>
          <p:cNvPr id="8" name="Text 6"/>
          <p:cNvSpPr/>
          <p:nvPr/>
        </p:nvSpPr>
        <p:spPr>
          <a:xfrm>
            <a:off x="640080" y="260604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E6A52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 6 轮 · 学生内心独白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40080" y="2834640"/>
            <a:ext cx="548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0" b="1" dirty="0">
                <a:solidFill>
                  <a:srgbClr val="E6A52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"</a:t>
            </a:r>
            <a:endParaRPr lang="en-US" sz="7000" dirty="0"/>
          </a:p>
        </p:txBody>
      </p:sp>
      <p:sp>
        <p:nvSpPr>
          <p:cNvPr id="10" name="Text 8"/>
          <p:cNvSpPr/>
          <p:nvPr/>
        </p:nvSpPr>
        <p:spPr>
          <a:xfrm>
            <a:off x="1280160" y="3017520"/>
            <a:ext cx="60350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2A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我是不是性格有问题？</a:t>
            </a:r>
            <a:endParaRPr lang="en-US" sz="2800" dirty="0"/>
          </a:p>
        </p:txBody>
      </p:sp>
      <p:sp>
        <p:nvSpPr>
          <p:cNvPr id="11" name="Shape 9"/>
          <p:cNvSpPr/>
          <p:nvPr/>
        </p:nvSpPr>
        <p:spPr>
          <a:xfrm>
            <a:off x="1280160" y="4206240"/>
            <a:ext cx="548640" cy="548640"/>
          </a:xfrm>
          <a:prstGeom prst="line">
            <a:avLst/>
          </a:prstGeom>
          <a:noFill/>
          <a:ln w="31750">
            <a:solidFill>
              <a:srgbClr val="E6A528"/>
            </a:solidFill>
            <a:prstDash val="solid"/>
            <a:tailEnd type="triangle"/>
          </a:ln>
        </p:spPr>
      </p:sp>
      <p:sp>
        <p:nvSpPr>
          <p:cNvPr id="12" name="Text 10"/>
          <p:cNvSpPr/>
          <p:nvPr/>
        </p:nvSpPr>
        <p:spPr>
          <a:xfrm>
            <a:off x="1920240" y="429768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E6A52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 15 轮 · 学生行动承诺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1920240" y="4617720"/>
            <a:ext cx="5486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i="1" dirty="0">
                <a:solidFill>
                  <a:srgbClr val="E6A52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"我会先从小目标做起。"</a:t>
            </a:r>
            <a:endParaRPr lang="en-US" sz="2200" dirty="0"/>
          </a:p>
        </p:txBody>
      </p:sp>
      <p:sp>
        <p:nvSpPr>
          <p:cNvPr id="14" name="Shape 12"/>
          <p:cNvSpPr/>
          <p:nvPr/>
        </p:nvSpPr>
        <p:spPr>
          <a:xfrm>
            <a:off x="640080" y="5440680"/>
            <a:ext cx="6766560" cy="0"/>
          </a:xfrm>
          <a:prstGeom prst="line">
            <a:avLst/>
          </a:prstGeom>
          <a:noFill/>
          <a:ln w="9525">
            <a:solidFill>
              <a:srgbClr val="D9DEE7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0080" y="5532120"/>
            <a:ext cx="6766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4B556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PAEG 的处理：先把"性格有问题"当作真问题接住，再把它拆开——"性格"是没有边界的判断，"别人都能很快交到朋友"才是可验证的假设。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7863840" y="2468880"/>
            <a:ext cx="3840480" cy="3657600"/>
          </a:xfrm>
          <a:prstGeom prst="rect">
            <a:avLst/>
          </a:prstGeom>
          <a:solidFill>
            <a:srgbClr val="0F2A52"/>
          </a:solidFill>
          <a:ln/>
        </p:spPr>
      </p:sp>
      <p:sp>
        <p:nvSpPr>
          <p:cNvPr id="17" name="Text 15"/>
          <p:cNvSpPr/>
          <p:nvPr/>
        </p:nvSpPr>
        <p:spPr>
          <a:xfrm>
            <a:off x="8046720" y="260604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6A52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15 轮情绪演变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8046720" y="3063240"/>
            <a:ext cx="365760" cy="365760"/>
          </a:xfrm>
          <a:prstGeom prst="ellipse">
            <a:avLst/>
          </a:prstGeom>
          <a:solidFill>
            <a:srgbClr val="B8C2D6"/>
          </a:solidFill>
          <a:ln/>
        </p:spPr>
      </p:sp>
      <p:sp>
        <p:nvSpPr>
          <p:cNvPr id="19" name="Text 17"/>
          <p:cNvSpPr/>
          <p:nvPr/>
        </p:nvSpPr>
        <p:spPr>
          <a:xfrm>
            <a:off x="8503920" y="3063240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1-2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9144000" y="306324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开场 · 澄清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8046720" y="3520440"/>
            <a:ext cx="365760" cy="365760"/>
          </a:xfrm>
          <a:prstGeom prst="ellipse">
            <a:avLst/>
          </a:prstGeom>
          <a:solidFill>
            <a:srgbClr val="93C5FD"/>
          </a:solidFill>
          <a:ln/>
        </p:spPr>
      </p:sp>
      <p:sp>
        <p:nvSpPr>
          <p:cNvPr id="22" name="Text 20"/>
          <p:cNvSpPr/>
          <p:nvPr/>
        </p:nvSpPr>
        <p:spPr>
          <a:xfrm>
            <a:off x="8503920" y="3520440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3-5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9144000" y="352044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深挖 · 感受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8046720" y="3977640"/>
            <a:ext cx="365760" cy="365760"/>
          </a:xfrm>
          <a:prstGeom prst="ellipse">
            <a:avLst/>
          </a:prstGeom>
          <a:solidFill>
            <a:srgbClr val="FCA5A5"/>
          </a:solidFill>
          <a:ln/>
        </p:spPr>
      </p:sp>
      <p:sp>
        <p:nvSpPr>
          <p:cNvPr id="25" name="Text 23"/>
          <p:cNvSpPr/>
          <p:nvPr/>
        </p:nvSpPr>
        <p:spPr>
          <a:xfrm>
            <a:off x="8503920" y="3977640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6-8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9144000" y="397764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评价 · 自我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8046720" y="4434840"/>
            <a:ext cx="365760" cy="365760"/>
          </a:xfrm>
          <a:prstGeom prst="ellipse">
            <a:avLst/>
          </a:prstGeom>
          <a:solidFill>
            <a:srgbClr val="FCD34D"/>
          </a:solidFill>
          <a:ln/>
        </p:spPr>
      </p:sp>
      <p:sp>
        <p:nvSpPr>
          <p:cNvPr id="28" name="Text 26"/>
          <p:cNvSpPr/>
          <p:nvPr/>
        </p:nvSpPr>
        <p:spPr>
          <a:xfrm>
            <a:off x="8503920" y="4434840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9-11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9144000" y="443484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行动 · 具体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8046720" y="4892040"/>
            <a:ext cx="365760" cy="365760"/>
          </a:xfrm>
          <a:prstGeom prst="ellipse">
            <a:avLst/>
          </a:prstGeom>
          <a:solidFill>
            <a:srgbClr val="FDE68A"/>
          </a:solidFill>
          <a:ln/>
        </p:spPr>
      </p:sp>
      <p:sp>
        <p:nvSpPr>
          <p:cNvPr id="31" name="Text 29"/>
          <p:cNvSpPr/>
          <p:nvPr/>
        </p:nvSpPr>
        <p:spPr>
          <a:xfrm>
            <a:off x="8503920" y="4892040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12-14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9144000" y="489204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巩固 · 接纳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8046720" y="5349240"/>
            <a:ext cx="365760" cy="365760"/>
          </a:xfrm>
          <a:prstGeom prst="ellipse">
            <a:avLst/>
          </a:prstGeom>
          <a:solidFill>
            <a:srgbClr val="E6A528"/>
          </a:solidFill>
          <a:ln/>
        </p:spPr>
      </p:sp>
      <p:sp>
        <p:nvSpPr>
          <p:cNvPr id="34" name="Text 32"/>
          <p:cNvSpPr/>
          <p:nvPr/>
        </p:nvSpPr>
        <p:spPr>
          <a:xfrm>
            <a:off x="8503920" y="5349240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15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9144000" y="534924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告别 · 承诺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457200" y="6446520"/>
            <a:ext cx="11247120" cy="0"/>
          </a:xfrm>
          <a:prstGeom prst="line">
            <a:avLst/>
          </a:prstGeom>
          <a:noFill/>
          <a:ln w="9525">
            <a:solidFill>
              <a:srgbClr val="D9DEE7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57200" y="651052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PAEG 教育智能体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10972800" y="6510528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11 / 14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789920" y="274320"/>
            <a:ext cx="914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3600" b="1" dirty="0">
                <a:solidFill>
                  <a:srgbClr val="E6A52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10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457200" y="41148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E6A52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PART 04  ·  ARTIFACTS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96012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2A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一节课之后，PAEG 自动产出——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457200" y="155448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6A52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PPT、讲义、视频、资料推荐。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457200" y="2743200"/>
            <a:ext cx="2743200" cy="2194560"/>
          </a:xfrm>
          <a:prstGeom prst="rect">
            <a:avLst/>
          </a:prstGeom>
          <a:solidFill>
            <a:srgbClr val="FFFFFF"/>
          </a:solidFill>
          <a:ln w="6350">
            <a:solidFill>
              <a:srgbClr val="D9DEE7"/>
            </a:solidFill>
            <a:prstDash val="solid"/>
          </a:ln>
          <a:effectLst>
            <a:outerShdw sx="100000" sy="100000" kx="0" ky="0" algn="bl" rotWithShape="0" blurRad="76200" dist="12700" dir="8100000">
              <a:srgbClr val="0F2A52">
                <a:alpha val="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57200" y="2743200"/>
            <a:ext cx="2743200" cy="457200"/>
          </a:xfrm>
          <a:prstGeom prst="rect">
            <a:avLst/>
          </a:prstGeom>
          <a:solidFill>
            <a:srgbClr val="0F2A52"/>
          </a:solidFill>
          <a:ln/>
        </p:spPr>
      </p:sp>
      <p:sp>
        <p:nvSpPr>
          <p:cNvPr id="8" name="Shape 6"/>
          <p:cNvSpPr/>
          <p:nvPr/>
        </p:nvSpPr>
        <p:spPr>
          <a:xfrm>
            <a:off x="457200" y="3200400"/>
            <a:ext cx="2743200" cy="73152"/>
          </a:xfrm>
          <a:prstGeom prst="rect">
            <a:avLst/>
          </a:prstGeom>
          <a:solidFill>
            <a:srgbClr val="E6A528"/>
          </a:solidFill>
          <a:ln/>
        </p:spPr>
      </p:sp>
      <p:sp>
        <p:nvSpPr>
          <p:cNvPr id="9" name="Text 7"/>
          <p:cNvSpPr/>
          <p:nvPr/>
        </p:nvSpPr>
        <p:spPr>
          <a:xfrm>
            <a:off x="640080" y="278892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页 PPT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640080" y="3383280"/>
            <a:ext cx="2468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400" b="1" dirty="0">
                <a:solidFill>
                  <a:srgbClr val="0F2A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8</a:t>
            </a:r>
            <a:endParaRPr lang="en-US" sz="6400" dirty="0"/>
          </a:p>
        </p:txBody>
      </p:sp>
      <p:sp>
        <p:nvSpPr>
          <p:cNvPr id="11" name="Text 9"/>
          <p:cNvSpPr/>
          <p:nvPr/>
        </p:nvSpPr>
        <p:spPr>
          <a:xfrm>
            <a:off x="640080" y="434340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B556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 章结构，覆盖导入到挑战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383280" y="2743200"/>
            <a:ext cx="2743200" cy="2194560"/>
          </a:xfrm>
          <a:prstGeom prst="rect">
            <a:avLst/>
          </a:prstGeom>
          <a:solidFill>
            <a:srgbClr val="FFFFFF"/>
          </a:solidFill>
          <a:ln w="6350">
            <a:solidFill>
              <a:srgbClr val="D9DEE7"/>
            </a:solidFill>
            <a:prstDash val="solid"/>
          </a:ln>
          <a:effectLst>
            <a:outerShdw sx="100000" sy="100000" kx="0" ky="0" algn="bl" rotWithShape="0" blurRad="76200" dist="12700" dir="8100000">
              <a:srgbClr val="0F2A52">
                <a:alpha val="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383280" y="2743200"/>
            <a:ext cx="2743200" cy="457200"/>
          </a:xfrm>
          <a:prstGeom prst="rect">
            <a:avLst/>
          </a:prstGeom>
          <a:solidFill>
            <a:srgbClr val="0F2A52"/>
          </a:solidFill>
          <a:ln/>
        </p:spPr>
      </p:sp>
      <p:sp>
        <p:nvSpPr>
          <p:cNvPr id="14" name="Shape 12"/>
          <p:cNvSpPr/>
          <p:nvPr/>
        </p:nvSpPr>
        <p:spPr>
          <a:xfrm>
            <a:off x="3383280" y="3200400"/>
            <a:ext cx="2743200" cy="73152"/>
          </a:xfrm>
          <a:prstGeom prst="rect">
            <a:avLst/>
          </a:prstGeom>
          <a:solidFill>
            <a:srgbClr val="E6A528"/>
          </a:solidFill>
          <a:ln/>
        </p:spPr>
      </p:sp>
      <p:sp>
        <p:nvSpPr>
          <p:cNvPr id="15" name="Text 13"/>
          <p:cNvSpPr/>
          <p:nvPr/>
        </p:nvSpPr>
        <p:spPr>
          <a:xfrm>
            <a:off x="3566160" y="278892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份讲义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3566160" y="3383280"/>
            <a:ext cx="2468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400" b="1" dirty="0">
                <a:solidFill>
                  <a:srgbClr val="0F2A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lang="en-US" sz="6400" dirty="0"/>
          </a:p>
        </p:txBody>
      </p:sp>
      <p:sp>
        <p:nvSpPr>
          <p:cNvPr id="17" name="Text 15"/>
          <p:cNvSpPr/>
          <p:nvPr/>
        </p:nvSpPr>
        <p:spPr>
          <a:xfrm>
            <a:off x="3566160" y="434340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B556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关键对话 + 思考题 + 总结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6309360" y="2743200"/>
            <a:ext cx="2743200" cy="2194560"/>
          </a:xfrm>
          <a:prstGeom prst="rect">
            <a:avLst/>
          </a:prstGeom>
          <a:solidFill>
            <a:srgbClr val="FFFFFF"/>
          </a:solidFill>
          <a:ln w="6350">
            <a:solidFill>
              <a:srgbClr val="D9DEE7"/>
            </a:solidFill>
            <a:prstDash val="solid"/>
          </a:ln>
          <a:effectLst>
            <a:outerShdw sx="100000" sy="100000" kx="0" ky="0" algn="bl" rotWithShape="0" blurRad="76200" dist="12700" dir="8100000">
              <a:srgbClr val="0F2A52">
                <a:alpha val="8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6309360" y="2743200"/>
            <a:ext cx="2743200" cy="457200"/>
          </a:xfrm>
          <a:prstGeom prst="rect">
            <a:avLst/>
          </a:prstGeom>
          <a:solidFill>
            <a:srgbClr val="0F2A52"/>
          </a:solidFill>
          <a:ln/>
        </p:spPr>
      </p:sp>
      <p:sp>
        <p:nvSpPr>
          <p:cNvPr id="20" name="Shape 18"/>
          <p:cNvSpPr/>
          <p:nvPr/>
        </p:nvSpPr>
        <p:spPr>
          <a:xfrm>
            <a:off x="6309360" y="3200400"/>
            <a:ext cx="2743200" cy="73152"/>
          </a:xfrm>
          <a:prstGeom prst="rect">
            <a:avLst/>
          </a:prstGeom>
          <a:solidFill>
            <a:srgbClr val="E6A528"/>
          </a:solidFill>
          <a:ln/>
        </p:spPr>
      </p:sp>
      <p:sp>
        <p:nvSpPr>
          <p:cNvPr id="21" name="Text 19"/>
          <p:cNvSpPr/>
          <p:nvPr/>
        </p:nvSpPr>
        <p:spPr>
          <a:xfrm>
            <a:off x="6492240" y="278892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秒视频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6492240" y="3383280"/>
            <a:ext cx="2468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400" b="1" dirty="0">
                <a:solidFill>
                  <a:srgbClr val="0F2A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23</a:t>
            </a:r>
            <a:endParaRPr lang="en-US" sz="6400" dirty="0"/>
          </a:p>
        </p:txBody>
      </p:sp>
      <p:sp>
        <p:nvSpPr>
          <p:cNvPr id="23" name="Text 21"/>
          <p:cNvSpPr/>
          <p:nvPr/>
        </p:nvSpPr>
        <p:spPr>
          <a:xfrm>
            <a:off x="6492240" y="434340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B556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 页 23.2s，自动剪辑关键对话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9235440" y="2743200"/>
            <a:ext cx="2743200" cy="2194560"/>
          </a:xfrm>
          <a:prstGeom prst="rect">
            <a:avLst/>
          </a:prstGeom>
          <a:solidFill>
            <a:srgbClr val="FFFFFF"/>
          </a:solidFill>
          <a:ln w="6350">
            <a:solidFill>
              <a:srgbClr val="D9DEE7"/>
            </a:solidFill>
            <a:prstDash val="solid"/>
          </a:ln>
          <a:effectLst>
            <a:outerShdw sx="100000" sy="100000" kx="0" ky="0" algn="bl" rotWithShape="0" blurRad="76200" dist="12700" dir="8100000">
              <a:srgbClr val="0F2A52">
                <a:alpha val="8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9235440" y="2743200"/>
            <a:ext cx="2743200" cy="457200"/>
          </a:xfrm>
          <a:prstGeom prst="rect">
            <a:avLst/>
          </a:prstGeom>
          <a:solidFill>
            <a:srgbClr val="0F2A52"/>
          </a:solidFill>
          <a:ln/>
        </p:spPr>
      </p:sp>
      <p:sp>
        <p:nvSpPr>
          <p:cNvPr id="26" name="Shape 24"/>
          <p:cNvSpPr/>
          <p:nvPr/>
        </p:nvSpPr>
        <p:spPr>
          <a:xfrm>
            <a:off x="9235440" y="3200400"/>
            <a:ext cx="2743200" cy="73152"/>
          </a:xfrm>
          <a:prstGeom prst="rect">
            <a:avLst/>
          </a:prstGeom>
          <a:solidFill>
            <a:srgbClr val="E6A528"/>
          </a:solidFill>
          <a:ln/>
        </p:spPr>
      </p:sp>
      <p:sp>
        <p:nvSpPr>
          <p:cNvPr id="27" name="Text 25"/>
          <p:cNvSpPr/>
          <p:nvPr/>
        </p:nvSpPr>
        <p:spPr>
          <a:xfrm>
            <a:off x="9418320" y="278892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条资料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9418320" y="3383280"/>
            <a:ext cx="2468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400" b="1" dirty="0">
                <a:solidFill>
                  <a:srgbClr val="0F2A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7</a:t>
            </a:r>
            <a:endParaRPr lang="en-US" sz="6400" dirty="0"/>
          </a:p>
        </p:txBody>
      </p:sp>
      <p:sp>
        <p:nvSpPr>
          <p:cNvPr id="29" name="Text 27"/>
          <p:cNvSpPr/>
          <p:nvPr/>
        </p:nvSpPr>
        <p:spPr>
          <a:xfrm>
            <a:off x="9418320" y="434340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B556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扩展阅读，按难度梯度排序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457200" y="5212080"/>
            <a:ext cx="11247120" cy="1005840"/>
          </a:xfrm>
          <a:prstGeom prst="rect">
            <a:avLst/>
          </a:prstGeom>
          <a:solidFill>
            <a:srgbClr val="0F2A52"/>
          </a:solidFill>
          <a:ln/>
        </p:spPr>
      </p:sp>
      <p:sp>
        <p:nvSpPr>
          <p:cNvPr id="31" name="Shape 29"/>
          <p:cNvSpPr/>
          <p:nvPr/>
        </p:nvSpPr>
        <p:spPr>
          <a:xfrm>
            <a:off x="457200" y="5212080"/>
            <a:ext cx="73152" cy="1005840"/>
          </a:xfrm>
          <a:prstGeom prst="rect">
            <a:avLst/>
          </a:prstGeom>
          <a:solidFill>
            <a:srgbClr val="E6A528"/>
          </a:solidFill>
          <a:ln/>
        </p:spPr>
      </p:sp>
      <p:sp>
        <p:nvSpPr>
          <p:cNvPr id="32" name="Text 30"/>
          <p:cNvSpPr/>
          <p:nvPr/>
        </p:nvSpPr>
        <p:spPr>
          <a:xfrm>
            <a:off x="731520" y="534924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教师不用再熬夜整理教学材料。</a:t>
            </a:r>
            <a:endParaRPr lang="en-US" sz="1700" dirty="0"/>
          </a:p>
        </p:txBody>
      </p:sp>
      <p:sp>
        <p:nvSpPr>
          <p:cNvPr id="33" name="Text 31"/>
          <p:cNvSpPr/>
          <p:nvPr/>
        </p:nvSpPr>
        <p:spPr>
          <a:xfrm>
            <a:off x="731520" y="571500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8C2D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学生拿到的是一份带自己名字的复习包——包含了自己卡过的地方、自己推过的步骤、自己承诺过的小目标。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457200" y="6446520"/>
            <a:ext cx="11247120" cy="0"/>
          </a:xfrm>
          <a:prstGeom prst="line">
            <a:avLst/>
          </a:prstGeom>
          <a:noFill/>
          <a:ln w="9525">
            <a:solidFill>
              <a:srgbClr val="D9DEE7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57200" y="651052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PAEG 教育智能体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10972800" y="6510528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12 / 14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789920" y="274320"/>
            <a:ext cx="914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3600" b="1" dirty="0">
                <a:solidFill>
                  <a:srgbClr val="E6A52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11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457200" y="41148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E6A52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PART 05  ·  QUALITY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96012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F2A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30 / 30 轮全部达标，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457200" y="160020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E6A52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P0 缺陷全部修复。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960120" y="2743200"/>
            <a:ext cx="2743200" cy="2743200"/>
          </a:xfrm>
          <a:prstGeom prst="ellipse">
            <a:avLst/>
          </a:prstGeom>
          <a:solidFill>
            <a:srgbClr val="0F2A52"/>
          </a:solidFill>
          <a:ln/>
        </p:spPr>
      </p:sp>
      <p:sp>
        <p:nvSpPr>
          <p:cNvPr id="7" name="Shape 5"/>
          <p:cNvSpPr/>
          <p:nvPr/>
        </p:nvSpPr>
        <p:spPr>
          <a:xfrm>
            <a:off x="1280160" y="3063240"/>
            <a:ext cx="2103120" cy="2103120"/>
          </a:xfrm>
          <a:prstGeom prst="ellipse">
            <a:avLst/>
          </a:prstGeom>
          <a:solidFill>
            <a:srgbClr val="F5F7FA"/>
          </a:solidFill>
          <a:ln w="63500">
            <a:solidFill>
              <a:srgbClr val="E6A52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280160" y="3429000"/>
            <a:ext cx="2103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0F2A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30/30</a:t>
            </a:r>
            <a:endParaRPr lang="en-US" sz="3000" dirty="0"/>
          </a:p>
        </p:txBody>
      </p:sp>
      <p:sp>
        <p:nvSpPr>
          <p:cNvPr id="9" name="Text 7"/>
          <p:cNvSpPr/>
          <p:nvPr/>
        </p:nvSpPr>
        <p:spPr>
          <a:xfrm>
            <a:off x="1280160" y="411480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E6A52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达标率 100%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5029200" y="274320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2A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v5.0 → v5.1 修复清单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5029200" y="3108960"/>
            <a:ext cx="6675120" cy="0"/>
          </a:xfrm>
          <a:prstGeom prst="line">
            <a:avLst/>
          </a:prstGeom>
          <a:noFill/>
          <a:ln w="19050">
            <a:solidFill>
              <a:srgbClr val="E6A528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029200" y="3337560"/>
            <a:ext cx="292608" cy="292608"/>
          </a:xfrm>
          <a:prstGeom prst="rect">
            <a:avLst>
              <a:gd name="adj" fmla="val 15625"/>
            </a:avLst>
          </a:prstGeom>
          <a:solidFill>
            <a:srgbClr val="15803D"/>
          </a:solidFill>
          <a:ln/>
        </p:spPr>
      </p:sp>
      <p:sp>
        <p:nvSpPr>
          <p:cNvPr id="13" name="Text 11"/>
          <p:cNvSpPr/>
          <p:nvPr/>
        </p:nvSpPr>
        <p:spPr>
          <a:xfrm>
            <a:off x="5029200" y="3310128"/>
            <a:ext cx="29260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✓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5440680" y="3337560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2A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预算窗口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6903720" y="3337560"/>
            <a:ext cx="4846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B556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上下文超出预算时主动总结前情，防止长对话后期翻车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5029200" y="3931920"/>
            <a:ext cx="292608" cy="292608"/>
          </a:xfrm>
          <a:prstGeom prst="rect">
            <a:avLst>
              <a:gd name="adj" fmla="val 15625"/>
            </a:avLst>
          </a:prstGeom>
          <a:solidFill>
            <a:srgbClr val="15803D"/>
          </a:solidFill>
          <a:ln/>
        </p:spPr>
      </p:sp>
      <p:sp>
        <p:nvSpPr>
          <p:cNvPr id="17" name="Text 15"/>
          <p:cNvSpPr/>
          <p:nvPr/>
        </p:nvSpPr>
        <p:spPr>
          <a:xfrm>
            <a:off x="5029200" y="3904488"/>
            <a:ext cx="29260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✓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5440680" y="3931920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2A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登录限流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6903720" y="3931920"/>
            <a:ext cx="4846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B556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接入 PBKDF2 + 限流中间件，防爆破与撞库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5029200" y="4526280"/>
            <a:ext cx="292608" cy="292608"/>
          </a:xfrm>
          <a:prstGeom prst="rect">
            <a:avLst>
              <a:gd name="adj" fmla="val 15625"/>
            </a:avLst>
          </a:prstGeom>
          <a:solidFill>
            <a:srgbClr val="15803D"/>
          </a:solidFill>
          <a:ln/>
        </p:spPr>
      </p:sp>
      <p:sp>
        <p:nvSpPr>
          <p:cNvPr id="21" name="Text 19"/>
          <p:cNvSpPr/>
          <p:nvPr/>
        </p:nvSpPr>
        <p:spPr>
          <a:xfrm>
            <a:off x="5029200" y="4498848"/>
            <a:ext cx="29260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✓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5440680" y="4526280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2A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CORS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6903720" y="4526280"/>
            <a:ext cx="4846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B556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白名单收紧到教学后台域名，杜绝未授权跨域读取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5029200" y="5120640"/>
            <a:ext cx="292608" cy="292608"/>
          </a:xfrm>
          <a:prstGeom prst="rect">
            <a:avLst>
              <a:gd name="adj" fmla="val 15625"/>
            </a:avLst>
          </a:prstGeom>
          <a:solidFill>
            <a:srgbClr val="15803D"/>
          </a:solidFill>
          <a:ln/>
        </p:spPr>
      </p:sp>
      <p:sp>
        <p:nvSpPr>
          <p:cNvPr id="25" name="Text 23"/>
          <p:cNvSpPr/>
          <p:nvPr/>
        </p:nvSpPr>
        <p:spPr>
          <a:xfrm>
            <a:off x="5029200" y="5093208"/>
            <a:ext cx="29260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✓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5440680" y="5120640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2A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原子写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6903720" y="5120640"/>
            <a:ext cx="4846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B556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学生画像写入改为事务，崩溃不再丢进度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457200" y="5943600"/>
            <a:ext cx="11247120" cy="548640"/>
          </a:xfrm>
          <a:prstGeom prst="rect">
            <a:avLst/>
          </a:prstGeom>
          <a:solidFill>
            <a:srgbClr val="0F2A52"/>
          </a:solidFill>
          <a:ln/>
        </p:spPr>
      </p:sp>
      <p:sp>
        <p:nvSpPr>
          <p:cNvPr id="29" name="Shape 27"/>
          <p:cNvSpPr/>
          <p:nvPr/>
        </p:nvSpPr>
        <p:spPr>
          <a:xfrm>
            <a:off x="457200" y="5943600"/>
            <a:ext cx="73152" cy="548640"/>
          </a:xfrm>
          <a:prstGeom prst="rect">
            <a:avLst/>
          </a:prstGeom>
          <a:solidFill>
            <a:srgbClr val="E6A528"/>
          </a:solidFill>
          <a:ln/>
        </p:spPr>
      </p:sp>
      <p:sp>
        <p:nvSpPr>
          <p:cNvPr id="30" name="Text 28"/>
          <p:cNvSpPr/>
          <p:nvPr/>
        </p:nvSpPr>
        <p:spPr>
          <a:xfrm>
            <a:off x="731520" y="598932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i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"达标"不是口号，是每一轮对话都被优秀线打分后留下的成绩单。</a:t>
            </a:r>
            <a:endParaRPr lang="en-US" sz="1300" dirty="0"/>
          </a:p>
        </p:txBody>
      </p:sp>
      <p:sp>
        <p:nvSpPr>
          <p:cNvPr id="31" name="Shape 29"/>
          <p:cNvSpPr/>
          <p:nvPr/>
        </p:nvSpPr>
        <p:spPr>
          <a:xfrm>
            <a:off x="457200" y="6446520"/>
            <a:ext cx="11247120" cy="0"/>
          </a:xfrm>
          <a:prstGeom prst="line">
            <a:avLst/>
          </a:prstGeom>
          <a:noFill/>
          <a:ln w="9525">
            <a:solidFill>
              <a:srgbClr val="D9DEE7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57200" y="651052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PAEG 教育智能体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10972800" y="6510528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13 / 14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81A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144000" y="-1828800"/>
            <a:ext cx="5486400" cy="5486400"/>
          </a:xfrm>
          <a:prstGeom prst="ellipse">
            <a:avLst/>
          </a:prstGeom>
          <a:solidFill>
            <a:srgbClr val="E6A528">
              <a:alpha val="2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 rot="-900000">
            <a:off x="-1828800" y="4572000"/>
            <a:ext cx="5486400" cy="5486400"/>
          </a:xfrm>
          <a:prstGeom prst="rect">
            <a:avLst/>
          </a:prstGeom>
          <a:solidFill>
            <a:srgbClr val="0F2A52">
              <a:alpha val="5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54864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E6A52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PART 06  ·  THE ROAD AHEAD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731520" y="914400"/>
            <a:ext cx="365760" cy="73152"/>
          </a:xfrm>
          <a:prstGeom prst="rect">
            <a:avLst/>
          </a:prstGeom>
          <a:solidFill>
            <a:srgbClr val="E6A528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155448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从一个"撑得住的学生"开始，</a:t>
            </a:r>
            <a:endParaRPr lang="en-US" sz="3600" dirty="0"/>
          </a:p>
        </p:txBody>
      </p:sp>
      <p:sp>
        <p:nvSpPr>
          <p:cNvPr id="7" name="Text 5"/>
          <p:cNvSpPr/>
          <p:nvPr/>
        </p:nvSpPr>
        <p:spPr>
          <a:xfrm>
            <a:off x="731520" y="233172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E6A52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走向"每一所学校都有一位长期陪伴者"。</a:t>
            </a:r>
            <a:endParaRPr lang="en-US" sz="3600" dirty="0"/>
          </a:p>
        </p:txBody>
      </p:sp>
      <p:sp>
        <p:nvSpPr>
          <p:cNvPr id="8" name="Shape 6"/>
          <p:cNvSpPr/>
          <p:nvPr/>
        </p:nvSpPr>
        <p:spPr>
          <a:xfrm>
            <a:off x="731520" y="3566160"/>
            <a:ext cx="3657600" cy="2286000"/>
          </a:xfrm>
          <a:prstGeom prst="rect">
            <a:avLst/>
          </a:prstGeom>
          <a:solidFill>
            <a:srgbClr val="0F2A52"/>
          </a:solidFill>
          <a:ln w="9525">
            <a:solidFill>
              <a:srgbClr val="E6A52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60120" y="3703320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E6A52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960120" y="416052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多用户并发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960120" y="4663440"/>
            <a:ext cx="3200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8C2D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从单会话走向班级级并发，多个学生同时在线，画像独立、记忆不串扰。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960120" y="5532120"/>
            <a:ext cx="3200400" cy="0"/>
          </a:xfrm>
          <a:prstGeom prst="line">
            <a:avLst/>
          </a:prstGeom>
          <a:noFill/>
          <a:ln w="6350">
            <a:solidFill>
              <a:srgbClr val="E6A528">
                <a:alpha val="5000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60120" y="557784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200" kern="0" dirty="0">
                <a:solidFill>
                  <a:srgbClr val="E6A52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v6.0  ·  Q4 2026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617720" y="3566160"/>
            <a:ext cx="3657600" cy="2286000"/>
          </a:xfrm>
          <a:prstGeom prst="rect">
            <a:avLst/>
          </a:prstGeom>
          <a:solidFill>
            <a:srgbClr val="0F2A52"/>
          </a:solidFill>
          <a:ln w="9525">
            <a:solidFill>
              <a:srgbClr val="E6A52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846320" y="3703320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E6A52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4846320" y="416052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教育合规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4846320" y="4663440"/>
            <a:ext cx="3200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8C2D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对接未成年人保护法规、内容审核、家长端视图，做到可解释、可审计、可撤回。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846320" y="5532120"/>
            <a:ext cx="3200400" cy="0"/>
          </a:xfrm>
          <a:prstGeom prst="line">
            <a:avLst/>
          </a:prstGeom>
          <a:noFill/>
          <a:ln w="6350">
            <a:solidFill>
              <a:srgbClr val="E6A528">
                <a:alpha val="5000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846320" y="557784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200" kern="0" dirty="0">
                <a:solidFill>
                  <a:srgbClr val="E6A52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持续  ·  2026 全年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8503920" y="3566160"/>
            <a:ext cx="3657600" cy="2286000"/>
          </a:xfrm>
          <a:prstGeom prst="rect">
            <a:avLst/>
          </a:prstGeom>
          <a:solidFill>
            <a:srgbClr val="0F2A52"/>
          </a:solidFill>
          <a:ln w="9525">
            <a:solidFill>
              <a:srgbClr val="E6A52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732520" y="3703320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E6A52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8732520" y="416052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长期愿景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8732520" y="4663440"/>
            <a:ext cx="3200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8C2D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陪伴一位学生从初一到高三，跨 6 年保留完整画像，成为他真正记得的那位"老师"。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8732520" y="5532120"/>
            <a:ext cx="3200400" cy="0"/>
          </a:xfrm>
          <a:prstGeom prst="line">
            <a:avLst/>
          </a:prstGeom>
          <a:noFill/>
          <a:ln w="6350">
            <a:solidFill>
              <a:srgbClr val="E6A528">
                <a:alpha val="50000"/>
              </a:srgbClr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8732520" y="557784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200" kern="0" dirty="0">
                <a:solidFill>
                  <a:srgbClr val="E6A52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v8.0  ·  2028+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731520" y="608076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i="1" dirty="0">
                <a:solidFill>
                  <a:srgbClr val="E6A52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Thank you.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7315200" y="612648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B8C2D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PAEG  ·  商业路演  ·  v5.1  ·  2026.08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PAEG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PAEG 教育智能体 · 商业路演</dc:title>
  <dc:subject>PptxGenJS Presentation</dc:subject>
  <dc:creator>PAEG Team</dc:creator>
  <cp:lastModifiedBy>PAEG Team</cp:lastModifiedBy>
  <cp:revision>1</cp:revision>
  <dcterms:created xsi:type="dcterms:W3CDTF">2026-08-11T12:52:33Z</dcterms:created>
  <dcterms:modified xsi:type="dcterms:W3CDTF">2026-08-11T12:52:33Z</dcterms:modified>
</cp:coreProperties>
</file>