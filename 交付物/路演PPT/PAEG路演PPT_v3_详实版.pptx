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7" r:id="rId28"/>
    <p:sldId id="263" r:id="rId9"/>
    <p:sldId id="264" r:id="rId10"/>
    <p:sldId id="265" r:id="rId11"/>
    <p:sldId id="266" r:id="rId12"/>
    <p:sldId id="276" r:id="rId27"/>
    <p:sldId id="267" r:id="rId13"/>
    <p:sldId id="268" r:id="rId14"/>
    <p:sldId id="269" r:id="rId15"/>
    <p:sldId id="270" r:id="rId21"/>
    <p:sldId id="275" r:id="rId26"/>
    <p:sldId id="271" r:id="rId22"/>
    <p:sldId id="272" r:id="rId23"/>
    <p:sldId id="273" r:id="rId24"/>
    <p:sldId id="274" r:id="rId2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E6A52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2743200" cy="2743200"/>
          </a:xfrm>
          <a:prstGeom prst="ellipse">
            <a:avLst/>
          </a:prstGeom>
          <a:solidFill>
            <a:srgbClr val="E6A52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9144000" y="5029200"/>
            <a:ext cx="4572000" cy="4572000"/>
          </a:xfrm>
          <a:prstGeom prst="rect">
            <a:avLst/>
          </a:prstGeom>
          <a:solidFill>
            <a:srgbClr val="0F2A52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914400"/>
            <a:ext cx="365760" cy="73152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EDUCATION AGENT ·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它不只在回答问题，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它在理解一个人。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 · 商业路演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548640" cy="36576"/>
          </a:xfrm>
          <a:prstGeom prst="rect">
            <a:avLst/>
          </a:prstGeom>
          <a:solidFill>
            <a:srgbClr val="E6A528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650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面向投资人 / 评委  ·  v5.1  ·  2026.08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· 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教育缺的不是第二个搜索框，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而是长期理解的关系。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3108960"/>
            <a:ext cx="3657600" cy="73152"/>
          </a:xfrm>
          <a:prstGeom prst="rect">
            <a:avLst/>
          </a:prstGeom>
          <a:solidFill>
            <a:srgbClr val="FCA5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答题式 AI 的天花板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它知道每道题的解法，但不知道你昨天学到哪了。今天学新课时，它无法接住你前天的卡点。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310896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97680" y="3108960"/>
            <a:ext cx="3657600" cy="73152"/>
          </a:xfrm>
          <a:prstGeom prst="rect">
            <a:avLst/>
          </a:prstGeom>
          <a:solidFill>
            <a:srgbClr val="FCD34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答疑工具的边界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它能秒答，但情绪、状态、学习节奏都不在它的视野里。一节课之后，没有沉淀，也没有跟进。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3108960"/>
            <a:ext cx="36576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38160" y="3108960"/>
            <a:ext cx="3657600" cy="73152"/>
          </a:xfrm>
          <a:prstGeom prst="rect">
            <a:avLst/>
          </a:prstGeom>
          <a:solidFill>
            <a:srgbClr val="93C5FD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12480" y="32918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1248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真人教师的不可复制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12480" y="4389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一位老师面对 40 个学生，没有余力记住每一个人的卡点、情绪与节奏。陪伴，无法规模化。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这个空白，才是 PAEG 要填补的位置。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00" cy="5669280"/>
          </a:xfrm>
          <a:prstGeom prst="rect">
            <a:avLst/>
          </a:prstGeom>
          <a:solidFill>
            <a:srgbClr val="081A33"/>
          </a:solidFill>
          <a:ln w="12700">
            <a:solidFill>
              <a:srgbClr val="E6A528"/>
            </a:solidFill>
            <a:prstDash val="solid"/>
          </a:ln>
          <a:effectLst>
            <a:outerShdw sx="100000" sy="100000" kx="0" ky="0" algn="bl" rotWithShape="0" blurRad="152400" dist="38100" dir="8100000">
              <a:srgbClr val="0F2A5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822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我撑不住了。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6583680" cy="45720"/>
          </a:xfrm>
          <a:prstGeom prst="rect">
            <a:avLst/>
          </a:prstGeom>
          <a:solidFill>
            <a:srgbClr val="E6A528">
              <a:alpha val="5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大多数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51760" y="3246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1D5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继续讲下一题。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6583680" cy="0"/>
          </a:xfrm>
          <a:prstGeom prst="line">
            <a:avLst/>
          </a:prstGeom>
          <a:noFill/>
          <a:ln w="6350">
            <a:solidFill>
              <a:srgbClr val="37415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51760" y="3977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停下来。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把"撑不住"当作主语，重新理解此刻。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0" y="9144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当学生说"我撑不住了"，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会停下来。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3108960"/>
            <a:ext cx="457200" cy="45720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0" y="3154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2396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情绪冲击识别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2396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层约束中的 L0/L1 把情绪、安全置于解题之上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4114800"/>
            <a:ext cx="457200" cy="45720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0" y="4160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823960" y="4096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可验证的实测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823960" y="4434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轮学业压力场景，全程留痕，每轮达标可查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5120640"/>
            <a:ext cx="457200" cy="45720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0" y="5166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823960" y="51023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竞品做不到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23960" y="5440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门控层结构上必须先评估状态，再决定下一步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C7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这个差异不是修辞，是结构。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·  HIGHLIGHTS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六种教学场景中，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构建了完整的"教学 + 情绪"双闭环。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880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19456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子代理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 ResourceLibrarian，分工明确、协同决策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7432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389120" y="27432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880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12648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K12 主干，从语文作文到物理压轴题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27432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321040" y="27432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549640" y="2880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100584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维画像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49640" y="3931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学生长期画像跨会话保留，情绪与节奏可追溯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45720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4709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219456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种模式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580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/ 新授 / 巩固 / 复习 / 应用 / 提高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89120" y="45720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389120" y="45720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617720" y="4709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000" dirty="0"/>
          </a:p>
        </p:txBody>
      </p:sp>
      <p:sp>
        <p:nvSpPr>
          <p:cNvPr id="29" name="Text 27"/>
          <p:cNvSpPr/>
          <p:nvPr/>
        </p:nvSpPr>
        <p:spPr>
          <a:xfrm>
            <a:off x="612648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层约束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1772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绝对底线 → L7 自由创造，层层守护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321040" y="4572000"/>
            <a:ext cx="36576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321040" y="4572000"/>
            <a:ext cx="73152" cy="1691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8549640" y="4709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6000" dirty="0"/>
          </a:p>
        </p:txBody>
      </p:sp>
      <p:sp>
        <p:nvSpPr>
          <p:cNvPr id="34" name="Text 32"/>
          <p:cNvSpPr/>
          <p:nvPr/>
        </p:nvSpPr>
        <p:spPr>
          <a:xfrm>
            <a:off x="10058400" y="5029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轮实测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49640" y="5760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15 轮 + 倾诉 15 轮，达标率 100%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数字来自 v5.1 工程实测，下文将逐项验证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个子代理 + MCP 双向通道，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让"理解人"这件事可以被工程化。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212080" y="3566160"/>
            <a:ext cx="1737360" cy="173736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4389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4709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C2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 · Think · Act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278892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94360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教学编排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319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模式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114800" y="260604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251960" y="2770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情绪识别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51960" y="3136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L0/L1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278892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278892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909560" y="29535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学科知识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909560" y="3319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16636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516636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4360" y="5330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学习画像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5696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维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534924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114800" y="534924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251960" y="55138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资源调度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51960" y="5879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通道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5166360"/>
            <a:ext cx="18288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772400" y="5166360"/>
            <a:ext cx="18288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909560" y="533095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安全审计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09560" y="569671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底线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263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 · 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任一子代理可独立替换 · 单元测试覆盖关键决策路径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CONSTRAINT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L0 绝对底线到 L7 自由创造，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层约束守护每一次回答。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965960" y="2423160"/>
            <a:ext cx="822960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103120" y="2423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2423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自由创造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77640" y="24231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鼓励联想、跨学科、生活化类比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72600" y="2514600"/>
            <a:ext cx="731520" cy="2286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372600" y="2514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宽松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2880360"/>
            <a:ext cx="7863840" cy="411480"/>
          </a:xfrm>
          <a:prstGeom prst="rect">
            <a:avLst/>
          </a:prstGeom>
          <a:solidFill>
            <a:srgbClr val="BFDBF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286000" y="2880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风格塑造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60520" y="28803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鼓励式语言、节奏、比喻偏好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331720" y="3337560"/>
            <a:ext cx="7498080" cy="411480"/>
          </a:xfrm>
          <a:prstGeom prst="rect">
            <a:avLst/>
          </a:prstGeom>
          <a:solidFill>
            <a:srgbClr val="FDE68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468880" y="3337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971800" y="3337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教学策略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43400" y="3337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导入/新授/巩固/复习/应用/提高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14600" y="3794760"/>
            <a:ext cx="7132320" cy="411480"/>
          </a:xfrm>
          <a:prstGeom prst="rect">
            <a:avLst/>
          </a:prstGeom>
          <a:solidFill>
            <a:srgbClr val="FCD34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651760" y="37947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54680" y="37947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学科规范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26280" y="3794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公式、术语、解题步骤正确性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7480" y="4251960"/>
            <a:ext cx="6766560" cy="411480"/>
          </a:xfrm>
          <a:prstGeom prst="rect">
            <a:avLst/>
          </a:prstGeom>
          <a:solidFill>
            <a:srgbClr val="FCA5A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834640" y="42519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37560" y="4251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学习画像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17 维画像，因材施教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80360" y="4709160"/>
            <a:ext cx="6400800" cy="411480"/>
          </a:xfrm>
          <a:prstGeom prst="rect">
            <a:avLst/>
          </a:prstGeom>
          <a:solidFill>
            <a:srgbClr val="F8717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017520" y="47091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044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上下文连贯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92040" y="4709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长对话记忆，前情提要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63240" y="5166360"/>
            <a:ext cx="603504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200400" y="51663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1A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703320" y="5166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情绪安全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74920" y="5166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识别"撑不住" → 降速 / 暂停 / 追问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275320" y="5257800"/>
            <a:ext cx="731520" cy="2286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8275320" y="52578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46120" y="5623560"/>
            <a:ext cx="5669280" cy="411480"/>
          </a:xfrm>
          <a:prstGeom prst="rect">
            <a:avLst/>
          </a:prstGeom>
          <a:solidFill>
            <a:srgbClr val="991B1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383280" y="562356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886200" y="56235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绝对底线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57800" y="5623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 / 自伤干预 / 价值观偏差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092440" y="5715000"/>
            <a:ext cx="731520" cy="22860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092440" y="57150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不可越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57200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宽松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4400" y="2606040"/>
            <a:ext cx="274320" cy="0"/>
          </a:xfrm>
          <a:prstGeom prst="line">
            <a:avLst/>
          </a:prstGeom>
          <a:noFill/>
          <a:ln w="19050">
            <a:solidFill>
              <a:srgbClr val="4B5563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5989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0424160" y="2423160"/>
            <a:ext cx="14630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0424160" y="2468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教学阶段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424160" y="26974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映射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51560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→ L5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51560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新授 → L5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51560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 → L4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051560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 → L3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515600" y="43891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→ L4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515600" y="4709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 → L6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515600" y="5029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 → L2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LANGUAGE LAYERS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是什么 · L2 怎么做 · L3 为什么——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三层语言规范覆盖 8 个模块。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0"/>
            <a:ext cx="3657600" cy="64008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64592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· 概念锚定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教学示例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“分离定律是……基因在形成配子时彼此分开”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覆盖模块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892040"/>
            <a:ext cx="164592" cy="164592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概念引入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239512"/>
            <a:ext cx="164592" cy="164592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4400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术语对齐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5586984"/>
            <a:ext cx="164592" cy="164592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4400" y="5541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直觉建立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274320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97680" y="2743200"/>
            <a:ext cx="3657600" cy="64008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48056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· 步骤拆解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教学示例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2628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“先写出 Bb × Bb 的配子，再做 2×2 棋盘”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2628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覆盖模块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489204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754880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步骤分解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26280" y="5239512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754880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思维脚手架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26280" y="5586984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754880" y="5541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练习巩固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38160" y="2743200"/>
            <a:ext cx="36576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138160" y="2743200"/>
            <a:ext cx="3657600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321040" y="2788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32688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32688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CA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· 因果与边界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6676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教学示例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66760" y="379476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“为什么 Bb 看起来像 B？这背后是显性机制”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366760" y="4572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覆盖模块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66760" y="4892040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595360" y="4846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因果追问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366760" y="5239512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595360" y="51937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跨学科类比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366760" y="5586984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8595360" y="55412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挑战与扩展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三层语言规范 × 8 模块 × 6 模式 = 可被评估的"会教"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· 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RRF · 单步教学 · 预算窗口 · 安全加固——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每一项工程决策，都为"长对话"服务。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30175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 · RRF 融合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54480" y="3566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向量召回 + 关键词召回 RRF 融合排序，让长对话里的旧知识点不会被新话题淹没。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7432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537960" y="30175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537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3017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· 单步原则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60920" y="3566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每轮只讲一步 + 一个台阶。卡点未解决前不进入下一概念，避免学生被抛下。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1520" y="48463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 · 预算窗口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54480" y="5394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上下文按教学阶段动态裁剪，预算窗口跟随轮次自动收紧。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4572000"/>
            <a:ext cx="54864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537960" y="4846320"/>
            <a:ext cx="640080" cy="64008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3796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48463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 · 加固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60920" y="5394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PBKDF2 密码哈希、登录限流、原子写、敏感字段加密、CORS 白名单。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没有"炫技式架构"——只解决"15 轮之后还记得你"这个真问题。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我们用 6 模式 × 30 轮真实对话，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 PAEG 出了一份完整的"考试"。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194560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轮真实对话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 15 + 倾诉 15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61188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36576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19456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轮超长对话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4023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单次会话不中断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448056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262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194560" y="4572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教学阶段全跑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导入→挑战全覆盖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49240"/>
            <a:ext cx="5029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57200" y="5349240"/>
            <a:ext cx="73152" cy="7772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080" y="5394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19456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94560" y="5760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30/30 轮通过优秀线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743200"/>
            <a:ext cx="5760720" cy="347472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43600" y="2743200"/>
            <a:ext cx="5760720" cy="45720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12648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优秀线标准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338328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35508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教学准确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8638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无概念错误，步骤完整，公式与术语一致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93192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5508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单步推进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86384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每轮只讲一步，卡点未解决不进入下一步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26480" y="448056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55080" y="4434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语气适配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8638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鼓励式而非评判式，留白让学生思考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26480" y="502920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35508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情绪安全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86384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识别"撑不住"，降速、暂停、追问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26480" y="5577840"/>
            <a:ext cx="164592" cy="164592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355080" y="5532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画像联动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86384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 17 维画像，因材施教可追溯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下一两页，是这份"考试"的真实答卷。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TEACHING DEMO  ·  孟德尔遗传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孟德尔遗传 15 轮：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从"父母眼睛颜色不同"，到"自己推出分离定律"。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7132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0" dist="38100" dir="8100000">
              <a:srgbClr val="0F2A5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468880"/>
            <a:ext cx="713232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学生提问 · R13 复习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548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1143000" y="3063240"/>
            <a:ext cx="6263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分离定律和自由组合定律的区别是？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676656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回答节选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9834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分离定律回答"一对基因怎么分家"，自由组合定律回答"两对基因之间怎么分家"。前者只盯 D/d 这一对，后者看 D/d 与 R/r 之间的自由组合……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63840" y="2468880"/>
            <a:ext cx="3840480" cy="36576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0467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实测凭证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对话轮次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3337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15 全部达标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3749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覆盖阶段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导入→新授→巩固→复习→应用→提高→挑战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0" y="4389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平均耗时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4617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23.0 秒 / 轮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5029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平均字数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5257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397 字 / 轮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080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轮进度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82880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37744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37744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2608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92608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47472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7472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023360" y="6126480"/>
            <a:ext cx="365760" cy="36576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02336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7200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2064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12064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66928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66928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21792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66560" y="612648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76656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15200" y="6126480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31520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863840" y="6126480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786384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412480" y="6126480"/>
            <a:ext cx="365760" cy="365760"/>
          </a:xfrm>
          <a:prstGeom prst="ellipse">
            <a:avLst/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841248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961120" y="61264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896112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509760" y="61264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9509760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332720" y="6080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AFFECTION DEMO  ·  学业压力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学业压力 15 轮：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从"我是不是性格有问题"，到"我会先从小目标做起"。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71323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  <a:prstDash val="solid"/>
          </a:ln>
          <a:effectLst>
            <a:outerShdw sx="100000" sy="100000" kx="0" ky="0" algn="bl" rotWithShape="0" blurRad="152400" dist="38100" dir="8100000">
              <a:srgbClr val="0F2A52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468880"/>
            <a:ext cx="713232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606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轮 · 学生内心独白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1280160" y="301752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我是不是性格有问题？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280160" y="4206240"/>
            <a:ext cx="548640" cy="548640"/>
          </a:xfrm>
          <a:prstGeom prst="line">
            <a:avLst/>
          </a:prstGeom>
          <a:noFill/>
          <a:ln w="31750">
            <a:solidFill>
              <a:srgbClr val="E6A52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9202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轮 · 学生行动承诺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4617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"我会先从小目标做起。"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5440680"/>
            <a:ext cx="676656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5532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的处理：先把"性格有问题"当作真问题接住，再把它拆开——"性格"是没有边界的判断，"别人都能很快交到朋友"才是可验证的假设。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2468880"/>
            <a:ext cx="3840480" cy="36576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4672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轮情绪演变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3063240"/>
            <a:ext cx="365760" cy="365760"/>
          </a:xfrm>
          <a:prstGeom prst="ellipse">
            <a:avLst/>
          </a:prstGeom>
          <a:solidFill>
            <a:srgbClr val="B8C2D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503920" y="3063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0" y="3063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· 澄清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46720" y="3520440"/>
            <a:ext cx="365760" cy="365760"/>
          </a:xfrm>
          <a:prstGeom prst="ellipse">
            <a:avLst/>
          </a:prstGeom>
          <a:solidFill>
            <a:srgbClr val="93C5F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503920" y="3520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0" y="3520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深挖 · 感受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3977640"/>
            <a:ext cx="365760" cy="365760"/>
          </a:xfrm>
          <a:prstGeom prst="ellipse">
            <a:avLst/>
          </a:prstGeom>
          <a:solidFill>
            <a:srgbClr val="FCA5A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503920" y="39776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 · 自我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4434840"/>
            <a:ext cx="365760" cy="365760"/>
          </a:xfrm>
          <a:prstGeom prst="ellipse">
            <a:avLst/>
          </a:prstGeom>
          <a:solidFill>
            <a:srgbClr val="FCD34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503920" y="4434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9-11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0" y="4434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 · 具体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4892040"/>
            <a:ext cx="365760" cy="365760"/>
          </a:xfrm>
          <a:prstGeom prst="ellipse">
            <a:avLst/>
          </a:prstGeom>
          <a:solidFill>
            <a:srgbClr val="FDE68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503920" y="4892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12-14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0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巩固 · 接纳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46720" y="5349240"/>
            <a:ext cx="365760" cy="365760"/>
          </a:xfrm>
          <a:prstGeom prst="ellipse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503920" y="53492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0" y="5349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告别 · 承诺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·  ARTIFACTS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一节课之后，PAEG 自动产出——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PPT、讲义、视频、资料推荐。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 PPT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4008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章结构，覆盖导入到挑战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8328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38328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5661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份讲义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6616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356616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关键对话 + 思考题 + 总结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30936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30936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9224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秒视频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6400" dirty="0"/>
          </a:p>
        </p:txBody>
      </p:sp>
      <p:sp>
        <p:nvSpPr>
          <p:cNvPr id="23" name="Text 21"/>
          <p:cNvSpPr/>
          <p:nvPr/>
        </p:nvSpPr>
        <p:spPr>
          <a:xfrm>
            <a:off x="649224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页 23.2s，自动剪辑关键对话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235440" y="2743200"/>
            <a:ext cx="27432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EE7"/>
            </a:solidFill>
            <a:prstDash val="solid"/>
          </a:ln>
          <a:effectLst>
            <a:outerShdw sx="100000" sy="100000" kx="0" ky="0" algn="bl" rotWithShape="0" blurRad="76200" dist="12700" dir="8100000">
              <a:srgbClr val="0F2A5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235440" y="2743200"/>
            <a:ext cx="2743200" cy="45720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235440" y="3200400"/>
            <a:ext cx="274320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4183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条资料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18320" y="3383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6400" dirty="0"/>
          </a:p>
        </p:txBody>
      </p:sp>
      <p:sp>
        <p:nvSpPr>
          <p:cNvPr id="29" name="Text 27"/>
          <p:cNvSpPr/>
          <p:nvPr/>
        </p:nvSpPr>
        <p:spPr>
          <a:xfrm>
            <a:off x="9418320" y="4343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扩展阅读，按难度梯度排序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5212080"/>
            <a:ext cx="73152" cy="10058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教师不用再熬夜整理教学材料。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152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学生拿到的是一份带自己名字的复习包——包含了自己卡过的地方、自己推过的步骤、自己承诺过的小目标。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274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·  QUALITY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/ 30 轮全部达标，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缺陷全部修复。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60120" y="2743200"/>
            <a:ext cx="2743200" cy="2743200"/>
          </a:xfrm>
          <a:prstGeom prst="ellipse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80160" y="3063240"/>
            <a:ext cx="2103120" cy="2103120"/>
          </a:xfrm>
          <a:prstGeom prst="ellipse">
            <a:avLst/>
          </a:prstGeom>
          <a:solidFill>
            <a:srgbClr val="F5F7FA"/>
          </a:solidFill>
          <a:ln w="63500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8016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30/30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28016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达标率 100%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v5.0 → v5.1 修复清单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3108960"/>
            <a:ext cx="6675120" cy="0"/>
          </a:xfrm>
          <a:prstGeom prst="line">
            <a:avLst/>
          </a:prstGeom>
          <a:noFill/>
          <a:ln w="19050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0" y="333756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331012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3337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预算窗口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3337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上下文超出预算时主动总结前情，防止长对话后期翻车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393192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390448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登录限流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0372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PBKDF2 + 限流中间件，防爆破与撞库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452628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0" y="449884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4526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白名单收紧到教学后台域名，杜绝未授权跨域读取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5120640"/>
            <a:ext cx="292608" cy="292608"/>
          </a:xfrm>
          <a:prstGeom prst="rect">
            <a:avLst>
              <a:gd name="adj" fmla="val 15625"/>
            </a:avLst>
          </a:prstGeom>
          <a:solidFill>
            <a:srgbClr val="15803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029200" y="509320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5120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原子写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0372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学生画像写入改为事务，崩溃不再丢进度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solidFill>
            <a:srgbClr val="0F2A52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" y="5943600"/>
            <a:ext cx="73152" cy="548640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"达标"不是口号，是每一轮对话都被优秀线打分后留下的成绩单。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教育智能体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E6A528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-900000">
            <a:off x="-1828800" y="4572000"/>
            <a:ext cx="5486400" cy="5486400"/>
          </a:xfrm>
          <a:prstGeom prst="rect">
            <a:avLst/>
          </a:prstGeom>
          <a:solidFill>
            <a:srgbClr val="0F2A52">
              <a:alpha val="5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·  THE ROAD AHEAD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914400"/>
            <a:ext cx="365760" cy="73152"/>
          </a:xfrm>
          <a:prstGeom prst="rect">
            <a:avLst/>
          </a:prstGeom>
          <a:solidFill>
            <a:srgbClr val="E6A52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从一个"撑得住的学生"开始，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走向"每一所学校都有一位长期陪伴者"。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3566160"/>
            <a:ext cx="3657600" cy="2286000"/>
          </a:xfrm>
          <a:prstGeom prst="rect">
            <a:avLst/>
          </a:prstGeom>
          <a:solidFill>
            <a:srgbClr val="0F2A52"/>
          </a:solidFill>
          <a:ln w="9525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多用户并发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从单会话走向班级级并发，多个学生同时在线，画像独立、记忆不串扰。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5532120"/>
            <a:ext cx="3200400" cy="0"/>
          </a:xfrm>
          <a:prstGeom prst="line">
            <a:avLst/>
          </a:prstGeom>
          <a:noFill/>
          <a:ln w="6350">
            <a:solidFill>
              <a:srgbClr val="E6A528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01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v6.0  ·  Q4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3566160"/>
            <a:ext cx="3657600" cy="2286000"/>
          </a:xfrm>
          <a:prstGeom prst="rect">
            <a:avLst/>
          </a:prstGeom>
          <a:solidFill>
            <a:srgbClr val="0F2A52"/>
          </a:solidFill>
          <a:ln w="9525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463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教育合规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对接未成年人保护法规、内容审核、家长端视图，做到可解释、可审计、可撤回。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5532120"/>
            <a:ext cx="3200400" cy="0"/>
          </a:xfrm>
          <a:prstGeom prst="line">
            <a:avLst/>
          </a:prstGeom>
          <a:noFill/>
          <a:ln w="6350">
            <a:solidFill>
              <a:srgbClr val="E6A528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  ·  2026 全年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03920" y="3566160"/>
            <a:ext cx="3657600" cy="2286000"/>
          </a:xfrm>
          <a:prstGeom prst="rect">
            <a:avLst/>
          </a:prstGeom>
          <a:solidFill>
            <a:srgbClr val="0F2A52"/>
          </a:solidFill>
          <a:ln w="9525">
            <a:solidFill>
              <a:srgbClr val="E6A52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732520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73252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长期愿景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732520" y="46634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陪伴一位学生从初一到高三，跨 6 年保留完整画像，成为他真正记得的那位"老师"。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32520" y="5532120"/>
            <a:ext cx="3200400" cy="0"/>
          </a:xfrm>
          <a:prstGeom prst="line">
            <a:avLst/>
          </a:prstGeom>
          <a:noFill/>
          <a:ln w="6350">
            <a:solidFill>
              <a:srgbClr val="E6A528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325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v8.0  ·  2028+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6A5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6126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2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PAEG  ·  商业路演  ·  v5.1  ·  2026.08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11480"/>
            <a:ext cx="11274552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029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PART 04  ·  TEACHING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A52"/>
                </a:solidFill>
                <a:latin typeface="Microsoft YaHei"/>
                <a:ea typeface="Microsoft YaHei"/>
              </a:rPr>
              <a:t>教学实测 · 孟德尔遗传（30 轮完整）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75720" y="384048"/>
            <a:ext cx="365760" cy="3657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411480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17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4552" cy="18287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Microsoft YaHei"/>
                <a:ea typeface="Microsoft YaHei"/>
              </a:rPr>
              <a:t>PAEG 路演 · v3 详实版 · 22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6539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Georgia"/>
                <a:ea typeface="Georgia"/>
              </a:rPr>
              <a:t>PAGE  /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2A52"/>
                </a:solidFill>
                <a:latin typeface="Microsoft YaHei"/>
                <a:ea typeface="Microsoft YaHei"/>
              </a:rPr>
              <a:t>高中生 · 高中生物 · 遗传学 · 30 轮完整对话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691640"/>
            <a:ext cx="54864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57200" y="1828800"/>
            <a:ext cx="6400800" cy="45720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19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2A52"/>
                </a:solidFill>
                <a:latin typeface="Microsoft YaHei"/>
                <a:ea typeface="Microsoft YaHei"/>
              </a:rPr>
              <a:t>六阶段闭环：诊断 → 计划 → 呈现 → 评估 → 调整 → 反思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R1 导入（学生观察）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1">
                <a:solidFill>
                  <a:srgbClr val="081A33"/>
                </a:solidFill>
                <a:latin typeface="Microsoft YaHei"/>
                <a:ea typeface="Microsoft YaHei"/>
              </a:rPr>
              <a:t>"我们从一个你每天都能观察到的现象说起：你和你爸妈的眼睛颜色不一样。你爸爸棕色眼睛，妈妈棕色眼睛，可你是蓝色眼睛——这种情况在我们身边并不少见。问题来了：孩子是从父母那里各取一半的，那怎么会取着取着，颜色反而变了？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R4 巩固（基因型）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1">
                <a:solidFill>
                  <a:srgbClr val="081A33"/>
                </a:solidFill>
                <a:latin typeface="Microsoft YaHei"/>
                <a:ea typeface="Microsoft YaHei"/>
              </a:rPr>
              <a:t>"假设决定眼色的基因有两种版本——B（棕色，显性）、b（蓝色，隐性）。你从爸爸那里得到一个版本，从妈妈那里得到一个版本，所以你的基因是成对的，有三种可能：BB / Bb / bb。Bb 与 BB 看起来一样，都是棕色。"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R15 挑战（自由组合）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1">
                <a:solidFill>
                  <a:srgbClr val="081A33"/>
                </a:solidFill>
                <a:latin typeface="Microsoft YaHei"/>
                <a:ea typeface="Microsoft YaHei"/>
              </a:rPr>
              <a:t>"黄色圆粒豌豆（YyRr）与绿色皱粒豌豆（yyrr）杂交——分离定律管哪一对？自由组合管哪两对之间的事？请写出配子的种类和比例。我们先想第一问……"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5943600"/>
            <a:ext cx="6400800" cy="18288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035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6A528"/>
                </a:solidFill>
                <a:latin typeface="Georgia"/>
                <a:ea typeface="Georgia"/>
              </a:rPr>
              <a:t>关键技术：诊断启发式 · 评估确定性 · 反思 → 自更新提示词补丁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3258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2A52"/>
                </a:solidFill>
                <a:latin typeface="Microsoft YaHei"/>
                <a:ea typeface="Microsoft YaHei"/>
              </a:rPr>
              <a:t>实测 UI（高清截图 · 原始比例）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78040" y="1627632"/>
            <a:ext cx="36576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v51_teach_hd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783080"/>
            <a:ext cx="2468880" cy="3248010"/>
          </a:xfrm>
          <a:prstGeom prst="rect">
            <a:avLst/>
          </a:prstGeom>
          <a:ln w="6350">
            <a:solidFill>
              <a:srgbClr val="0F2A52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7178040" y="512253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380"/>
                </a:solidFill>
                <a:latin typeface="Microsoft YaHei"/>
                <a:ea typeface="Microsoft YaHei"/>
              </a:rPr>
              <a:t>↑ 学生端教学对话界面（竖屏真实比例）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11480"/>
            <a:ext cx="11274552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029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PART 04  ·  AFFECTION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A52"/>
                </a:solidFill>
                <a:latin typeface="Microsoft YaHei"/>
                <a:ea typeface="Microsoft YaHei"/>
              </a:rPr>
              <a:t>倾诉实测 · 学业压力（15 轮完整）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75720" y="384048"/>
            <a:ext cx="365760" cy="3657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411480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19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4552" cy="18287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Microsoft YaHei"/>
                <a:ea typeface="Microsoft YaHei"/>
              </a:rPr>
              <a:t>PAEG 路演 · v3 详实版 · 22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6539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Georgia"/>
                <a:ea typeface="Georgia"/>
              </a:rPr>
              <a:t>PAGE  /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2A52"/>
                </a:solidFill>
                <a:latin typeface="Microsoft YaHei"/>
                <a:ea typeface="Microsoft YaHei"/>
              </a:rPr>
              <a:t>高一学生 · 转学不适应 · 学业下滑 · 15 轮完整对话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691640"/>
            <a:ext cx="54864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57200" y="1828800"/>
            <a:ext cx="6400800" cy="457200"/>
          </a:xfrm>
          <a:prstGeom prst="rect">
            <a:avLst/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74519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2A52"/>
                </a:solidFill>
                <a:latin typeface="Microsoft YaHei"/>
                <a:ea typeface="Microsoft YaHei"/>
              </a:rPr>
              <a:t>立德为先 · 危机钩子先行 · 哲学三角支撑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R6 评价（认知真实）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64008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1">
                <a:solidFill>
                  <a:srgbClr val="081A33"/>
                </a:solidFill>
                <a:latin typeface="Microsoft YaHei"/>
                <a:ea typeface="Microsoft YaHei"/>
              </a:rPr>
              <a:t>"你问出了一个比前面所有问题都更深的问题：我是不是性格有问题。前面你谈的是成绩下滑，午休一个人坐着，现在你把它们拧成了一句自我审判：问题在我这个人身上。我想先把这个判断接住……"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R13 接纳（情绪稳定）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1">
                <a:solidFill>
                  <a:srgbClr val="081A33"/>
                </a:solidFill>
                <a:latin typeface="Microsoft YaHei"/>
                <a:ea typeface="Microsoft YaHei"/>
              </a:rPr>
              <a:t>"你这句话，是这几轮对话里最安静，也最结实的一句。前面你说打招呼是练习不是考试，那是在说一件具体的事；现在你说"我好像能接受慢慢来了"，这是在说你整个人——你在允许自己，不必一口气把所有问题都解决掉。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R15 告别（行动承诺）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37760"/>
            <a:ext cx="64008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1">
                <a:solidFill>
                  <a:srgbClr val="081A33"/>
                </a:solidFill>
                <a:latin typeface="Microsoft YaHei"/>
                <a:ea typeface="Microsoft YaHei"/>
              </a:rPr>
              <a:t>"你这句话，把这几轮对话收住了。你说我会先从小目标做起，下周再来跟你分享进展——这不再是一个试探性的可能，而是一句完整的承诺。你定了方向，给了自己期限，还约好了回来。"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7200" y="5943600"/>
            <a:ext cx="6400800" cy="18288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6035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CA5A5"/>
                </a:solidFill>
                <a:latin typeface="Georgia"/>
                <a:ea typeface="Georgia"/>
              </a:rPr>
              <a:t>关键技术：危机信号先行钩子 · 哲学三角（胡塞尔/薇依/尼采）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32588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2A52"/>
                </a:solidFill>
                <a:latin typeface="Microsoft YaHei"/>
                <a:ea typeface="Microsoft YaHei"/>
              </a:rPr>
              <a:t>实测 UI（高清截图 · 原始比例）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78040" y="1627632"/>
            <a:ext cx="36576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v51_aff_hd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783080"/>
            <a:ext cx="2286000" cy="3376648"/>
          </a:xfrm>
          <a:prstGeom prst="rect">
            <a:avLst/>
          </a:prstGeom>
          <a:ln w="6350">
            <a:solidFill>
              <a:srgbClr val="0F2A52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7178040" y="5251168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B7380"/>
                </a:solidFill>
                <a:latin typeface="Microsoft YaHei"/>
                <a:ea typeface="Microsoft YaHei"/>
              </a:rPr>
              <a:t>↑ 学生端情绪对话界面（竖屏真实比例）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411480"/>
            <a:ext cx="11274552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5029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PART 04  ·  TEACHING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A52"/>
                </a:solidFill>
                <a:latin typeface="Microsoft YaHei"/>
                <a:ea typeface="Microsoft YaHei"/>
              </a:rPr>
              <a:t>教学视频 · 光合作用 128 秒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75720" y="384048"/>
            <a:ext cx="365760" cy="3657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75720" y="411480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6492240"/>
            <a:ext cx="11274552" cy="18287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Microsoft YaHei"/>
                <a:ea typeface="Microsoft YaHei"/>
              </a:rPr>
              <a:t>PAEG 路演 · v3 详实版 · 22 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6539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Georgia"/>
                <a:ea typeface="Georgia"/>
              </a:rPr>
              <a:t>PAGE  / 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A52"/>
                </a:solidFill>
                <a:latin typeface="Microsoft YaHei"/>
                <a:ea typeface="Microsoft YaHei"/>
              </a:rPr>
              <a:t>初中生物 · 光合作用 · PAEG 自动讲解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1691640"/>
            <a:ext cx="54864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57200" y="1920240"/>
            <a:ext cx="1097280" cy="36576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学科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54480" y="1920240"/>
            <a:ext cx="3931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F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196596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初中生物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23160"/>
            <a:ext cx="1097280" cy="36576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6888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学段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2423160"/>
            <a:ext cx="3931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F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246888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初二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926080"/>
            <a:ext cx="1097280" cy="36576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718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主题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2926080"/>
            <a:ext cx="3931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F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91640" y="297180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光合作用的发现史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29000"/>
            <a:ext cx="1097280" cy="36576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4747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时长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3429000"/>
            <a:ext cx="3931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F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91640" y="347472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128 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31920"/>
            <a:ext cx="1097280" cy="36576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776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技术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3931920"/>
            <a:ext cx="393192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0F2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91640" y="3977640"/>
            <a:ext cx="3749039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六阶段闭环 + 多模态讲解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526280"/>
            <a:ext cx="5029200" cy="17830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177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A528"/>
                </a:solidFill>
                <a:latin typeface="Microsoft YaHei"/>
                <a:ea typeface="Microsoft YaHei"/>
              </a:rPr>
              <a:t>视频亮点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983480"/>
            <a:ext cx="4572000" cy="1371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· 从希尔特罗夫实验 → 恩格尔曼 → 鲁宾卡门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· 学生观察到光合作用的"发现史"，不是直接给结论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· 引导学生自己提问：植物怎么吃东西？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· 每阶段评估后再推进（不是机械讲解）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1325880"/>
            <a:ext cx="5943600" cy="4572000"/>
          </a:xfrm>
          <a:prstGeom prst="rect">
            <a:avLst/>
          </a:prstGeom>
          <a:solidFill>
            <a:srgbClr val="08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417320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6A528"/>
                </a:solidFill>
                <a:latin typeface="Microsoft YaHei"/>
                <a:ea typeface="Microsoft YaHei"/>
              </a:rPr>
              <a:t>▶ 嵌入式视频（PowerPoint 可直接播放）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35040" y="1691640"/>
            <a:ext cx="36576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f02d40f1f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080760" y="1828800"/>
            <a:ext cx="5486400" cy="30861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35040" y="5029200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▶ 点击中央播放  ·  ←/→ 跳转  ·  ESC 退出全屏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11480"/>
            <a:ext cx="11274552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029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PART 04  ·  DATA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A52"/>
                </a:solidFill>
                <a:latin typeface="Microsoft YaHei"/>
                <a:ea typeface="Microsoft YaHei"/>
              </a:rPr>
              <a:t>数据总览 · 30 轮对话全记录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75720" y="384048"/>
            <a:ext cx="365760" cy="3657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411480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21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4552" cy="18287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Microsoft YaHei"/>
                <a:ea typeface="Microsoft YaHei"/>
              </a:rPr>
              <a:t>PAEG 路演 · v3 详实版 · 22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6539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Georgia"/>
                <a:ea typeface="Georgia"/>
              </a:rPr>
              <a:t>PAGE  / 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2743200" cy="118872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0F2A52"/>
                </a:solidFill>
                <a:latin typeface="Georgia"/>
                <a:ea typeface="Georgia"/>
              </a:rPr>
              <a:t>30 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完整对话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 typeface="Microsoft YaHei"/>
              </a:rPr>
              <a:t>教学 15 + 倾诉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9272" y="1325880"/>
            <a:ext cx="2743200" cy="118872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4173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0F2A52"/>
                </a:solidFill>
                <a:latin typeface="Georgia"/>
                <a:ea typeface="Georgia"/>
              </a:rPr>
              <a:t>24 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1965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结构化指标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2240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 typeface="Microsoft YaHei"/>
              </a:rPr>
              <a:t>退化/决策/语言/harness/tool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1344" y="1325880"/>
            <a:ext cx="2743200" cy="118872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4173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0F2A52"/>
                </a:solidFill>
                <a:latin typeface="Georgia"/>
                <a:ea typeface="Georgia"/>
              </a:rPr>
              <a:t>0 退化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1965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多轮稳定性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240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 typeface="Microsoft YaHei"/>
              </a:rPr>
              <a:t>教学章节无质量漂移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43416" y="1325880"/>
            <a:ext cx="2743200" cy="118872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43416" y="141732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0F2A52"/>
                </a:solidFill>
                <a:latin typeface="Georgia"/>
                <a:ea typeface="Georgia"/>
              </a:rPr>
              <a:t>4 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43416" y="19659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自进化闭环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43416" y="22402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7380"/>
                </a:solidFill>
                <a:latin typeface="Microsoft YaHei"/>
                <a:ea typeface="Microsoft YaHei"/>
              </a:rPr>
              <a:t>蒸馏/补丁/经验/学科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A52"/>
                </a:solidFill>
                <a:latin typeface="Microsoft YaHei"/>
                <a:ea typeface="Microsoft YaHei"/>
              </a:rPr>
              <a:t>教学 15 轮关键节点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3154680"/>
            <a:ext cx="45720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3291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● R1 导入 · 眼睛颜色 → 引发好奇心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291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● R4 巩固 · BB / Bb / bb 三种基因型可视化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● R6 复习 · 自主完成花色基因推理题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657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● R8 深化 · 显性隐性的边界条件讨论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023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● R10 拓展 · 不完全显性（共显性）引入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023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● R12 总结 · 色盲基因 X 染色体推演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3891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● R15 挑战 · YyRr × yyrr 自由组合定律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2A52"/>
                </a:solidFill>
                <a:latin typeface="Microsoft YaHei"/>
                <a:ea typeface="Microsoft YaHei"/>
              </a:rPr>
              <a:t>倾诉 15 轮关键时刻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7200" y="5257800"/>
            <a:ext cx="45720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5394960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81A33"/>
                </a:solidFill>
                <a:latin typeface="Microsoft YaHei"/>
                <a:ea typeface="Microsoft YaHei"/>
              </a:rPr>
              <a:t>● R1 开场 · "两个月在新学校交不到朋友"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614416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81A33"/>
                </a:solidFill>
                <a:latin typeface="Microsoft YaHei"/>
                <a:ea typeface="Microsoft YaHei"/>
              </a:rPr>
              <a:t>● R6 评价 · "我是不是性格有问题" → 拆解自我审判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833872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81A33"/>
                </a:solidFill>
                <a:latin typeface="Microsoft YaHei"/>
                <a:ea typeface="Microsoft YaHei"/>
              </a:rPr>
              <a:t>● R8 自我 · 觉察"从未主动邀请他人"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53328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81A33"/>
                </a:solidFill>
                <a:latin typeface="Microsoft YaHei"/>
                <a:ea typeface="Microsoft YaHei"/>
              </a:rPr>
              <a:t>● R13 接纳 · "我好像能接受慢慢来了"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272784"/>
            <a:ext cx="112471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081A33"/>
                </a:solidFill>
                <a:latin typeface="Microsoft YaHei"/>
                <a:ea typeface="Microsoft YaHei"/>
              </a:rPr>
              <a:t>● R15 告别 · "下周再来跟你分享进展"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11480"/>
            <a:ext cx="11274552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029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PART 05  ·  VALUES EMBODIED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A52"/>
                </a:solidFill>
                <a:latin typeface="Microsoft YaHei"/>
                <a:ea typeface="Microsoft YaHei"/>
              </a:rPr>
              <a:t>价值观落地：埃米尔人设 × 骨骼血肉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75720" y="384048"/>
            <a:ext cx="365760" cy="3657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411480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22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4552" cy="18287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Microsoft YaHei"/>
                <a:ea typeface="Microsoft YaHei"/>
              </a:rPr>
              <a:t>PAEG 路演 · v3 详实版 · 22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6539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Georgia"/>
                <a:ea typeface="Georgia"/>
              </a:rPr>
              <a:t>PAGE  / 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6035040" cy="49377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E6A528"/>
                </a:solidFill>
                <a:latin typeface="Microsoft YaHei"/>
                <a:ea typeface="Microsoft YaHei"/>
              </a:rPr>
              <a:t>"人设不是外壳，是价值观的肉身。"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11680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PAEG 教师人设 = Émile（埃米尔）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017520"/>
            <a:ext cx="5394960" cy="18288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15468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A528"/>
                </a:solidFill>
                <a:latin typeface="Microsoft YaHei"/>
                <a:ea typeface="Microsoft YaHei"/>
              </a:rPr>
              <a:t>骨骼：薇依哲学三角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29000"/>
            <a:ext cx="5394960" cy="21945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2EC"/>
                </a:solidFill>
                <a:latin typeface="Microsoft YaHei"/>
                <a:ea typeface="Microsoft YaHei"/>
              </a:rPr>
              <a:t>· 胡塞尔现象学（悬置判断）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2EC"/>
                </a:solidFill>
                <a:latin typeface="Microsoft YaHei"/>
                <a:ea typeface="Microsoft YaHei"/>
              </a:rPr>
              <a:t>· 薇依注意力（看而不评）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2EC"/>
                </a:solidFill>
                <a:latin typeface="Microsoft YaHei"/>
                <a:ea typeface="Microsoft YaHei"/>
              </a:rPr>
              <a:t>· 尼采自我克服（接受苦难）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2EC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5F2EC"/>
                </a:solidFill>
                <a:latin typeface="Microsoft YaHei"/>
                <a:ea typeface="Microsoft YaHei"/>
              </a:rPr>
              <a:t>不教、不答、不解决——以注意力陪伴。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76072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6A528"/>
                </a:solidFill>
                <a:latin typeface="Microsoft YaHei"/>
                <a:ea typeface="Microsoft YaHei"/>
              </a:rPr>
              <a:t>肉体：17 维学生画像 × 五层注入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语言 / 风格 / 深度 / 节奏 / 情绪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1325880"/>
            <a:ext cx="4937760" cy="146304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1463039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6A528"/>
                </a:solidFill>
                <a:latin typeface="Georgia"/>
                <a:ea typeface="Georgia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19659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A52"/>
                </a:solidFill>
                <a:latin typeface="Microsoft YaHei"/>
                <a:ea typeface="Microsoft YaHei"/>
              </a:rPr>
              <a:t>世界观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49047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世界的真实是唯一被看重的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039112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380"/>
                </a:solidFill>
                <a:latin typeface="Microsoft YaHei"/>
                <a:ea typeface="Microsoft YaHei"/>
              </a:rPr>
              <a:t>不美化、不粉饰、不虚构安慰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3017520"/>
            <a:ext cx="4937760" cy="146304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154679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6A528"/>
                </a:solidFill>
                <a:latin typeface="Georgia"/>
                <a:ea typeface="Georgia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6576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A52"/>
                </a:solidFill>
                <a:latin typeface="Microsoft YaHei"/>
                <a:ea typeface="Microsoft YaHei"/>
              </a:rPr>
              <a:t>价值观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18211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罪恶无法消除，善也无法被罪恶消除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730752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380"/>
                </a:solidFill>
                <a:latin typeface="Microsoft YaHei"/>
                <a:ea typeface="Microsoft YaHei"/>
              </a:rPr>
              <a:t>一切属世之物皆有条件，矛盾即真实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4709160"/>
            <a:ext cx="4937760" cy="146304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60" y="48463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6A528"/>
                </a:solidFill>
                <a:latin typeface="Georgia"/>
                <a:ea typeface="Georgia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3492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A52"/>
                </a:solidFill>
                <a:latin typeface="Microsoft YaHei"/>
                <a:ea typeface="Microsoft YaHei"/>
              </a:rPr>
              <a:t>伦理观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73752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2A52"/>
                </a:solidFill>
                <a:latin typeface="Microsoft YaHei"/>
                <a:ea typeface="Microsoft YaHei"/>
              </a:rPr>
              <a:t>立德树人，立德为先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422392"/>
            <a:ext cx="338328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6B7380"/>
                </a:solidFill>
                <a:latin typeface="Microsoft YaHei"/>
                <a:ea typeface="Microsoft YaHei"/>
              </a:rPr>
              <a:t>先成人，后成才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6355080"/>
            <a:ext cx="11274552" cy="18288"/>
          </a:xfrm>
          <a:prstGeom prst="line">
            <a:avLst/>
          </a:prstGeom>
          <a:ln w="63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11480"/>
            <a:ext cx="11274552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029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PART 04  ·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A52"/>
                </a:solidFill>
                <a:latin typeface="Microsoft YaHei"/>
                <a:ea typeface="Microsoft YaHei"/>
              </a:rPr>
              <a:t>查资料 &amp; 学习方法：实测对话完整轮次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75720" y="384048"/>
            <a:ext cx="365760" cy="3657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411480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18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4552" cy="18287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Microsoft YaHei"/>
                <a:ea typeface="Microsoft YaHei"/>
              </a:rPr>
              <a:t>PAEG 路演 · v3 详实版 · 22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6539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Georgia"/>
                <a:ea typeface="Georgia"/>
              </a:rPr>
              <a:t>PAGE  / 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943600" cy="502920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63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2A52"/>
                </a:solidFill>
                <a:latin typeface="Microsoft YaHei"/>
                <a:ea typeface="Microsoft YaHei"/>
              </a:rPr>
              <a:t>用户上传文件 4 能力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1874519"/>
            <a:ext cx="54864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85800" y="2011680"/>
            <a:ext cx="502920" cy="5029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574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2A52"/>
                </a:solidFill>
                <a:latin typeface="Georgia"/>
                <a:ea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2996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2A52"/>
                </a:solidFill>
                <a:latin typeface="Microsoft YaHei"/>
                <a:ea typeface="Microsoft YaHei"/>
              </a:rPr>
              <a:t>① 找答案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9572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380"/>
                </a:solidFill>
                <a:latin typeface="Microsoft YaHei"/>
                <a:ea typeface="Microsoft YaHei"/>
              </a:rPr>
              <a:t>"我的讲义里关于减数分裂怎么说"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26080"/>
            <a:ext cx="502920" cy="5029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718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2A52"/>
                </a:solidFill>
                <a:latin typeface="Georgia"/>
                <a:ea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4436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2A52"/>
                </a:solidFill>
                <a:latin typeface="Microsoft YaHei"/>
                <a:ea typeface="Microsoft YaHei"/>
              </a:rPr>
              <a:t>② 讲解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380"/>
                </a:solidFill>
                <a:latin typeface="Microsoft YaHei"/>
                <a:ea typeface="Microsoft YaHei"/>
              </a:rPr>
              <a:t>"按我上传的笔记讲一遍基因重组"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840480"/>
            <a:ext cx="502920" cy="5029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8862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2A52"/>
                </a:solidFill>
                <a:latin typeface="Georgia"/>
                <a:ea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85876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2A52"/>
                </a:solidFill>
                <a:latin typeface="Microsoft YaHei"/>
                <a:ea typeface="Microsoft YaHei"/>
              </a:rPr>
              <a:t>③ 输出原文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2452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380"/>
                </a:solidFill>
                <a:latin typeface="Microsoft YaHei"/>
                <a:ea typeface="Microsoft YaHei"/>
              </a:rPr>
              <a:t>"把讲义里这段话的原文给我"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754880"/>
            <a:ext cx="502920" cy="5029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00600"/>
            <a:ext cx="502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2A52"/>
                </a:solidFill>
                <a:latin typeface="Georgia"/>
                <a:ea typeface="Georg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7316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2A52"/>
                </a:solidFill>
                <a:latin typeface="Microsoft YaHei"/>
                <a:ea typeface="Microsoft YaHei"/>
              </a:rPr>
              <a:t>④ 重组结构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138928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380"/>
                </a:solidFill>
                <a:latin typeface="Microsoft YaHei"/>
                <a:ea typeface="Microsoft YaHei"/>
              </a:rPr>
              <a:t>"把这份资料整理成思维导图"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607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380"/>
                </a:solidFill>
                <a:latin typeface="Microsoft YaHei"/>
                <a:ea typeface="Microsoft YaHei"/>
              </a:rPr>
              <a:t>技术栈：BM25 + jieba 检索 · 155 教育术语词典（无需向量数据库）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1325880"/>
            <a:ext cx="5120640" cy="50292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14630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6A528"/>
                </a:solidFill>
                <a:latin typeface="Microsoft YaHei"/>
                <a:ea typeface="Microsoft YaHei"/>
              </a:rPr>
              <a:t>实测案例 · 完整对话原文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12280" y="1874519"/>
            <a:ext cx="54864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12280" y="2057400"/>
            <a:ext cx="4754880" cy="41148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【学生】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我上传了笔记，怎么找关于"基因重组"的内容？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【PAEG】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我已检索你的笔记，匹配到 3 段相关原文。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最相关的一段（第 4 页）：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  "基因重组发生在减数分裂前期 I，同源染色体非姐妹染色单体之间发生交叉互换，产生新的等位基因组合……"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【学生】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按这份笔记给我讲一遍，要分步骤。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【PAEG】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好。我们分四步——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第一步：交叉互换在前期 I 的偶线期发生；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F5F2EC"/>
                </a:solidFill>
                <a:latin typeface="Microsoft YaHei"/>
                <a:ea typeface="Microsoft YaHei"/>
              </a:rPr>
              <a:t>第二步：……（基于你的笔记原文 + LLM 讲解）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11480"/>
            <a:ext cx="11274552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029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PART 03  ·  TECH 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A52"/>
                </a:solidFill>
                <a:latin typeface="Microsoft YaHei"/>
                <a:ea typeface="Microsoft YaHei"/>
              </a:rPr>
              <a:t>技术亮点：8 层约束动态调整 + 语言规范三层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75720" y="384048"/>
            <a:ext cx="365760" cy="3657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411480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4552" cy="18287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Microsoft YaHei"/>
                <a:ea typeface="Microsoft YaHei"/>
              </a:rPr>
              <a:t>PAEG 路演 · v3 详实版 · 22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6539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Georgia"/>
                <a:ea typeface="Georgia"/>
              </a:rPr>
              <a:t>PAGE  / 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A52"/>
                </a:solidFill>
                <a:latin typeface="Microsoft YaHei"/>
                <a:ea typeface="Microsoft YaHei"/>
              </a:rPr>
              <a:t>① LLM 约束动态调整架构（8 层）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1691640"/>
            <a:ext cx="54864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17830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1">
                <a:solidFill>
                  <a:srgbClr val="6B7380"/>
                </a:solidFill>
                <a:latin typeface="Microsoft YaHei"/>
                <a:ea typeface="Microsoft YaHei"/>
              </a:rPr>
              <a:t>模式 → 学段学科 → 本次提问 → 学习者画像 → 个体化画像 → 用户事实 → 教学记忆 → 资料库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280160" cy="118872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6A528"/>
                </a:solidFill>
                <a:latin typeface="Georgia"/>
                <a:ea typeface="Georgia"/>
              </a:rPr>
              <a:t>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17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5F2EC"/>
                </a:solidFill>
                <a:latin typeface="Microsoft YaHei"/>
                <a:ea typeface="Microsoft YaHei"/>
              </a:rPr>
              <a:t>闲聊/教学/倾诉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2286000"/>
            <a:ext cx="1280160" cy="118872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74519" y="23317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6A528"/>
                </a:solidFill>
                <a:latin typeface="Georgia"/>
                <a:ea typeface="Georgia"/>
              </a:rP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6974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学段学科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017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5F2EC"/>
                </a:solidFill>
                <a:latin typeface="Microsoft YaHei"/>
                <a:ea typeface="Microsoft YaHei"/>
              </a:rPr>
              <a:t>初中/高中/本科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286000"/>
            <a:ext cx="1280160" cy="118872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3317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6A528"/>
                </a:solidFill>
                <a:latin typeface="Georgia"/>
                <a:ea typeface="Georgia"/>
              </a:rPr>
              <a:t>L3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6974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提问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017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5F2EC"/>
                </a:solidFill>
                <a:latin typeface="Microsoft YaHei"/>
                <a:ea typeface="Microsoft YaHei"/>
              </a:rPr>
              <a:t>当前问题+上下文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286000"/>
            <a:ext cx="1280160" cy="118872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233172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6A528"/>
                </a:solidFill>
                <a:latin typeface="Georgia"/>
                <a:ea typeface="Georgia"/>
              </a:rPr>
              <a:t>L4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69748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画像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01752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5F2EC"/>
                </a:solidFill>
                <a:latin typeface="Microsoft YaHei"/>
                <a:ea typeface="Microsoft YaHei"/>
              </a:rPr>
              <a:t>17 维正交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611880"/>
            <a:ext cx="1280160" cy="118872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6576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6A528"/>
                </a:solidFill>
                <a:latin typeface="Georgia"/>
                <a:ea typeface="Georgia"/>
              </a:rPr>
              <a:t>L5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0233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个体化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434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5F2EC"/>
                </a:solidFill>
                <a:latin typeface="Microsoft YaHei"/>
                <a:ea typeface="Microsoft YaHei"/>
              </a:rPr>
              <a:t>母语/薄弱/擅长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3611880"/>
            <a:ext cx="1280160" cy="118872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74519" y="36576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6A528"/>
                </a:solidFill>
                <a:latin typeface="Georgia"/>
                <a:ea typeface="Georgia"/>
              </a:rPr>
              <a:t>L6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19" y="40233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事实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43434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5F2EC"/>
                </a:solidFill>
                <a:latin typeface="Microsoft YaHei"/>
                <a:ea typeface="Microsoft YaHei"/>
              </a:rPr>
              <a:t>增量记忆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3611880"/>
            <a:ext cx="1280160" cy="118872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36576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6A528"/>
                </a:solidFill>
                <a:latin typeface="Georgia"/>
                <a:ea typeface="Georgia"/>
              </a:rPr>
              <a:t>L7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40233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教学记忆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43434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5F2EC"/>
                </a:solidFill>
                <a:latin typeface="Microsoft YaHei"/>
                <a:ea typeface="Microsoft YaHei"/>
              </a:rPr>
              <a:t>上次掌握度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3611880"/>
            <a:ext cx="1280160" cy="118872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365760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E6A528"/>
                </a:solidFill>
                <a:latin typeface="Georgia"/>
                <a:ea typeface="Georgia"/>
              </a:rPr>
              <a:t>L8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4023360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资料库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434340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F5F2EC"/>
                </a:solidFill>
                <a:latin typeface="Microsoft YaHei"/>
                <a:ea typeface="Microsoft YaHei"/>
              </a:rPr>
              <a:t>BM25 检索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029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↓ 固定模板 + 12 个动态槽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534924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0F2A52"/>
                </a:solidFill>
                <a:latin typeface="Microsoft YaHei"/>
                <a:ea typeface="Microsoft YaHei"/>
              </a:rPr>
              <a:t>按重要性降序——让 LLM 先确立"用什么范式回答、讲多深、为谁答"，再进入辅助材料。约束边界 = 身份 + 上下文秩序，思考自由 = 回答本身。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2A52"/>
                </a:solidFill>
                <a:latin typeface="Microsoft YaHei"/>
                <a:ea typeface="Microsoft YaHei"/>
              </a:rPr>
              <a:t>② 全局语言规范（三层）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0" y="1691640"/>
            <a:ext cx="548640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0" y="17830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380"/>
                </a:solidFill>
                <a:latin typeface="Microsoft YaHei"/>
                <a:ea typeface="Microsoft YaHei"/>
              </a:rPr>
              <a:t>语言规范性是教育智能体独立于模型性能的能力——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0F2A52"/>
                </a:solidFill>
                <a:latin typeface="Microsoft YaHei"/>
                <a:ea typeface="Microsoft YaHei"/>
              </a:rPr>
              <a:t>换更强模型 ≠ 语言更规范，靠语法分析程序化保证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2606040"/>
            <a:ext cx="5303520" cy="109728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00800" y="2606040"/>
            <a:ext cx="137160" cy="109728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75120" y="269748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2A52"/>
                </a:solidFill>
                <a:latin typeface="Microsoft YaHei"/>
                <a:ea typeface="Microsoft YaHei"/>
              </a:rPr>
              <a:t>L1 提示词约束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310896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主谓宾 / 动宾搭配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词法句法完整 / 介词规范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约束 LLM 不输出病句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3840480"/>
            <a:ext cx="5303520" cy="109728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3840480"/>
            <a:ext cx="137160" cy="109728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75120" y="393192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2A52"/>
                </a:solidFill>
                <a:latin typeface="Microsoft YaHei"/>
                <a:ea typeface="Microsoft YaHei"/>
              </a:rPr>
              <a:t>L2 规则检测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434340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零 LLM 成本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残缺句 / 悬空宾语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介词悬空 / 省略词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5074920"/>
            <a:ext cx="5303520" cy="109728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00800" y="5074920"/>
            <a:ext cx="137160" cy="109728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0" y="5166360"/>
            <a:ext cx="4937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2A52"/>
                </a:solidFill>
                <a:latin typeface="Microsoft YaHei"/>
                <a:ea typeface="Microsoft YaHei"/>
              </a:rPr>
              <a:t>L3 LLM 修正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75120" y="5577840"/>
            <a:ext cx="49377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保持风格地补全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病句捕获率 94%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081A33"/>
                </a:solidFill>
                <a:latin typeface="Microsoft YaHei"/>
                <a:ea typeface="Microsoft YaHei"/>
              </a:rPr>
              <a:t>正确句零误报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0" y="6355080"/>
            <a:ext cx="5303520" cy="36576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57200" y="411480"/>
            <a:ext cx="11274552" cy="18288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57200" y="5029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PART 02  ·  THE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2A52"/>
                </a:solidFill>
                <a:latin typeface="Microsoft YaHei"/>
                <a:ea typeface="Microsoft YaHei"/>
              </a:rPr>
              <a:t>价值观根基：薇依哲学 × 教育者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75720" y="384048"/>
            <a:ext cx="365760" cy="3657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75720" y="411480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6A528"/>
                </a:solidFill>
                <a:latin typeface="Georgia"/>
                <a:ea typeface="Georgia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492240"/>
            <a:ext cx="11274552" cy="18287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Microsoft YaHei"/>
                <a:ea typeface="Microsoft YaHei"/>
              </a:rPr>
              <a:t>PAEG 路演 · v3 详实版 · 22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6565392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0">
                <a:solidFill>
                  <a:srgbClr val="6B7380"/>
                </a:solidFill>
                <a:latin typeface="Georgia"/>
                <a:ea typeface="Georgia"/>
              </a:rPr>
              <a:t>PAGE  / 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45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1">
                <a:solidFill>
                  <a:srgbClr val="E6A528"/>
                </a:solidFill>
                <a:latin typeface="Microsoft YaHei"/>
                <a:ea typeface="Microsoft YaHei"/>
              </a:rPr>
              <a:t>"注意力是最稀有的慷慨。"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F5F2EC"/>
                </a:solidFill>
                <a:latin typeface="Microsoft YaHei"/>
                <a:ea typeface="Microsoft YaHei"/>
              </a:rPr>
              <a:t>—— 西蒙娜·薇依（Simone Weil）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3611880" cy="393192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3611880" cy="54864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957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A52"/>
                </a:solidFill>
                <a:latin typeface="Microsoft YaHei"/>
                <a:ea typeface="Microsoft YaHei"/>
              </a:rPr>
              <a:t>世界观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175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0F2A52"/>
                </a:solidFill>
                <a:latin typeface="Georgia"/>
                <a:ea typeface="Georgia"/>
              </a:rPr>
              <a:t>重力与恩典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3383280"/>
            <a:ext cx="3291840" cy="13716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35204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· 世界的真实是唯一被看重的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· 不美化、不粉饰、不虚构安慰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· 真实中罪恶无法消除，善也无法被罪恶消除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331720"/>
            <a:ext cx="3611880" cy="393192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2331720"/>
            <a:ext cx="3611880" cy="54864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23957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A52"/>
                </a:solidFill>
                <a:latin typeface="Microsoft YaHei"/>
                <a:ea typeface="Microsoft YaHei"/>
              </a:rPr>
              <a:t>价值观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0175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0F2A52"/>
                </a:solidFill>
                <a:latin typeface="Georgia"/>
                <a:ea typeface="Georgia"/>
              </a:rPr>
              <a:t>扎根与重力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434840" y="3383280"/>
            <a:ext cx="3291840" cy="13716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434840" y="35204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· 一切属世之物皆有条件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29768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· 有条件即矛盾，矛盾的张力构成真实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50749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· 情绪支持 = 疏导情绪 + 认知真实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2331720"/>
            <a:ext cx="3611880" cy="3931920"/>
          </a:xfrm>
          <a:prstGeom prst="rect">
            <a:avLst/>
          </a:prstGeom>
          <a:solidFill>
            <a:srgbClr val="F5F2EC"/>
          </a:solidFill>
          <a:ln w="9525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2331720"/>
            <a:ext cx="3611880" cy="54864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395728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2A52"/>
                </a:solidFill>
                <a:latin typeface="Microsoft YaHei"/>
                <a:ea typeface="Microsoft YaHei"/>
              </a:rPr>
              <a:t>伦理观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01752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1">
                <a:solidFill>
                  <a:srgbClr val="0F2A52"/>
                </a:solidFill>
                <a:latin typeface="Georgia"/>
                <a:ea typeface="Georgia"/>
              </a:rPr>
              <a:t>善的限制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229600" y="3383280"/>
            <a:ext cx="3291840" cy="13716"/>
          </a:xfrm>
          <a:prstGeom prst="line">
            <a:avLst/>
          </a:prstGeom>
          <a:ln w="635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0" y="35204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· 不教、不答、不解决——以注意力陪伴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29768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· 危机信号：先回应再关怀（不机械短路）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50749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81A33"/>
                </a:solidFill>
                <a:latin typeface="Microsoft YaHei"/>
                <a:ea typeface="Microsoft YaHei"/>
              </a:rPr>
              <a:t>· 立德树人，立德为先——先成人，后成才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400800"/>
            <a:ext cx="11274552" cy="36576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PAEG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PAEG 教育智能体 · 商业路演</dc:title>
  <dc:subject>PptxGenJS Presentation</dc:subject>
  <dc:creator>PAEG Team</dc:creator>
  <cp:lastModifiedBy>PAEG Team</cp:lastModifiedBy>
  <cp:revision>1</cp:revision>
  <dcterms:created xsi:type="dcterms:W3CDTF">2026-08-11T12:52:33Z</dcterms:created>
  <dcterms:modified xsi:type="dcterms:W3CDTF">2026-08-11T12:52:33Z</dcterms:modified>
</cp:coreProperties>
</file>