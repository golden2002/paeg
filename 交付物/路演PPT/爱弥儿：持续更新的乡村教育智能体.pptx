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5.svg" ContentType="image/svg+xml"/>
  <Override PartName="/ppt/media/image26.svg" ContentType="image/svg+xml"/>
  <Override PartName="/ppt/media/image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封面插画由AI生成，用于表达乡村课堂中教师倾听、陪伴学生学习的关系；人物为虚构形象，不对应真实学校或具体个人。</a:t>
            </a:r>
          </a:p>
          <a:p/>
          <a:p>
            <a:r>
              <a:t>[Sources]</a:t>
            </a:r>
          </a:p>
          <a:p>
            <a:r>
              <a:t>- 构图参考：用户提供的原封面乡村课堂照片。</a:t>
            </a:r>
          </a:p>
          <a:p>
            <a:r>
              <a:t>- 插画生成：OpenAI image generation，2026-08-12。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【建议时长：30秒】</a:t>
            </a:r>
          </a:p>
          <a:p>
            <a:r>
              <a:t>大山里的硬件变好了，大屏装上了，网络通了。但走到课桌旁，乡村教育的根本矛盾已经改变：老师很难为每个孩子持续分步启发；艺术、自然和通识探索需要更多稳定支持；而越来越快的搜题答案，也可能让思考过早停止。</a:t>
            </a:r>
          </a:p>
          <a:p/>
          <a:p>
            <a:r>
              <a:t>[Sources]</a:t>
            </a:r>
          </a:p>
          <a:p>
            <a:r>
              <a:t>- User-provided PAEG TutorOS v9 deck, source slide 2 and embedded photographs</a:t>
            </a:r>
          </a:p>
          <a:p>
            <a:r>
              <a:t>- Competition context supplied by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【建议时长：18秒】</a:t>
            </a:r>
          </a:p>
          <a:p>
            <a:r>
              <a:t>因此，PAEG 追求的不是一个更会聊天的工具，而是一段能够积累理解的教学关系。学生的每次表达更新学习者模型，系统也通过反馈反思自己的教学经验。</a:t>
            </a:r>
          </a:p>
          <a:p/>
          <a:p>
            <a:r>
              <a:t>[Sources]</a:t>
            </a:r>
          </a:p>
          <a:p>
            <a:r>
              <a:t>- User-provided PAEG TutorOS v9 deck, source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不要逐项念17维。先说四类证据，再强调它们必须改变下一步教育决策。</a:t>
            </a:r>
          </a:p>
          <a:p/>
          <a:p>
            <a:r>
              <a:t>[Sources]</a:t>
            </a:r>
          </a:p>
          <a:p>
            <a:r>
              <a:t>- 用户提供《0812最新版.pptx》及《PAEG技术全景文档.md》。</a:t>
            </a:r>
          </a:p>
          <a:p>
            <a:r>
              <a:t>- 比赛定位依据阿里云“小有可为2026”乡村教育赛题：AI音乐启蒙/创作伙伴或乡村教师AI助教。</a:t>
            </a:r>
          </a:p>
          <a:p>
            <a:r>
              <a:t>- 所有工程指标均为团队内部验证，不代表第三方测评或课堂学习成效实验。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删除原“教师与AI的责任边界”模块。本页只讲产品机制：证据如何进入决策、行动、评估与记忆写回，并形成下一轮教学。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用户提供《0812最新版_乡村教育比赛结构优化_v4_真实Demo截图版.pptx》。</a:t>
            </a:r>
          </a:p>
          <a:p>
            <a:r>
              <a:t>- 工程验证数据来自用户提供的《PAEG技术全景文档.md》：audit、pytest、Playwright、接口矩阵、连接验证与压力测试记录。</a:t>
            </a:r>
          </a:p>
          <a:p>
            <a:r>
              <a:t>- 这些结果证明工程实现与链路可运行，不代表第三方测评或课堂学习效果。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本页标题、内容、数据和代码名均保持原技术页不变，仅统一背景、边距和空间利用。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用户提供《0812最新版_乡村教育比赛结构优化_v2.pptx》。</a:t>
            </a:r>
          </a:p>
          <a:p>
            <a:r>
              <a:t>- 用户提供《demo 教学-倾诉-通识可视化(1).pptx》中的孟德尔遗传15轮、学业压力15轮、唐朝科举论述与光合作用产出。</a:t>
            </a:r>
          </a:p>
          <a:p>
            <a:r>
              <a:t>- 工程数值来自项目内部验证，不代表第三方测评或课堂学习效果。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本页标题、内容、数据和代码名均保持原技术页不变，仅统一背景、边距和空间利用。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用户提供《0812最新版_乡村教育比赛结构优化_v2.pptx》。</a:t>
            </a:r>
          </a:p>
          <a:p>
            <a:r>
              <a:t>- 用户提供《demo 教学-倾诉-通识可视化(1).pptx》中的孟德尔遗传15轮、学业压力15轮、唐朝科举论述与光合作用产出。</a:t>
            </a:r>
          </a:p>
          <a:p>
            <a:r>
              <a:t>- 工程数值来自项目内部验证，不代表第三方测评或课堂学习效果。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演讲顺序：先用一句话说明测试目的，再按前端、后端、联通三层快速扫过，最后落到“产品初步具备承载设计理念的运行基础”。不要逐项念数字。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用户提供《0812最新版_乡村教育比赛结构优化_v4_真实Demo截图版.pptx》。</a:t>
            </a:r>
          </a:p>
          <a:p>
            <a:r>
              <a:t>- 工程验证数据来自用户提供的《PAEG技术全景文档.md》：audit、pytest、Playwright、接口矩阵、连接验证与压力测试记录。</a:t>
            </a:r>
          </a:p>
          <a:p>
            <a:r>
              <a:t>- 这些结果证明工程实现与链路可运行，不代表第三方测评或课堂学习效果。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转场页。停顿后进入第10—12页产品演示，不在这里继续解释技术。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用户提供《0812最新版_乡村教育比赛结构优化_v2.pptx》。</a:t>
            </a:r>
          </a:p>
          <a:p>
            <a:r>
              <a:t>- 用户提供《demo 教学-倾诉-通识可视化(1).pptx》。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左侧为原Demo材料中的真实产品界面；右侧仅压缩原15轮会话的可验证推进节点。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用户提供《0812最新版_乡村教育比赛结构优化_v3_爱弥儿版.pptx》。</a:t>
            </a:r>
          </a:p>
          <a:p>
            <a:r>
              <a:t>- 用户提供《demo 教学-倾诉-通识可视化(1).pptx》第3页真实产品证据截图。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右侧为原Demo材料第14页中的真实产品界面，呈现R9–R10由恐惧转向小行动的关键轮次。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用户提供《0812最新版_乡村教育比赛结构优化_v3_爱弥儿版.pptx》。</a:t>
            </a:r>
          </a:p>
          <a:p>
            <a:r>
              <a:t>- 用户提供《demo 教学-倾诉-通识可视化(1).pptx》第14页真实产品证据截图。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右侧为原Demo材料第22页的真实可播放光合作用教学产出画面；左侧为原材料中的唐朝科举结构化论述摘要。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用户提供《0812最新版_乡村教育比赛结构优化_v3_爱弥儿版.pptx》。</a:t>
            </a:r>
          </a:p>
          <a:p>
            <a:r>
              <a:t>- 用户提供《demo 教学-倾诉-通识可视化(1).pptx》第22页真实产品证据截图。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在原第14页右侧增加跨入口共享底座，补足空间同时解释技术连接。</a:t>
            </a:r>
          </a:p>
          <a:p/>
          <a:p>
            <a:r>
              <a:t>[Sources]</a:t>
            </a:r>
          </a:p>
          <a:p>
            <a:r>
              <a:t>- 用户提供《0812最新版_乡村教育比赛结构优化_v2.pptx》。</a:t>
            </a:r>
          </a:p>
          <a:p>
            <a:r>
              <a:t>- 用户提供《demo 教学-倾诉-通识可视化(1).pptx》中的孟德尔遗传15轮、学业压力15轮、唐朝科举论述与光合作用产出。</a:t>
            </a:r>
          </a:p>
          <a:p>
            <a:r>
              <a:t>- 工程数值来自项目内部验证，不代表第三方测评或课堂学习效果。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【时长】3:19-3:36（17 秒）</a:t>
            </a:r>
          </a:p>
          <a:p>
            <a:r>
              <a:t>【旁白】</a:t>
            </a:r>
          </a:p>
          <a:p>
            <a:r>
              <a:t>作为公益项目，PAEG 不应该只代表一个团队对教育的想象。</a:t>
            </a:r>
          </a:p>
          <a:p>
            <a:r>
              <a:t>我们希望邀请教师、艺术与通识教育者、儿童发展与安全专家，以及孩子和家庭共同参与：教师帮助它更懂怎样教，艺术与通识教育者打开更大的世界，专业人员帮助我们划清边界，而孩子的真实反馈持续改变系统。</a:t>
            </a:r>
          </a:p>
          <a:p>
            <a:r>
              <a:t>技术的价值，不是替这些人做决定，而是让他们的经验更公平地抵达每一个孩子。</a:t>
            </a:r>
          </a:p>
          <a:p>
            <a:r>
              <a:t>【真实性边界】如果尚未形成正式合作，只使用“我们希望邀请”“下一阶段将通过共创与评审机制”等表述；不声称已经成立专家委员会或完成试点验证。</a:t>
            </a:r>
          </a:p>
          <a:p>
            <a:r>
              <a:t>【补充技术证据】如评委需要技术解释，使用第 4 页的六阶段闭环，以及“专职 Agent 分工、持续学习者模型、知识与工具”一句带过，不再单独堆参数。</a:t>
            </a:r>
          </a:p>
          <a:p>
            <a:r>
              <a:t>【转场】五个角色依次出现，最后共同收束到开场书桌。</a:t>
            </a:r>
          </a:p>
          <a:p/>
          <a:p>
            <a:r>
              <a:t>[Sources]</a:t>
            </a:r>
          </a:p>
          <a:p>
            <a:r>
              <a:t>- User-provided editorial feedback on public-interest co-shaping, 2026-08-10.</a:t>
            </a:r>
          </a:p>
          <a:p>
            <a:r>
              <a:t>- User-provided PAEG trial conversation screenshots,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【建议时长：14秒】</a:t>
            </a:r>
          </a:p>
          <a:p>
            <a:r>
              <a:t>硬件让知识抵达，教学让理解发生。PAEG 希望在老师暂时顾不过来的那一刻，把教学过程接住，也把眼前这个孩子看见。这不是一次回答，是一段教学的继续。</a:t>
            </a:r>
          </a:p>
          <a:p/>
          <a:p>
            <a:r>
              <a:t>[Sources]</a:t>
            </a:r>
          </a:p>
          <a:p>
            <a:r>
              <a:t>- User-provided PAEG TutorOS v9 deck, source slide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9.jpeg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image" Target="../media/image8.svg"/><Relationship Id="rId20" Type="http://schemas.openxmlformats.org/officeDocument/2006/relationships/image" Target="../media/image7.png"/><Relationship Id="rId2" Type="http://schemas.openxmlformats.org/officeDocument/2006/relationships/tags" Target="../tags/tag2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6.svg"/><Relationship Id="rId12" Type="http://schemas.openxmlformats.org/officeDocument/2006/relationships/image" Target="../media/image5.jpe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svg"/><Relationship Id="rId7" Type="http://schemas.openxmlformats.org/officeDocument/2006/relationships/image" Target="../media/image15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0.svg"/><Relationship Id="rId11" Type="http://schemas.openxmlformats.org/officeDocument/2006/relationships/image" Target="../media/image19.svg"/><Relationship Id="rId10" Type="http://schemas.openxmlformats.org/officeDocument/2006/relationships/image" Target="../media/image1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6.svg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5.jpeg"/><Relationship Id="rId3" Type="http://schemas.openxmlformats.org/officeDocument/2006/relationships/image" Target="../media/image25.svg"/><Relationship Id="rId2" Type="http://schemas.openxmlformats.org/officeDocument/2006/relationships/image" Target="../media/image7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667500" cy="6858000"/>
          </a:xfrm>
          <a:prstGeom prst="rect">
            <a:avLst/>
          </a:prstGeom>
          <a:solidFill>
            <a:srgbClr val="152237"/>
          </a:solidFill>
          <a:ln w="0">
            <a:noFill/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15" y="0"/>
            <a:ext cx="12185015" cy="6858000"/>
          </a:xfrm>
          <a:prstGeom prst="rect">
            <a:avLst/>
          </a:prstGeom>
          <a:gradFill>
            <a:gsLst>
              <a:gs pos="47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" y="876300"/>
            <a:ext cx="533400" cy="47625"/>
          </a:xfrm>
          <a:prstGeom prst="rect">
            <a:avLst/>
          </a:prstGeom>
          <a:solidFill>
            <a:srgbClr val="D9829C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8110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1">
                <a:solidFill>
                  <a:srgbClr val="FFFDFC"/>
                </a:solidFill>
              </a:defRPr>
            </a:pPr>
            <a:r>
              <a:rPr sz="3375" b="1">
                <a:solidFill>
                  <a:srgbClr val="FFFDFC"/>
                </a:solidFill>
              </a:rPr>
              <a:t>这不是一次回答。</a:t>
            </a:r>
            <a:endParaRPr sz="3375" b="1">
              <a:solidFill>
                <a:srgbClr val="FFFDFC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84785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1">
                <a:solidFill>
                  <a:srgbClr val="D9829C"/>
                </a:solidFill>
              </a:defRPr>
            </a:pPr>
            <a:r>
              <a:rPr sz="3375" b="1">
                <a:solidFill>
                  <a:srgbClr val="D9829C"/>
                </a:solidFill>
              </a:rPr>
              <a:t>这是教学的继续。</a:t>
            </a:r>
            <a:endParaRPr sz="3375" b="1">
              <a:solidFill>
                <a:srgbClr val="D9829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7051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DCE2ED"/>
                </a:solidFill>
              </a:defRPr>
            </a:pPr>
            <a:r>
              <a:rPr sz="1800" b="1">
                <a:solidFill>
                  <a:srgbClr val="DCE2ED"/>
                </a:solidFill>
                <a:latin typeface="华文楷体" panose="02010600040101010101" charset="-122"/>
                <a:ea typeface="华文楷体" panose="02010600040101010101" charset="-122"/>
              </a:rPr>
              <a:t>爱弥儿：持续更新的乡村教育智能体</a:t>
            </a:r>
            <a:endParaRPr sz="1800" b="1">
              <a:solidFill>
                <a:srgbClr val="DCE2ED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329565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FFDFC"/>
                </a:solidFill>
              </a:defRPr>
            </a:pPr>
            <a:r>
              <a:t>每一次对话，都让它更懂你。</a:t>
            </a:r>
            <a:endParaRPr b="1">
              <a:solidFill>
                <a:srgbClr val="FFFDFC"/>
              </a:solidFill>
            </a:endParaRPr>
          </a:p>
          <a:p>
            <a:pPr algn="l">
              <a:buNone/>
              <a:defRPr sz="1875" b="1">
                <a:solidFill>
                  <a:srgbClr val="FFFDFC"/>
                </a:solidFill>
              </a:defRPr>
            </a:pPr>
            <a:r>
              <a:t>每一次教学，都让它更会教育。</a:t>
            </a:r>
            <a:endParaRPr sz="1875" b="1">
              <a:solidFill>
                <a:srgbClr val="FFFDFC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" y="4438650"/>
            <a:ext cx="1257300" cy="266700"/>
          </a:xfrm>
          <a:prstGeom prst="roundRect">
            <a:avLst>
              <a:gd name="adj" fmla="val 42857"/>
            </a:avLst>
          </a:prstGeom>
          <a:solidFill>
            <a:srgbClr val="263750"/>
          </a:solidFill>
          <a:ln w="9525">
            <a:solidFill>
              <a:srgbClr val="7167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44386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1">
                <a:solidFill>
                  <a:srgbClr val="7167E8"/>
                </a:solidFill>
              </a:defRPr>
            </a:pPr>
            <a:r>
              <a:rPr sz="825" b="1">
                <a:solidFill>
                  <a:srgbClr val="7167E8"/>
                </a:solidFill>
              </a:rPr>
              <a:t>持续理解人</a:t>
            </a:r>
            <a:endParaRPr sz="825" b="1">
              <a:solidFill>
                <a:srgbClr val="7167E8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019300" y="4438650"/>
            <a:ext cx="1143000" cy="266700"/>
          </a:xfrm>
          <a:prstGeom prst="roundRect">
            <a:avLst>
              <a:gd name="adj" fmla="val 42857"/>
            </a:avLst>
          </a:prstGeom>
          <a:solidFill>
            <a:srgbClr val="263750"/>
          </a:solidFill>
          <a:ln w="9525">
            <a:solidFill>
              <a:srgbClr val="D69B4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095500" y="443865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1">
                <a:solidFill>
                  <a:srgbClr val="D69B45"/>
                </a:solidFill>
              </a:defRPr>
            </a:pPr>
            <a:r>
              <a:rPr sz="825" b="1">
                <a:solidFill>
                  <a:srgbClr val="D69B45"/>
                </a:solidFill>
              </a:rPr>
              <a:t>持续进化</a:t>
            </a:r>
            <a:endParaRPr sz="825" b="1">
              <a:solidFill>
                <a:srgbClr val="D69B45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295650" y="4438650"/>
            <a:ext cx="1143000" cy="266700"/>
          </a:xfrm>
          <a:prstGeom prst="roundRect">
            <a:avLst>
              <a:gd name="adj" fmla="val 42857"/>
            </a:avLst>
          </a:prstGeom>
          <a:solidFill>
            <a:srgbClr val="263750"/>
          </a:solidFill>
          <a:ln w="9525">
            <a:solidFill>
              <a:srgbClr val="D9829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71850" y="443865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1">
                <a:solidFill>
                  <a:srgbClr val="D9829C"/>
                </a:solidFill>
              </a:defRPr>
            </a:pPr>
            <a:r>
              <a:rPr sz="825" b="1">
                <a:solidFill>
                  <a:srgbClr val="D9829C"/>
                </a:solidFill>
              </a:rPr>
              <a:t>共同成长</a:t>
            </a:r>
            <a:endParaRPr sz="825" b="1">
              <a:solidFill>
                <a:srgbClr val="D9829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50482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C2CBDA"/>
                </a:solidFill>
              </a:defRPr>
            </a:pPr>
            <a:r>
              <a:rPr sz="1275" b="0">
                <a:solidFill>
                  <a:srgbClr val="C2CBDA"/>
                </a:solidFill>
              </a:rPr>
              <a:t>从一次性答案，走向持续理解与成长</a:t>
            </a:r>
            <a:endParaRPr sz="1275" b="0">
              <a:solidFill>
                <a:srgbClr val="C2CBD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611505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A5AFC0"/>
                </a:solidFill>
              </a:defRPr>
            </a:pPr>
            <a:r>
              <a:rPr sz="825" b="0">
                <a:solidFill>
                  <a:srgbClr val="A5AFC0"/>
                </a:solidFill>
              </a:rPr>
              <a:t>爱弥儿 · 2026</a:t>
            </a:r>
            <a:endParaRPr sz="825" b="0">
              <a:solidFill>
                <a:srgbClr val="A5AF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571500" y="400050"/>
            <a:ext cx="1095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大屏装上了，网络通了，乡村课堂的难题也随之改变</a:t>
            </a:r>
            <a:endParaRPr sz="2550" b="1">
              <a:solidFill>
                <a:srgbClr val="17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9060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E7480"/>
                </a:solidFill>
              </a:defRPr>
            </a:pPr>
            <a:r>
              <a:rPr sz="1125" b="0">
                <a:solidFill>
                  <a:srgbClr val="6E7480"/>
                </a:solidFill>
              </a:rPr>
              <a:t>今天缺的往往不只是知识，而是个性化启发、完整成长与持续反馈。</a:t>
            </a:r>
            <a:endParaRPr sz="1125" b="0">
              <a:solidFill>
                <a:srgbClr val="6E74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71500" y="3695700"/>
            <a:ext cx="3543300" cy="2057400"/>
          </a:xfrm>
          <a:prstGeom prst="rect">
            <a:avLst/>
          </a:prstGeom>
          <a:solidFill>
            <a:srgbClr val="152237"/>
          </a:solidFill>
          <a:ln w="0">
            <a:noFill/>
            <a:prstDash val="solid"/>
          </a:ln>
        </p:spPr>
      </p:sp>
      <p:pic>
        <p:nvPicPr>
          <p:cNvPr id="36" name="图片 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3924300"/>
            <a:ext cx="266700" cy="2667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81100" y="3886200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7167E8"/>
                </a:solidFill>
              </a:defRPr>
            </a:pPr>
            <a:r>
              <a:rPr sz="900" b="1">
                <a:solidFill>
                  <a:srgbClr val="7167E8"/>
                </a:solidFill>
              </a:rPr>
              <a:t>01</a:t>
            </a:r>
            <a:endParaRPr sz="900" b="1">
              <a:solidFill>
                <a:srgbClr val="7167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00100" y="43434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FFDFC"/>
                </a:solidFill>
              </a:defRPr>
            </a:pPr>
            <a:r>
              <a:rPr sz="1500" b="1">
                <a:solidFill>
                  <a:srgbClr val="FFFDFC"/>
                </a:solidFill>
              </a:rPr>
              <a:t>不是缺知识，是缺启发</a:t>
            </a:r>
            <a:endParaRPr sz="1500" b="1">
              <a:solidFill>
                <a:srgbClr val="FFFDF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00100" y="47815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D9DEE7"/>
                </a:solidFill>
              </a:defRPr>
            </a:pPr>
            <a:r>
              <a:rPr sz="1125" b="0">
                <a:solidFill>
                  <a:srgbClr val="D9DEE7"/>
                </a:solidFill>
              </a:rPr>
              <a:t>一位老师面对一整个班，谁能等待每个孩子真正作答？</a:t>
            </a:r>
            <a:endParaRPr sz="1125" b="0">
              <a:solidFill>
                <a:srgbClr val="D9DEE7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5719" r="5719"/>
          <a:stretch>
            <a:fillRect/>
          </a:stretch>
        </p:blipFill>
        <p:spPr>
          <a:xfrm>
            <a:off x="4419600" y="1600200"/>
            <a:ext cx="3543300" cy="20955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419600" y="3695700"/>
            <a:ext cx="3543300" cy="2057400"/>
          </a:xfrm>
          <a:prstGeom prst="rect">
            <a:avLst/>
          </a:prstGeom>
          <a:solidFill>
            <a:srgbClr val="29364A"/>
          </a:solidFill>
          <a:ln w="0">
            <a:noFill/>
            <a:prstDash val="solid"/>
          </a:ln>
        </p:spPr>
      </p:sp>
      <p:pic>
        <p:nvPicPr>
          <p:cNvPr id="42" name="图片 4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8200" y="3924300"/>
            <a:ext cx="266700" cy="2667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029200" y="3886200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D69B45"/>
                </a:solidFill>
              </a:defRPr>
            </a:pPr>
            <a:r>
              <a:rPr sz="900" b="1">
                <a:solidFill>
                  <a:srgbClr val="D69B45"/>
                </a:solidFill>
              </a:rPr>
              <a:t>02</a:t>
            </a:r>
            <a:endParaRPr sz="900" b="1">
              <a:solidFill>
                <a:srgbClr val="D69B4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648200" y="43434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FFDFC"/>
                </a:solidFill>
              </a:defRPr>
            </a:pPr>
            <a:r>
              <a:rPr sz="1500" b="1">
                <a:solidFill>
                  <a:srgbClr val="FFFDFC"/>
                </a:solidFill>
              </a:rPr>
              <a:t>不是不需要艺术，是被挤压</a:t>
            </a:r>
            <a:endParaRPr sz="1500" b="1">
              <a:solidFill>
                <a:srgbClr val="FFFD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648200" y="47815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D9DEE7"/>
                </a:solidFill>
              </a:defRPr>
            </a:pPr>
            <a:r>
              <a:rPr sz="1125" b="0">
                <a:solidFill>
                  <a:srgbClr val="D9DEE7"/>
                </a:solidFill>
              </a:rPr>
              <a:t>音乐、美术、自然与通识，需要稳定的探索和表达空间。</a:t>
            </a:r>
            <a:endParaRPr sz="1125" b="0">
              <a:solidFill>
                <a:srgbClr val="D9DEE7"/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2"/>
          <a:srcRect t="10573" b="10573"/>
          <a:stretch>
            <a:fillRect/>
          </a:stretch>
        </p:blipFill>
        <p:spPr>
          <a:xfrm>
            <a:off x="8267700" y="1600200"/>
            <a:ext cx="3543300" cy="209550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267700" y="3695700"/>
            <a:ext cx="3543300" cy="2057400"/>
          </a:xfrm>
          <a:prstGeom prst="rect">
            <a:avLst/>
          </a:prstGeom>
          <a:solidFill>
            <a:srgbClr val="30283A"/>
          </a:solidFill>
          <a:ln w="0">
            <a:noFill/>
            <a:prstDash val="solid"/>
          </a:ln>
        </p:spPr>
      </p:sp>
      <p:pic>
        <p:nvPicPr>
          <p:cNvPr id="48" name="图片 4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96300" y="3924300"/>
            <a:ext cx="266700" cy="2667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877300" y="3886200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D9829C"/>
                </a:solidFill>
              </a:defRPr>
            </a:pPr>
            <a:r>
              <a:rPr sz="900" b="1">
                <a:solidFill>
                  <a:srgbClr val="D9829C"/>
                </a:solidFill>
              </a:rPr>
              <a:t>03</a:t>
            </a:r>
            <a:endParaRPr sz="900" b="1">
              <a:solidFill>
                <a:srgbClr val="D9829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496300" y="43434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FFDFC"/>
                </a:solidFill>
              </a:defRPr>
            </a:pPr>
            <a:r>
              <a:rPr sz="1500" b="1">
                <a:solidFill>
                  <a:srgbClr val="FFFDFC"/>
                </a:solidFill>
              </a:rPr>
              <a:t>不是答案太少，是来得太快</a:t>
            </a:r>
            <a:endParaRPr sz="1500" b="1">
              <a:solidFill>
                <a:srgbClr val="FFFDF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8496300" y="47815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D9DEE7"/>
                </a:solidFill>
              </a:defRPr>
            </a:pPr>
            <a:r>
              <a:rPr sz="1125" b="0">
                <a:solidFill>
                  <a:srgbClr val="D9DEE7"/>
                </a:solidFill>
              </a:rPr>
              <a:t>如果搜题让学习停在步骤，理解与思考就没有发生。</a:t>
            </a:r>
            <a:endParaRPr sz="1125" b="0">
              <a:solidFill>
                <a:srgbClr val="D9DEE7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71500" y="5905500"/>
            <a:ext cx="11277600" cy="419100"/>
          </a:xfrm>
          <a:prstGeom prst="roundRect">
            <a:avLst>
              <a:gd name="adj" fmla="val 27273"/>
            </a:avLst>
          </a:prstGeom>
          <a:solidFill>
            <a:srgbClr val="FFFDFC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5924550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真正的教育向善，不是再递上一本数字答案册，而是让一次理解继续发生。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96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858071"/>
                </a:solidFill>
              </a:defRPr>
            </a:pPr>
            <a:r>
              <a:rPr sz="750" b="0">
                <a:solidFill>
                  <a:srgbClr val="858071"/>
                </a:solidFill>
              </a:rPr>
              <a:t>爱弥儿 · 持续理解人 · 共同进化</a:t>
            </a:r>
            <a:endParaRPr sz="750" b="0">
              <a:solidFill>
                <a:srgbClr val="85807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763250" y="64960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0">
                <a:solidFill>
                  <a:srgbClr val="858071"/>
                </a:solidFill>
              </a:defRPr>
            </a:pPr>
            <a:r>
              <a:rPr sz="750" b="0">
                <a:solidFill>
                  <a:srgbClr val="858071"/>
                </a:solidFill>
              </a:rPr>
              <a:t>02 / 14</a:t>
            </a:r>
            <a:endParaRPr sz="750" b="0">
              <a:solidFill>
                <a:srgbClr val="85807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rcRect t="10573" b="10573"/>
          <a:stretch>
            <a:fillRect/>
          </a:stretch>
        </p:blipFill>
        <p:spPr>
          <a:xfrm>
            <a:off x="571500" y="1600200"/>
            <a:ext cx="35433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571500" y="400050"/>
            <a:ext cx="1095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FFFDFC"/>
                </a:solidFill>
              </a:defRPr>
            </a:pPr>
            <a:r>
              <a:rPr sz="2550" b="1">
                <a:solidFill>
                  <a:srgbClr val="FFFDFC"/>
                </a:solidFill>
              </a:rPr>
              <a:t>一个瞬间：学生改变了系统，系统也开始改变自己</a:t>
            </a:r>
            <a:endParaRPr sz="2550" b="1">
              <a:solidFill>
                <a:srgbClr val="FFFDFC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9060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CC6D6"/>
                </a:solidFill>
              </a:defRPr>
            </a:pPr>
            <a:r>
              <a:rPr sz="1125" b="0">
                <a:solidFill>
                  <a:srgbClr val="BCC6D6"/>
                </a:solidFill>
              </a:rPr>
              <a:t>这不是推荐算法的‘猜你喜欢’，而是一段双向成长的教育关系。</a:t>
            </a:r>
            <a:endParaRPr sz="1125" b="0">
              <a:solidFill>
                <a:srgbClr val="BCC6D6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752600"/>
            <a:ext cx="4324350" cy="3276600"/>
          </a:xfrm>
          <a:prstGeom prst="roundRect">
            <a:avLst>
              <a:gd name="adj" fmla="val 3488"/>
            </a:avLst>
          </a:prstGeom>
          <a:solidFill>
            <a:srgbClr val="202F48"/>
          </a:solidFill>
          <a:ln w="19050">
            <a:solidFill>
              <a:srgbClr val="7167E8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7181850" y="1752600"/>
            <a:ext cx="4324350" cy="3276600"/>
          </a:xfrm>
          <a:prstGeom prst="roundRect">
            <a:avLst>
              <a:gd name="adj" fmla="val 3488"/>
            </a:avLst>
          </a:prstGeom>
          <a:solidFill>
            <a:srgbClr val="2E2C40"/>
          </a:solidFill>
          <a:ln w="19050">
            <a:solidFill>
              <a:srgbClr val="D69B45"/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95500"/>
            <a:ext cx="514350" cy="514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752600" y="207645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FFFDFC"/>
                </a:solidFill>
              </a:defRPr>
            </a:pPr>
            <a:r>
              <a:rPr sz="2025" b="1">
                <a:solidFill>
                  <a:schemeClr val="accent2">
                    <a:lumMod val="60000"/>
                    <a:lumOff val="40000"/>
                  </a:schemeClr>
                </a:solidFill>
              </a:rPr>
              <a:t>持续理解一个人</a:t>
            </a:r>
            <a:endParaRPr sz="2025" b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686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7167E8"/>
                </a:solidFill>
              </a:defRPr>
            </a:pPr>
            <a:r>
              <a:rPr sz="1125" b="1">
                <a:solidFill>
                  <a:srgbClr val="7167E8"/>
                </a:solidFill>
              </a:rPr>
              <a:t>学生模型不断更新</a:t>
            </a:r>
            <a:endParaRPr sz="1125" b="1">
              <a:solidFill>
                <a:srgbClr val="7167E8"/>
              </a:solidFill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3124200"/>
            <a:ext cx="228600" cy="2286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409700" y="30861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他说了什么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619500"/>
            <a:ext cx="228600" cy="22860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409700" y="35814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真正误解了什么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114800"/>
            <a:ext cx="228600" cy="2286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409700" y="40767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此刻需要答案还是理解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610100"/>
            <a:ext cx="228600" cy="22860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1409700" y="45720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什么方法曾经帮助过他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2850" y="2095500"/>
            <a:ext cx="514350" cy="5143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8248650" y="207645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FFFDFC"/>
                </a:solidFill>
              </a:defRPr>
            </a:pPr>
            <a:r>
              <a:rPr sz="2025" b="1">
                <a:solidFill>
                  <a:srgbClr val="FFFDFC"/>
                </a:solidFill>
              </a:rPr>
              <a:t>持续进化自己</a:t>
            </a:r>
            <a:endParaRPr sz="2025" b="1">
              <a:solidFill>
                <a:srgbClr val="FFFDF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62850" y="2686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D69B45"/>
                </a:solidFill>
              </a:defRPr>
            </a:pPr>
            <a:r>
              <a:rPr sz="1125" b="1">
                <a:solidFill>
                  <a:srgbClr val="D69B45"/>
                </a:solidFill>
              </a:rPr>
              <a:t>教师模型不断反思</a:t>
            </a:r>
            <a:endParaRPr sz="1125" b="1">
              <a:solidFill>
                <a:srgbClr val="D69B45"/>
              </a:solidFill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2850" y="3124200"/>
            <a:ext cx="228600" cy="22860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7905750" y="30861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这一次真的教会了吗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2850" y="3619500"/>
            <a:ext cx="228600" cy="2286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905750" y="35814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哪种策略产生了理解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2850" y="4114800"/>
            <a:ext cx="228600" cy="22860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7905750" y="40767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什么经验值得沉淀</a:t>
            </a:r>
            <a:endParaRPr sz="1125" b="1">
              <a:solidFill>
                <a:srgbClr val="FFFDFC"/>
              </a:solidFill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2850" y="4610100"/>
            <a:ext cx="228600" cy="22860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7905750" y="45720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如何通过质量门禁</a:t>
            </a:r>
            <a:endParaRPr sz="1125" b="1">
              <a:solidFill>
                <a:srgbClr val="FFFDFC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972050" y="2857500"/>
            <a:ext cx="2247900" cy="1066800"/>
          </a:xfrm>
          <a:prstGeom prst="roundRect">
            <a:avLst>
              <a:gd name="adj" fmla="val 10714"/>
            </a:avLst>
          </a:prstGeom>
          <a:solidFill>
            <a:srgbClr val="D9829C"/>
          </a:solidFill>
          <a:ln w="0">
            <a:noFill/>
            <a:prstDash val="solid"/>
          </a:ln>
        </p:spPr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0250" y="3009900"/>
            <a:ext cx="552450" cy="5524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5257800" y="35623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DFC"/>
                </a:solidFill>
              </a:defRPr>
            </a:pPr>
            <a:r>
              <a:rPr sz="1425" b="1">
                <a:solidFill>
                  <a:srgbClr val="FFFDFC"/>
                </a:solidFill>
              </a:rPr>
              <a:t>共同进化</a:t>
            </a:r>
            <a:endParaRPr sz="1425" b="1">
              <a:solidFill>
                <a:srgbClr val="FFFDF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143500" y="2381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9829C"/>
                </a:solidFill>
              </a:defRPr>
            </a:pPr>
            <a:r>
              <a:rPr sz="1800" b="1">
                <a:solidFill>
                  <a:srgbClr val="D9829C"/>
                </a:solidFill>
              </a:rPr>
              <a:t>反馈</a:t>
            </a:r>
            <a:endParaRPr sz="1800" b="1">
              <a:solidFill>
                <a:srgbClr val="D9829C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43500" y="40957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9829C"/>
                </a:solidFill>
              </a:defRPr>
            </a:pPr>
            <a:r>
              <a:rPr sz="1600" b="1">
                <a:solidFill>
                  <a:srgbClr val="D9829C"/>
                </a:solidFill>
              </a:rPr>
              <a:t>更懂你</a:t>
            </a:r>
            <a:endParaRPr sz="1600" b="1">
              <a:solidFill>
                <a:srgbClr val="D9829C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676400" y="5562600"/>
            <a:ext cx="883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DFC"/>
                </a:solidFill>
              </a:defRPr>
            </a:pPr>
            <a:r>
              <a:rPr sz="1800" b="1">
                <a:solidFill>
                  <a:srgbClr val="FFFDFC"/>
                </a:solidFill>
              </a:rPr>
              <a:t>越懂这个人，就越会教；越会教，就能更深地懂这个人。</a:t>
            </a:r>
            <a:endParaRPr sz="1800" b="1">
              <a:solidFill>
                <a:srgbClr val="FFFDFC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52450" y="6496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AAB4C5"/>
                </a:solidFill>
              </a:defRPr>
            </a:pPr>
            <a:r>
              <a:rPr sz="750" b="0">
                <a:solidFill>
                  <a:srgbClr val="AAB4C5"/>
                </a:solidFill>
              </a:rPr>
              <a:t>爱弥儿 · 持续理解人 · 共同进化</a:t>
            </a:r>
            <a:endParaRPr sz="750" b="0">
              <a:solidFill>
                <a:srgbClr val="AAB4C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763250" y="6496050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0">
                <a:solidFill>
                  <a:srgbClr val="AAB4C5"/>
                </a:solidFill>
              </a:defRPr>
            </a:pPr>
            <a:r>
              <a:rPr sz="750" b="0">
                <a:solidFill>
                  <a:srgbClr val="AAB4C5"/>
                </a:solidFill>
              </a:rPr>
              <a:t>03 / 14</a:t>
            </a:r>
            <a:endParaRPr sz="750" b="0">
              <a:solidFill>
                <a:srgbClr val="AAB4C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矩形 44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学生理解：</a:t>
            </a:r>
            <a:r>
              <a:rPr sz="2250" b="1">
                <a:solidFill>
                  <a:srgbClr val="152033"/>
                </a:solidFill>
              </a:rPr>
              <a:t>系统不是给孩子贴标签，而是</a:t>
            </a:r>
            <a:r>
              <a:rPr sz="2250" b="1">
                <a:solidFill>
                  <a:srgbClr val="152033"/>
                </a:solidFill>
              </a:rPr>
              <a:t>全面分析证据提供</a:t>
            </a:r>
            <a:r>
              <a:rPr sz="2250" b="1">
                <a:solidFill>
                  <a:srgbClr val="152033"/>
                </a:solidFill>
              </a:rPr>
              <a:t>个性化支持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同一个班级、同一份材料，孩子的基础、表达、节奏和情绪仍然不同。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47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持续理解人 · 共同进化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04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71500" y="1524000"/>
            <a:ext cx="3619500" cy="4038600"/>
          </a:xfrm>
          <a:prstGeom prst="roundRect">
            <a:avLst>
              <a:gd name="adj" fmla="val 2105"/>
            </a:avLst>
          </a:prstGeom>
          <a:solidFill>
            <a:srgbClr val="17243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75260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一个正在变化的学习者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181225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9829C"/>
                </a:solidFill>
              </a:defRPr>
            </a:pPr>
            <a:r>
              <a:rPr sz="1050" b="1">
                <a:solidFill>
                  <a:srgbClr val="D9829C"/>
                </a:solidFill>
              </a:rPr>
              <a:t>学习者模型</a:t>
            </a:r>
            <a:endParaRPr sz="1050" b="1">
              <a:solidFill>
                <a:srgbClr val="D9829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533650"/>
            <a:ext cx="3086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当前覆盖 17 类动态维度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933700"/>
            <a:ext cx="3086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D2D9E4"/>
                </a:solidFill>
              </a:defRPr>
            </a:pPr>
            <a:r>
              <a:rPr sz="1200" b="0">
                <a:solidFill>
                  <a:srgbClr val="D2D9E4"/>
                </a:solidFill>
              </a:rPr>
              <a:t>每轮对话更新｜跨会话保存</a:t>
            </a:r>
            <a:endParaRPr sz="1200" b="0">
              <a:solidFill>
                <a:srgbClr val="D2D9E4"/>
              </a:solidFill>
            </a:endParaRPr>
          </a:p>
          <a:p>
            <a:pPr algn="l">
              <a:buNone/>
              <a:defRPr sz="1200" b="0">
                <a:solidFill>
                  <a:srgbClr val="D2D9E4"/>
                </a:solidFill>
              </a:defRPr>
            </a:pPr>
            <a:r>
              <a:rPr sz="1200" b="0">
                <a:solidFill>
                  <a:srgbClr val="D2D9E4"/>
                </a:solidFill>
              </a:rPr>
              <a:t>不是画像展示，而是教学决策输入</a:t>
            </a:r>
            <a:endParaRPr sz="1200" b="0">
              <a:solidFill>
                <a:srgbClr val="D2D9E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7814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身份 / 学段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14575" y="37814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认知通道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40195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知识掌握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14575" y="40195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学习目标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42576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投入 / 节奏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14575" y="42576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误区证据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44958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历史会话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14575" y="44958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情感状态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7339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学习动机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314575" y="47339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自我信念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49720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价值观 / 世界观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14575" y="49720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会话意图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5210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E8ECF2"/>
                </a:solidFill>
              </a:defRPr>
            </a:pPr>
            <a:r>
              <a:rPr sz="975" b="0">
                <a:solidFill>
                  <a:srgbClr val="E8ECF2"/>
                </a:solidFill>
              </a:rPr>
              <a:t>• 母语与表达</a:t>
            </a:r>
            <a:endParaRPr sz="975" b="0">
              <a:solidFill>
                <a:srgbClr val="E8ECF2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514850" y="15240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4288">
            <a:solidFill>
              <a:srgbClr val="746B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514850" y="1524000"/>
            <a:ext cx="76200" cy="1657350"/>
          </a:xfrm>
          <a:prstGeom prst="rect">
            <a:avLst/>
          </a:prstGeom>
          <a:solidFill>
            <a:srgbClr val="746BE8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781550" y="1714500"/>
            <a:ext cx="257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746BE8"/>
                </a:solidFill>
              </a:defRPr>
            </a:pPr>
            <a:r>
              <a:rPr sz="1500" b="1">
                <a:solidFill>
                  <a:srgbClr val="746BE8"/>
                </a:solidFill>
              </a:rPr>
              <a:t>认知证据</a:t>
            </a:r>
            <a:endParaRPr sz="1500" b="1">
              <a:solidFill>
                <a:srgbClr val="746BE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781550" y="2143125"/>
            <a:ext cx="2619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152033"/>
                </a:solidFill>
              </a:defRPr>
            </a:pPr>
            <a:r>
              <a:rPr sz="1125" b="0">
                <a:solidFill>
                  <a:srgbClr val="152033"/>
                </a:solidFill>
              </a:rPr>
              <a:t>会什么｜误解什么｜怎样推理</a:t>
            </a:r>
            <a:endParaRPr sz="1125" b="0">
              <a:solidFill>
                <a:srgbClr val="15203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781550" y="26479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决定讲解深度与例子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096250" y="15240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4288">
            <a:solidFill>
              <a:srgbClr val="D9829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096250" y="1524000"/>
            <a:ext cx="76200" cy="1657350"/>
          </a:xfrm>
          <a:prstGeom prst="rect">
            <a:avLst/>
          </a:prstGeom>
          <a:solidFill>
            <a:srgbClr val="D9829C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362950" y="1714500"/>
            <a:ext cx="257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9829C"/>
                </a:solidFill>
              </a:defRPr>
            </a:pPr>
            <a:r>
              <a:rPr sz="1500" b="1">
                <a:solidFill>
                  <a:srgbClr val="D9829C"/>
                </a:solidFill>
              </a:rPr>
              <a:t>情绪证据</a:t>
            </a:r>
            <a:endParaRPr sz="1500" b="1">
              <a:solidFill>
                <a:srgbClr val="D9829C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62950" y="2143125"/>
            <a:ext cx="2619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152033"/>
                </a:solidFill>
              </a:defRPr>
            </a:pPr>
            <a:r>
              <a:rPr sz="1125" b="0">
                <a:solidFill>
                  <a:srgbClr val="152033"/>
                </a:solidFill>
              </a:rPr>
              <a:t>焦虑｜挫败｜自我信念</a:t>
            </a:r>
            <a:endParaRPr sz="1125" b="0">
              <a:solidFill>
                <a:srgbClr val="15203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26479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决定先教学还是先承接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514850" y="352425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4288">
            <a:solidFill>
              <a:srgbClr val="D49A4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514850" y="3524250"/>
            <a:ext cx="76200" cy="1657350"/>
          </a:xfrm>
          <a:prstGeom prst="rect">
            <a:avLst/>
          </a:prstGeom>
          <a:solidFill>
            <a:srgbClr val="D49A42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781550" y="3714750"/>
            <a:ext cx="257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49A42"/>
                </a:solidFill>
              </a:defRPr>
            </a:pPr>
            <a:r>
              <a:rPr sz="1500" b="1">
                <a:solidFill>
                  <a:srgbClr val="D49A42"/>
                </a:solidFill>
              </a:rPr>
              <a:t>行为证据</a:t>
            </a:r>
            <a:endParaRPr sz="1500" b="1">
              <a:solidFill>
                <a:srgbClr val="D49A42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781550" y="4143375"/>
            <a:ext cx="2619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152033"/>
                </a:solidFill>
              </a:defRPr>
            </a:pPr>
            <a:r>
              <a:rPr sz="1125" b="0">
                <a:solidFill>
                  <a:srgbClr val="152033"/>
                </a:solidFill>
              </a:rPr>
              <a:t>作答方式｜投入｜学习节奏</a:t>
            </a:r>
            <a:endParaRPr sz="1125" b="0">
              <a:solidFill>
                <a:srgbClr val="15203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781550" y="464820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决定等待、提示或换方法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8096250" y="352425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4288">
            <a:solidFill>
              <a:srgbClr val="579775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096250" y="3524250"/>
            <a:ext cx="76200" cy="1657350"/>
          </a:xfrm>
          <a:prstGeom prst="rect">
            <a:avLst/>
          </a:prstGeom>
          <a:solidFill>
            <a:srgbClr val="57977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362950" y="3714750"/>
            <a:ext cx="257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579775"/>
                </a:solidFill>
              </a:defRPr>
            </a:pPr>
            <a:r>
              <a:rPr sz="1500" b="1">
                <a:solidFill>
                  <a:srgbClr val="579775"/>
                </a:solidFill>
              </a:rPr>
              <a:t>价值与意图证据</a:t>
            </a:r>
            <a:endParaRPr sz="1500" b="1">
              <a:solidFill>
                <a:srgbClr val="57977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62950" y="4143375"/>
            <a:ext cx="2619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152033"/>
                </a:solidFill>
              </a:defRPr>
            </a:pPr>
            <a:r>
              <a:rPr sz="1125" b="0">
                <a:solidFill>
                  <a:srgbClr val="152033"/>
                </a:solidFill>
              </a:rPr>
              <a:t>目标｜兴趣｜表达｜世界理解</a:t>
            </a:r>
            <a:endParaRPr sz="1125" b="0">
              <a:solidFill>
                <a:srgbClr val="15203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62950" y="464820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决定教学、倾诉或通识入口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4514850" y="5467350"/>
            <a:ext cx="6724650" cy="533400"/>
          </a:xfrm>
          <a:prstGeom prst="roundRect">
            <a:avLst>
              <a:gd name="adj" fmla="val 14286"/>
            </a:avLst>
          </a:prstGeom>
          <a:solidFill>
            <a:srgbClr val="E6E0F4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724400" y="5562600"/>
            <a:ext cx="630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这些证据最终只回答一个问题：此刻，怎样回应才真正适合这个孩子？</a:t>
            </a:r>
            <a:endParaRPr sz="1350" b="1">
              <a:solidFill>
                <a:srgbClr val="17243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" name="矩形 64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理解只有进入下一步教学决策，才真正产生价值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BAC4D2"/>
                </a:solidFill>
              </a:defRPr>
            </a:pPr>
            <a:r>
              <a:rPr sz="1200" b="0">
                <a:solidFill>
                  <a:srgbClr val="BAC4D2"/>
                </a:solidFill>
              </a:rPr>
              <a:t>爱弥儿接续的是教师暂时无法完成的个别化循环，而不是生成一段更长的答案。</a:t>
            </a:r>
            <a:endParaRPr sz="1200" b="0">
              <a:solidFill>
                <a:srgbClr val="BAC4D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8896AA"/>
                </a:solidFill>
              </a:defRPr>
            </a:pPr>
            <a:r>
              <a:rPr sz="675" b="0">
                <a:solidFill>
                  <a:srgbClr val="8896AA"/>
                </a:solidFill>
              </a:rPr>
              <a:t>爱弥儿 · 持续更新的乡村教育智能体</a:t>
            </a:r>
            <a:endParaRPr sz="675" b="0">
              <a:solidFill>
                <a:srgbClr val="8896A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8896AA"/>
                </a:solidFill>
              </a:defRPr>
            </a:pPr>
            <a:r>
              <a:rPr sz="675" b="0">
                <a:solidFill>
                  <a:srgbClr val="8896AA"/>
                </a:solidFill>
              </a:rPr>
              <a:t>05 / 16</a:t>
            </a:r>
            <a:endParaRPr sz="675" b="0">
              <a:solidFill>
                <a:srgbClr val="8896AA"/>
              </a:solidFill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2133600" y="2857500"/>
            <a:ext cx="295275" cy="0"/>
          </a:xfrm>
          <a:prstGeom prst="line">
            <a:avLst/>
          </a:prstGeom>
          <a:noFill/>
          <a:ln w="19050">
            <a:solidFill>
              <a:srgbClr val="8092A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181225" y="26955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›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3990975" y="2857500"/>
            <a:ext cx="295275" cy="0"/>
          </a:xfrm>
          <a:prstGeom prst="line">
            <a:avLst/>
          </a:prstGeom>
          <a:noFill/>
          <a:ln w="19050">
            <a:solidFill>
              <a:srgbClr val="8092A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38600" y="26955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›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848350" y="2857500"/>
            <a:ext cx="295275" cy="0"/>
          </a:xfrm>
          <a:prstGeom prst="line">
            <a:avLst/>
          </a:prstGeom>
          <a:noFill/>
          <a:ln w="19050">
            <a:solidFill>
              <a:srgbClr val="8092A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895975" y="26955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›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705725" y="2857500"/>
            <a:ext cx="295275" cy="0"/>
          </a:xfrm>
          <a:prstGeom prst="line">
            <a:avLst/>
          </a:prstGeom>
          <a:noFill/>
          <a:ln w="19050">
            <a:solidFill>
              <a:srgbClr val="8092A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53350" y="26955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›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9563100" y="2857500"/>
            <a:ext cx="295275" cy="0"/>
          </a:xfrm>
          <a:prstGeom prst="line">
            <a:avLst/>
          </a:prstGeom>
          <a:noFill/>
          <a:ln w="19050">
            <a:solidFill>
              <a:srgbClr val="8092A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10725" y="26955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›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0639425" y="3771900"/>
            <a:ext cx="0" cy="819150"/>
          </a:xfrm>
          <a:prstGeom prst="line">
            <a:avLst/>
          </a:prstGeom>
          <a:noFill/>
          <a:ln w="19050">
            <a:solidFill>
              <a:srgbClr val="746BE8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571625" y="4591050"/>
            <a:ext cx="9067800" cy="0"/>
          </a:xfrm>
          <a:prstGeom prst="line">
            <a:avLst/>
          </a:prstGeom>
          <a:noFill/>
          <a:ln w="19050">
            <a:solidFill>
              <a:srgbClr val="746BE8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571625" y="3771900"/>
            <a:ext cx="0" cy="819150"/>
          </a:xfrm>
          <a:prstGeom prst="line">
            <a:avLst/>
          </a:prstGeom>
          <a:noFill/>
          <a:ln w="19050">
            <a:solidFill>
              <a:srgbClr val="746B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953625" y="43053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746BE8"/>
                </a:solidFill>
              </a:defRPr>
            </a:pPr>
            <a:r>
              <a:rPr sz="2100" b="1">
                <a:solidFill>
                  <a:srgbClr val="746BE8"/>
                </a:solidFill>
              </a:rPr>
              <a:t>↻</a:t>
            </a:r>
            <a:endParaRPr sz="2100" b="1">
              <a:solidFill>
                <a:srgbClr val="746BE8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71500" y="1809750"/>
            <a:ext cx="1562100" cy="1962150"/>
          </a:xfrm>
          <a:prstGeom prst="roundRect">
            <a:avLst>
              <a:gd name="adj" fmla="val 4878"/>
            </a:avLst>
          </a:prstGeom>
          <a:solidFill>
            <a:srgbClr val="22314B"/>
          </a:solidFill>
          <a:ln w="13335">
            <a:solidFill>
              <a:srgbClr val="746B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198120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746BE8"/>
                </a:solidFill>
              </a:defRPr>
            </a:pPr>
            <a:r>
              <a:rPr sz="975" b="1">
                <a:solidFill>
                  <a:srgbClr val="746BE8"/>
                </a:solidFill>
              </a:rPr>
              <a:t>01</a:t>
            </a:r>
            <a:endParaRPr sz="975" b="1">
              <a:solidFill>
                <a:srgbClr val="746BE8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接收证据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42950" y="2819400"/>
            <a:ext cx="1219200" cy="0"/>
          </a:xfrm>
          <a:prstGeom prst="line">
            <a:avLst/>
          </a:prstGeom>
          <a:noFill/>
          <a:ln w="9525">
            <a:solidFill>
              <a:srgbClr val="50607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2971800"/>
            <a:ext cx="1295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4DCE7"/>
                </a:solidFill>
              </a:defRPr>
            </a:pPr>
            <a:r>
              <a:rPr sz="975" b="0">
                <a:solidFill>
                  <a:srgbClr val="D4DCE7"/>
                </a:solidFill>
              </a:rPr>
              <a:t>对话 / 作答 / 行为</a:t>
            </a:r>
            <a:endParaRPr sz="975" b="0">
              <a:solidFill>
                <a:srgbClr val="D4DCE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33909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746BE8"/>
                </a:solidFill>
              </a:defRPr>
            </a:pPr>
            <a:r>
              <a:rPr sz="900" b="1">
                <a:solidFill>
                  <a:srgbClr val="746BE8"/>
                </a:solidFill>
              </a:rPr>
              <a:t>本轮发生了什么</a:t>
            </a:r>
            <a:endParaRPr sz="900" b="1">
              <a:solidFill>
                <a:srgbClr val="746BE8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428875" y="1809750"/>
            <a:ext cx="1562100" cy="1962150"/>
          </a:xfrm>
          <a:prstGeom prst="roundRect">
            <a:avLst>
              <a:gd name="adj" fmla="val 4878"/>
            </a:avLst>
          </a:prstGeom>
          <a:solidFill>
            <a:srgbClr val="22314B"/>
          </a:solidFill>
          <a:ln w="13335">
            <a:solidFill>
              <a:srgbClr val="D9829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581275" y="198120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D9829C"/>
                </a:solidFill>
              </a:defRPr>
            </a:pPr>
            <a:r>
              <a:rPr sz="975" b="1">
                <a:solidFill>
                  <a:srgbClr val="D9829C"/>
                </a:solidFill>
              </a:rPr>
              <a:t>02</a:t>
            </a:r>
            <a:endParaRPr sz="975" b="1">
              <a:solidFill>
                <a:srgbClr val="D9829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581275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诊断状态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2600325" y="2819400"/>
            <a:ext cx="1219200" cy="0"/>
          </a:xfrm>
          <a:prstGeom prst="line">
            <a:avLst/>
          </a:prstGeom>
          <a:noFill/>
          <a:ln w="9525">
            <a:solidFill>
              <a:srgbClr val="50607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562225" y="2971800"/>
            <a:ext cx="1295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4DCE7"/>
                </a:solidFill>
              </a:defRPr>
            </a:pPr>
            <a:r>
              <a:rPr sz="975" b="0">
                <a:solidFill>
                  <a:srgbClr val="D4DCE7"/>
                </a:solidFill>
              </a:rPr>
              <a:t>基础 / 误区 / 情绪</a:t>
            </a:r>
            <a:endParaRPr sz="975" b="0">
              <a:solidFill>
                <a:srgbClr val="D4DCE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62225" y="33909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D9829C"/>
                </a:solidFill>
              </a:defRPr>
            </a:pPr>
            <a:r>
              <a:rPr sz="900" b="1">
                <a:solidFill>
                  <a:srgbClr val="D9829C"/>
                </a:solidFill>
              </a:rPr>
              <a:t>此刻真正需要什么</a:t>
            </a:r>
            <a:endParaRPr sz="900" b="1">
              <a:solidFill>
                <a:srgbClr val="D9829C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286250" y="1809750"/>
            <a:ext cx="1562100" cy="1962150"/>
          </a:xfrm>
          <a:prstGeom prst="roundRect">
            <a:avLst>
              <a:gd name="adj" fmla="val 4878"/>
            </a:avLst>
          </a:prstGeom>
          <a:solidFill>
            <a:srgbClr val="22314B"/>
          </a:solidFill>
          <a:ln w="13335">
            <a:solidFill>
              <a:srgbClr val="D49A4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38650" y="198120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03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38650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制定计划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4457700" y="2819400"/>
            <a:ext cx="1219200" cy="0"/>
          </a:xfrm>
          <a:prstGeom prst="line">
            <a:avLst/>
          </a:prstGeom>
          <a:noFill/>
          <a:ln w="9525">
            <a:solidFill>
              <a:srgbClr val="50607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419600" y="2971800"/>
            <a:ext cx="1295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4DCE7"/>
                </a:solidFill>
              </a:defRPr>
            </a:pPr>
            <a:r>
              <a:rPr sz="975" b="0">
                <a:solidFill>
                  <a:srgbClr val="D4DCE7"/>
                </a:solidFill>
              </a:rPr>
              <a:t>目标 / 节奏 / 策略</a:t>
            </a:r>
            <a:endParaRPr sz="975" b="0">
              <a:solidFill>
                <a:srgbClr val="D4DCE7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19600" y="33909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D49A42"/>
                </a:solidFill>
              </a:defRPr>
            </a:pPr>
            <a:r>
              <a:rPr sz="900" b="1">
                <a:solidFill>
                  <a:srgbClr val="D49A42"/>
                </a:solidFill>
              </a:rPr>
              <a:t>下一步为何这样教</a:t>
            </a:r>
            <a:endParaRPr sz="900" b="1">
              <a:solidFill>
                <a:srgbClr val="D49A42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143625" y="1809750"/>
            <a:ext cx="1562100" cy="1962150"/>
          </a:xfrm>
          <a:prstGeom prst="roundRect">
            <a:avLst>
              <a:gd name="adj" fmla="val 4878"/>
            </a:avLst>
          </a:prstGeom>
          <a:solidFill>
            <a:srgbClr val="22314B"/>
          </a:solidFill>
          <a:ln w="13335">
            <a:solidFill>
              <a:srgbClr val="57977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296025" y="198120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79775"/>
                </a:solidFill>
              </a:defRPr>
            </a:pPr>
            <a:r>
              <a:rPr sz="975" b="1">
                <a:solidFill>
                  <a:srgbClr val="579775"/>
                </a:solidFill>
              </a:rPr>
              <a:t>04</a:t>
            </a:r>
            <a:endParaRPr sz="975" b="1">
              <a:solidFill>
                <a:srgbClr val="579775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296025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执行教学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6315075" y="2819400"/>
            <a:ext cx="1219200" cy="0"/>
          </a:xfrm>
          <a:prstGeom prst="line">
            <a:avLst/>
          </a:prstGeom>
          <a:noFill/>
          <a:ln w="9525">
            <a:solidFill>
              <a:srgbClr val="50607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276975" y="2971800"/>
            <a:ext cx="1295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4DCE7"/>
                </a:solidFill>
              </a:defRPr>
            </a:pPr>
            <a:r>
              <a:rPr sz="975" b="0">
                <a:solidFill>
                  <a:srgbClr val="D4DCE7"/>
                </a:solidFill>
              </a:rPr>
              <a:t>讲解 / 追问 / 工具</a:t>
            </a:r>
            <a:endParaRPr sz="975" b="0">
              <a:solidFill>
                <a:srgbClr val="D4DCE7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276975" y="33909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579775"/>
                </a:solidFill>
              </a:defRPr>
            </a:pPr>
            <a:r>
              <a:rPr sz="900" b="1">
                <a:solidFill>
                  <a:srgbClr val="579775"/>
                </a:solidFill>
              </a:rPr>
              <a:t>让学习真实发生</a:t>
            </a:r>
            <a:endParaRPr sz="900" b="1">
              <a:solidFill>
                <a:srgbClr val="579775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001000" y="1809750"/>
            <a:ext cx="1562100" cy="1962150"/>
          </a:xfrm>
          <a:prstGeom prst="roundRect">
            <a:avLst>
              <a:gd name="adj" fmla="val 4878"/>
            </a:avLst>
          </a:prstGeom>
          <a:solidFill>
            <a:srgbClr val="22314B"/>
          </a:solidFill>
          <a:ln w="13335">
            <a:solidFill>
              <a:srgbClr val="65CDE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153400" y="198120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5CDE5"/>
                </a:solidFill>
              </a:defRPr>
            </a:pPr>
            <a:r>
              <a:rPr sz="975" b="1">
                <a:solidFill>
                  <a:srgbClr val="65CDE5"/>
                </a:solidFill>
              </a:rPr>
              <a:t>05</a:t>
            </a:r>
            <a:endParaRPr sz="975" b="1">
              <a:solidFill>
                <a:srgbClr val="65CDE5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53400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评估变化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8172450" y="2819400"/>
            <a:ext cx="1219200" cy="0"/>
          </a:xfrm>
          <a:prstGeom prst="line">
            <a:avLst/>
          </a:prstGeom>
          <a:noFill/>
          <a:ln w="9525">
            <a:solidFill>
              <a:srgbClr val="50607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134350" y="2971800"/>
            <a:ext cx="1295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4DCE7"/>
                </a:solidFill>
              </a:defRPr>
            </a:pPr>
            <a:r>
              <a:rPr sz="975" b="0">
                <a:solidFill>
                  <a:srgbClr val="D4DCE7"/>
                </a:solidFill>
              </a:rPr>
              <a:t>理解 / 错误 / 反馈</a:t>
            </a:r>
            <a:endParaRPr sz="975" b="0">
              <a:solidFill>
                <a:srgbClr val="D4DCE7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34350" y="33909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65CDE5"/>
                </a:solidFill>
              </a:defRPr>
            </a:pPr>
            <a:r>
              <a:rPr sz="900" b="1">
                <a:solidFill>
                  <a:srgbClr val="65CDE5"/>
                </a:solidFill>
              </a:rPr>
              <a:t>是否需要换一种方法</a:t>
            </a:r>
            <a:endParaRPr sz="900" b="1">
              <a:solidFill>
                <a:srgbClr val="65CDE5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858375" y="1809750"/>
            <a:ext cx="1562100" cy="1962150"/>
          </a:xfrm>
          <a:prstGeom prst="roundRect">
            <a:avLst>
              <a:gd name="adj" fmla="val 4878"/>
            </a:avLst>
          </a:prstGeom>
          <a:solidFill>
            <a:srgbClr val="22314B"/>
          </a:solidFill>
          <a:ln w="13335">
            <a:solidFill>
              <a:srgbClr val="746BE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010775" y="198120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746BE8"/>
                </a:solidFill>
              </a:defRPr>
            </a:pPr>
            <a:r>
              <a:rPr sz="975" b="1">
                <a:solidFill>
                  <a:srgbClr val="746BE8"/>
                </a:solidFill>
              </a:rPr>
              <a:t>06</a:t>
            </a:r>
            <a:endParaRPr sz="975" b="1">
              <a:solidFill>
                <a:srgbClr val="746BE8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010775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写回状态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10029825" y="2819400"/>
            <a:ext cx="1219200" cy="0"/>
          </a:xfrm>
          <a:prstGeom prst="line">
            <a:avLst/>
          </a:prstGeom>
          <a:noFill/>
          <a:ln w="9525">
            <a:solidFill>
              <a:srgbClr val="506078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991725" y="2971800"/>
            <a:ext cx="1295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4DCE7"/>
                </a:solidFill>
              </a:defRPr>
            </a:pPr>
            <a:r>
              <a:rPr sz="975" b="0">
                <a:solidFill>
                  <a:srgbClr val="D4DCE7"/>
                </a:solidFill>
              </a:rPr>
              <a:t>画像 / 掌握 / 反思</a:t>
            </a:r>
            <a:endParaRPr sz="975" b="0">
              <a:solidFill>
                <a:srgbClr val="D4DCE7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991725" y="33909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746BE8"/>
                </a:solidFill>
              </a:defRPr>
            </a:pPr>
            <a:r>
              <a:rPr sz="900" b="1">
                <a:solidFill>
                  <a:srgbClr val="746BE8"/>
                </a:solidFill>
              </a:rPr>
              <a:t>下一轮不再从零开始</a:t>
            </a:r>
            <a:endParaRPr sz="900" b="1">
              <a:solidFill>
                <a:srgbClr val="746BE8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571625" y="4333875"/>
            <a:ext cx="9067800" cy="514350"/>
          </a:xfrm>
          <a:prstGeom prst="roundRect">
            <a:avLst>
              <a:gd name="adj" fmla="val 14815"/>
            </a:avLst>
          </a:prstGeom>
          <a:solidFill>
            <a:srgbClr val="2B2338"/>
          </a:solidFill>
          <a:ln w="9525">
            <a:solidFill>
              <a:srgbClr val="746BE8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809750" y="4400550"/>
            <a:ext cx="859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写回状态重新进入下一轮诊断：同一个孩子的下一次对话，不再从零开始。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71500" y="5143500"/>
            <a:ext cx="257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65CDE5"/>
                </a:solidFill>
              </a:defRPr>
            </a:pPr>
            <a:r>
              <a:rPr sz="1350" b="1">
                <a:solidFill>
                  <a:srgbClr val="65CDE5"/>
                </a:solidFill>
              </a:rPr>
              <a:t>每一步都留下可追踪证据</a:t>
            </a:r>
            <a:endParaRPr sz="1350" b="1">
              <a:solidFill>
                <a:srgbClr val="65CDE5"/>
              </a:solidFill>
            </a:endParaRPr>
          </a:p>
        </p:txBody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571500" y="5524500"/>
            <a:ext cx="11049000" cy="0"/>
          </a:xfrm>
          <a:prstGeom prst="line">
            <a:avLst/>
          </a:prstGeom>
          <a:noFill/>
          <a:ln w="9525">
            <a:solidFill>
              <a:srgbClr val="42536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71500" y="5657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746BE8"/>
                </a:solidFill>
              </a:defRPr>
            </a:pPr>
            <a:r>
              <a:rPr sz="1125" b="1">
                <a:solidFill>
                  <a:srgbClr val="746BE8"/>
                </a:solidFill>
              </a:rPr>
              <a:t>状态证据</a:t>
            </a:r>
            <a:endParaRPr sz="1125" b="1">
              <a:solidFill>
                <a:srgbClr val="746BE8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638300" y="5619750"/>
            <a:ext cx="2428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C9D3E0"/>
                </a:solidFill>
              </a:defRPr>
            </a:pPr>
            <a:r>
              <a:rPr sz="975" b="0">
                <a:solidFill>
                  <a:srgbClr val="C9D3E0"/>
                </a:solidFill>
              </a:rPr>
              <a:t>学生此刻懂什么、卡在哪里、情绪如何</a:t>
            </a:r>
            <a:endParaRPr sz="975" b="0">
              <a:solidFill>
                <a:srgbClr val="C9D3E0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257675" y="5657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D49A42"/>
                </a:solidFill>
              </a:defRPr>
            </a:pPr>
            <a:r>
              <a:rPr sz="1125" b="1">
                <a:solidFill>
                  <a:srgbClr val="D49A42"/>
                </a:solidFill>
              </a:rPr>
              <a:t>决策证据</a:t>
            </a:r>
            <a:endParaRPr sz="1125" b="1">
              <a:solidFill>
                <a:srgbClr val="D49A42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324475" y="5619750"/>
            <a:ext cx="2428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C9D3E0"/>
                </a:solidFill>
              </a:defRPr>
            </a:pPr>
            <a:r>
              <a:rPr sz="975" b="0">
                <a:solidFill>
                  <a:srgbClr val="C9D3E0"/>
                </a:solidFill>
              </a:rPr>
              <a:t>系统为什么追问、换法、调用工具或暂停</a:t>
            </a:r>
            <a:endParaRPr sz="975" b="0">
              <a:solidFill>
                <a:srgbClr val="C9D3E0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943850" y="5657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79775"/>
                </a:solidFill>
              </a:defRPr>
            </a:pPr>
            <a:r>
              <a:rPr sz="1125" b="1">
                <a:solidFill>
                  <a:srgbClr val="579775"/>
                </a:solidFill>
              </a:rPr>
              <a:t>变化证据</a:t>
            </a:r>
            <a:endParaRPr sz="1125" b="1">
              <a:solidFill>
                <a:srgbClr val="579775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9010650" y="5619750"/>
            <a:ext cx="2428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C9D3E0"/>
                </a:solidFill>
              </a:defRPr>
            </a:pPr>
            <a:r>
              <a:rPr sz="975" b="0">
                <a:solidFill>
                  <a:srgbClr val="C9D3E0"/>
                </a:solidFill>
              </a:rPr>
              <a:t>这一轮之后，画像、掌握度与教学策略怎样更新</a:t>
            </a:r>
            <a:endParaRPr sz="975" b="0">
              <a:solidFill>
                <a:srgbClr val="C9D3E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核心技术：大模型约束不是固定模板，而是运行时动态组合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06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71500" y="1000125"/>
            <a:ext cx="11049000" cy="5095875"/>
          </a:xfrm>
          <a:prstGeom prst="roundRect">
            <a:avLst>
              <a:gd name="adj" fmla="val 1495"/>
            </a:avLst>
          </a:prstGeom>
          <a:solidFill>
            <a:srgbClr val="17243A"/>
          </a:solidFill>
          <a:ln w="9525">
            <a:solidFill>
              <a:srgbClr val="85D7E9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1525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用户状态改变 → 约束组合改变；教育底线始终不变</a:t>
            </a:r>
            <a:r>
              <a:rPr lang="zh-CN" sz="1650" b="1">
                <a:solidFill>
                  <a:srgbClr val="FFFFFF"/>
                </a:solidFill>
                <a:ea typeface="宋体" panose="02010600030101010101" pitchFamily="2" charset="-122"/>
              </a:rPr>
              <a:t>（</a:t>
            </a:r>
            <a:r>
              <a:rPr lang="zh-CN" sz="1650" b="1">
                <a:solidFill>
                  <a:srgbClr val="FFFFFF"/>
                </a:solidFill>
              </a:rPr>
              <a:t>提示词工程和</a:t>
            </a:r>
            <a:r>
              <a:rPr lang="en-US" altLang="zh-CN" sz="1650" b="1">
                <a:solidFill>
                  <a:srgbClr val="FFFFFF"/>
                </a:solidFill>
              </a:rPr>
              <a:t>python</a:t>
            </a:r>
            <a:r>
              <a:rPr lang="zh-CN" altLang="en-US" sz="1650" b="1">
                <a:solidFill>
                  <a:srgbClr val="FFFFFF"/>
                </a:solidFill>
              </a:rPr>
              <a:t>脚本）</a:t>
            </a:r>
            <a:endParaRPr lang="zh-CN" altLang="en-US" sz="16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1504950"/>
            <a:ext cx="1000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C5D6E5"/>
                </a:solidFill>
              </a:defRPr>
            </a:pPr>
            <a:r>
              <a:rPr sz="1050" b="0">
                <a:solidFill>
                  <a:srgbClr val="C5D6E5"/>
                </a:solidFill>
              </a:rPr>
              <a:t>意图聚焦负责“读懂此刻要什么”，3-bit Mask 负责“决定此刻哪些规则该启用”。</a:t>
            </a:r>
            <a:endParaRPr sz="1050" b="0">
              <a:solidFill>
                <a:srgbClr val="C5D6E5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667000" y="2714625"/>
            <a:ext cx="219075" cy="0"/>
          </a:xfrm>
          <a:prstGeom prst="line">
            <a:avLst/>
          </a:prstGeom>
          <a:noFill/>
          <a:ln w="19050">
            <a:solidFill>
              <a:srgbClr val="AAC9D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695575" y="2562225"/>
            <a:ext cx="171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›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4772025" y="2714625"/>
            <a:ext cx="219075" cy="0"/>
          </a:xfrm>
          <a:prstGeom prst="line">
            <a:avLst/>
          </a:prstGeom>
          <a:noFill/>
          <a:ln w="19050">
            <a:solidFill>
              <a:srgbClr val="AAC9D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800600" y="2562225"/>
            <a:ext cx="171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›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877050" y="2714625"/>
            <a:ext cx="219075" cy="0"/>
          </a:xfrm>
          <a:prstGeom prst="line">
            <a:avLst/>
          </a:prstGeom>
          <a:noFill/>
          <a:ln w="19050">
            <a:solidFill>
              <a:srgbClr val="AAC9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05625" y="2562225"/>
            <a:ext cx="171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›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982075" y="2714625"/>
            <a:ext cx="219075" cy="0"/>
          </a:xfrm>
          <a:prstGeom prst="line">
            <a:avLst/>
          </a:prstGeom>
          <a:noFill/>
          <a:ln w="19050">
            <a:solidFill>
              <a:srgbClr val="AAC9D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010650" y="2562225"/>
            <a:ext cx="171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›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81050" y="1924050"/>
            <a:ext cx="1885950" cy="1962150"/>
          </a:xfrm>
          <a:prstGeom prst="roundRect">
            <a:avLst>
              <a:gd name="adj" fmla="val 4040"/>
            </a:avLst>
          </a:prstGeom>
          <a:solidFill>
            <a:srgbClr val="22314B"/>
          </a:solidFill>
          <a:ln w="12383">
            <a:solidFill>
              <a:srgbClr val="746B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20574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46BE8"/>
                </a:solidFill>
              </a:defRPr>
            </a:pPr>
            <a:r>
              <a:rPr sz="1275" b="1">
                <a:solidFill>
                  <a:srgbClr val="746BE8"/>
                </a:solidFill>
              </a:rPr>
              <a:t>01 意图聚焦</a:t>
            </a:r>
            <a:endParaRPr sz="1275" b="1">
              <a:solidFill>
                <a:srgbClr val="746BE8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914400" y="2419350"/>
            <a:ext cx="1619250" cy="0"/>
          </a:xfrm>
          <a:prstGeom prst="line">
            <a:avLst/>
          </a:prstGeom>
          <a:noFill/>
          <a:ln w="9525">
            <a:solidFill>
              <a:srgbClr val="4C60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2552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用户消息 + 历史 + 画像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4400" y="30099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LLM提取本轮关键需求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BDD0DF"/>
                </a:solidFill>
              </a:defRPr>
            </a:pPr>
            <a:r>
              <a:rPr sz="975" b="0">
                <a:solidFill>
                  <a:srgbClr val="BDD0DF"/>
                </a:solidFill>
              </a:rPr>
              <a:t>输出 &lt;need&gt;…&lt;/need&gt;</a:t>
            </a:r>
            <a:endParaRPr sz="975" b="0">
              <a:solidFill>
                <a:srgbClr val="BDD0D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886075" y="1924050"/>
            <a:ext cx="1885950" cy="1962150"/>
          </a:xfrm>
          <a:prstGeom prst="roundRect">
            <a:avLst>
              <a:gd name="adj" fmla="val 4040"/>
            </a:avLst>
          </a:prstGeom>
          <a:solidFill>
            <a:srgbClr val="22314B"/>
          </a:solidFill>
          <a:ln w="12383">
            <a:solidFill>
              <a:srgbClr val="D9829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000375" y="20574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D9829C"/>
                </a:solidFill>
              </a:defRPr>
            </a:pPr>
            <a:r>
              <a:rPr sz="1275" b="1">
                <a:solidFill>
                  <a:srgbClr val="D9829C"/>
                </a:solidFill>
              </a:rPr>
              <a:t>02 信号识别</a:t>
            </a:r>
            <a:endParaRPr sz="1275" b="1">
              <a:solidFill>
                <a:srgbClr val="D9829C"/>
              </a:solidFill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3019425" y="2419350"/>
            <a:ext cx="1619250" cy="0"/>
          </a:xfrm>
          <a:prstGeom prst="line">
            <a:avLst/>
          </a:prstGeom>
          <a:noFill/>
          <a:ln w="9525">
            <a:solidFill>
              <a:srgbClr val="4C607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019425" y="2552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DIRECT 显式要答案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019425" y="30099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EMOTION 情绪波动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19425" y="342900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BDD0DF"/>
                </a:solidFill>
              </a:defRPr>
            </a:pPr>
            <a:r>
              <a:rPr sz="975" b="0">
                <a:solidFill>
                  <a:srgbClr val="BDD0DF"/>
                </a:solidFill>
              </a:rPr>
              <a:t>DEPTH 深度偏好</a:t>
            </a:r>
            <a:endParaRPr sz="975" b="0">
              <a:solidFill>
                <a:srgbClr val="BDD0D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991100" y="1924050"/>
            <a:ext cx="1885950" cy="1962150"/>
          </a:xfrm>
          <a:prstGeom prst="roundRect">
            <a:avLst>
              <a:gd name="adj" fmla="val 4040"/>
            </a:avLst>
          </a:prstGeom>
          <a:solidFill>
            <a:srgbClr val="22314B"/>
          </a:solidFill>
          <a:ln w="12383">
            <a:solidFill>
              <a:srgbClr val="D49A4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105400" y="20574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D49A42"/>
                </a:solidFill>
              </a:defRPr>
            </a:pPr>
            <a:r>
              <a:rPr sz="1275" b="1">
                <a:solidFill>
                  <a:srgbClr val="D49A42"/>
                </a:solidFill>
              </a:rPr>
              <a:t>03 Mask计算</a:t>
            </a:r>
            <a:endParaRPr sz="1275" b="1">
              <a:solidFill>
                <a:srgbClr val="D49A42"/>
              </a:solidFill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124450" y="2419350"/>
            <a:ext cx="1619250" cy="0"/>
          </a:xfrm>
          <a:prstGeom prst="line">
            <a:avLst/>
          </a:prstGeom>
          <a:noFill/>
          <a:ln w="9525">
            <a:solidFill>
              <a:srgbClr val="4C607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24450" y="2552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位2 A：直接性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24450" y="30099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位1 B：情绪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124450" y="342900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BDD0DF"/>
                </a:solidFill>
              </a:defRPr>
            </a:pPr>
            <a:r>
              <a:rPr sz="975" b="0">
                <a:solidFill>
                  <a:srgbClr val="BDD0DF"/>
                </a:solidFill>
              </a:rPr>
              <a:t>位0 C：深度</a:t>
            </a:r>
            <a:endParaRPr sz="975" b="0">
              <a:solidFill>
                <a:srgbClr val="BDD0DF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096125" y="1924050"/>
            <a:ext cx="1885950" cy="1962150"/>
          </a:xfrm>
          <a:prstGeom prst="roundRect">
            <a:avLst>
              <a:gd name="adj" fmla="val 4040"/>
            </a:avLst>
          </a:prstGeom>
          <a:solidFill>
            <a:srgbClr val="22314B"/>
          </a:solidFill>
          <a:ln w="12383">
            <a:solidFill>
              <a:srgbClr val="65CD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210425" y="20574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65CDE5"/>
                </a:solidFill>
              </a:defRPr>
            </a:pPr>
            <a:r>
              <a:rPr sz="1275" b="1">
                <a:solidFill>
                  <a:srgbClr val="65CDE5"/>
                </a:solidFill>
              </a:rPr>
              <a:t>04 规则拼装</a:t>
            </a:r>
            <a:endParaRPr sz="1275" b="1">
              <a:solidFill>
                <a:srgbClr val="65CDE5"/>
              </a:solidFill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7229475" y="2419350"/>
            <a:ext cx="1619250" cy="0"/>
          </a:xfrm>
          <a:prstGeom prst="line">
            <a:avLst/>
          </a:prstGeom>
          <a:noFill/>
          <a:ln w="9525">
            <a:solidFill>
              <a:srgbClr val="4C607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229475" y="2552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L0 + 被启用的A/B/C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229475" y="30099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000—111 共8种组合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229475" y="342900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BDD0DF"/>
                </a:solidFill>
              </a:defRPr>
            </a:pPr>
            <a:r>
              <a:rPr sz="975" b="0">
                <a:solidFill>
                  <a:srgbClr val="BDD0DF"/>
                </a:solidFill>
              </a:rPr>
              <a:t>12动态槽共同注入</a:t>
            </a:r>
            <a:endParaRPr sz="975" b="0">
              <a:solidFill>
                <a:srgbClr val="BDD0DF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201150" y="1924050"/>
            <a:ext cx="1885950" cy="1962150"/>
          </a:xfrm>
          <a:prstGeom prst="roundRect">
            <a:avLst>
              <a:gd name="adj" fmla="val 4040"/>
            </a:avLst>
          </a:prstGeom>
          <a:solidFill>
            <a:srgbClr val="22314B"/>
          </a:solidFill>
          <a:ln w="12383">
            <a:solidFill>
              <a:srgbClr val="57977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315450" y="20574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579775"/>
                </a:solidFill>
              </a:defRPr>
            </a:pPr>
            <a:r>
              <a:rPr sz="1275" b="1">
                <a:solidFill>
                  <a:srgbClr val="579775"/>
                </a:solidFill>
              </a:rPr>
              <a:t>05 LLM执行</a:t>
            </a:r>
            <a:endParaRPr sz="1275" b="1">
              <a:solidFill>
                <a:srgbClr val="579775"/>
              </a:solidFill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9334500" y="2419350"/>
            <a:ext cx="1619250" cy="0"/>
          </a:xfrm>
          <a:prstGeom prst="line">
            <a:avLst/>
          </a:prstGeom>
          <a:noFill/>
          <a:ln w="9525">
            <a:solidFill>
              <a:srgbClr val="4C607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334500" y="2552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build_*_system()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334500" y="30099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关键需求成为执行条件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34500" y="3429000"/>
            <a:ext cx="1619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BDD0DF"/>
                </a:solidFill>
              </a:defRPr>
            </a:pPr>
            <a:r>
              <a:rPr sz="975" b="0">
                <a:solidFill>
                  <a:srgbClr val="BDD0DF"/>
                </a:solidFill>
              </a:rPr>
              <a:t>输出进入语言质量门</a:t>
            </a:r>
            <a:endParaRPr sz="975" b="0">
              <a:solidFill>
                <a:srgbClr val="BDD0DF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781050" y="4076700"/>
            <a:ext cx="6429375" cy="1762125"/>
          </a:xfrm>
          <a:prstGeom prst="roundRect">
            <a:avLst>
              <a:gd name="adj" fmla="val 4324"/>
            </a:avLst>
          </a:prstGeom>
          <a:solidFill>
            <a:srgbClr val="0C2744"/>
          </a:solidFill>
          <a:ln w="9525">
            <a:solidFill>
              <a:srgbClr val="4F91B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71550" y="4219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65CDE5"/>
                </a:solidFill>
              </a:defRPr>
            </a:pPr>
            <a:r>
              <a:rPr sz="1350" b="1">
                <a:solidFill>
                  <a:srgbClr val="65CDE5"/>
                </a:solidFill>
              </a:rPr>
              <a:t>可组合约束矩阵</a:t>
            </a:r>
            <a:endParaRPr sz="1350" b="1">
              <a:solidFill>
                <a:srgbClr val="65CDE5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71550" y="4591050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79775"/>
                </a:solidFill>
              </a:defRPr>
            </a:pPr>
            <a:r>
              <a:rPr sz="1050" b="1">
                <a:solidFill>
                  <a:srgbClr val="579775"/>
                </a:solidFill>
              </a:rPr>
              <a:t>永远开启</a:t>
            </a:r>
            <a:endParaRPr sz="1050" b="1">
              <a:solidFill>
                <a:srgbClr val="579775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114550" y="4591050"/>
            <a:ext cx="485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L0 11条｜语言规范 · 公式格式 · 反AI腔 · 安全伦理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71550" y="4867275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49A42"/>
                </a:solidFill>
              </a:defRPr>
            </a:pPr>
            <a:r>
              <a:rPr sz="1050" b="1">
                <a:solidFill>
                  <a:srgbClr val="D49A42"/>
                </a:solidFill>
              </a:rPr>
              <a:t>A 直接性</a:t>
            </a:r>
            <a:endParaRPr sz="1050" b="1">
              <a:solidFill>
                <a:srgbClr val="D49A42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114550" y="4867275"/>
            <a:ext cx="485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8条｜用户显式要答案/公式时关闭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71550" y="5143500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9829C"/>
                </a:solidFill>
              </a:defRPr>
            </a:pPr>
            <a:r>
              <a:rPr sz="1050" b="1">
                <a:solidFill>
                  <a:srgbClr val="D9829C"/>
                </a:solidFill>
              </a:rPr>
              <a:t>B 情绪</a:t>
            </a:r>
            <a:endParaRPr sz="1050" b="1">
              <a:solidFill>
                <a:srgbClr val="D9829C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114550" y="5143500"/>
            <a:ext cx="485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9条｜情绪波动时释放模板空间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71550" y="5419725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746BE8"/>
                </a:solidFill>
              </a:defRPr>
            </a:pPr>
            <a:r>
              <a:rPr sz="1050" b="1">
                <a:solidFill>
                  <a:srgbClr val="746BE8"/>
                </a:solidFill>
              </a:rPr>
              <a:t>C 深度</a:t>
            </a:r>
            <a:endParaRPr sz="1050" b="1">
              <a:solidFill>
                <a:srgbClr val="746BE8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2114550" y="5419725"/>
            <a:ext cx="485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6条｜需要深入时保留分层与追问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7448550" y="4076700"/>
            <a:ext cx="3962400" cy="1762125"/>
          </a:xfrm>
          <a:prstGeom prst="roundRect">
            <a:avLst>
              <a:gd name="adj" fmla="val 4324"/>
            </a:avLst>
          </a:prstGeom>
          <a:solidFill>
            <a:srgbClr val="123653"/>
          </a:solidFill>
          <a:ln w="9525">
            <a:solidFill>
              <a:srgbClr val="57977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639050" y="4219575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579775"/>
                </a:solidFill>
              </a:defRPr>
            </a:pPr>
            <a:r>
              <a:rPr sz="1350" b="1">
                <a:solidFill>
                  <a:srgbClr val="579775"/>
                </a:solidFill>
              </a:rPr>
              <a:t>语言规范：三层质量收口</a:t>
            </a:r>
            <a:endParaRPr sz="1350" b="1">
              <a:solidFill>
                <a:srgbClr val="579775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39050" y="46958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L1 生成时约束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048750" y="4695825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句法骨架｜禁用句式｜示例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639050" y="50673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L2 机械检测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048750" y="5067300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AI腔30+模式｜语法/动宾/省略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639050" y="54387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L3 最小修正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9048750" y="5438775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只改问题句；最多2轮并复检</a:t>
            </a:r>
            <a:endParaRPr sz="975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矩形 53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核心技术：</a:t>
            </a:r>
            <a:r>
              <a:rPr sz="2250" b="1">
                <a:solidFill>
                  <a:srgbClr val="152033"/>
                </a:solidFill>
              </a:rPr>
              <a:t>一个可接入、可扩展、可恢复的 Agent 工具底座</a:t>
            </a:r>
            <a:r>
              <a:rPr sz="2250" b="1">
                <a:solidFill>
                  <a:srgbClr val="152033"/>
                </a:solidFill>
              </a:rPr>
              <a:t>和</a:t>
            </a:r>
            <a:r>
              <a:rPr sz="2250" b="1">
                <a:solidFill>
                  <a:srgbClr val="152033"/>
                </a:solidFill>
              </a:rPr>
              <a:t>接口能力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tool_registry 将内置工具、Skills 与 MCP 统一为大模型可自主调用的 Function Calling 接口。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07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3857625" y="2352675"/>
            <a:ext cx="619125" cy="0"/>
          </a:xfrm>
          <a:prstGeom prst="line">
            <a:avLst/>
          </a:prstGeom>
          <a:noFill/>
          <a:ln w="19050">
            <a:solidFill>
              <a:srgbClr val="17243A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715250" y="2352675"/>
            <a:ext cx="619125" cy="0"/>
          </a:xfrm>
          <a:prstGeom prst="line">
            <a:avLst/>
          </a:prstGeom>
          <a:noFill/>
          <a:ln w="19050">
            <a:solidFill>
              <a:srgbClr val="17243A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096000" y="3028950"/>
            <a:ext cx="0" cy="419100"/>
          </a:xfrm>
          <a:prstGeom prst="line">
            <a:avLst/>
          </a:prstGeom>
          <a:noFill/>
          <a:ln w="19050">
            <a:solidFill>
              <a:srgbClr val="17243A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096000" y="4467225"/>
            <a:ext cx="0" cy="371475"/>
          </a:xfrm>
          <a:prstGeom prst="line">
            <a:avLst/>
          </a:prstGeom>
          <a:noFill/>
          <a:ln w="19050">
            <a:solidFill>
              <a:srgbClr val="17243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81050" y="1571625"/>
            <a:ext cx="3076575" cy="1562100"/>
          </a:xfrm>
          <a:prstGeom prst="roundRect">
            <a:avLst>
              <a:gd name="adj" fmla="val 4878"/>
            </a:avLst>
          </a:prstGeom>
          <a:solidFill>
            <a:srgbClr val="ECE8E0"/>
          </a:solidFill>
          <a:ln w="11430">
            <a:solidFill>
              <a:srgbClr val="1724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1714500"/>
            <a:ext cx="2619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243A"/>
                </a:solidFill>
              </a:defRPr>
            </a:pPr>
            <a:r>
              <a:rPr sz="1425" b="1">
                <a:solidFill>
                  <a:srgbClr val="17243A"/>
                </a:solidFill>
              </a:rPr>
              <a:t>双向 MCP 接口</a:t>
            </a:r>
            <a:endParaRPr sz="1425" b="1">
              <a:solidFill>
                <a:srgbClr val="17243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1145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7243A"/>
                </a:solidFill>
              </a:defRPr>
            </a:pPr>
            <a:r>
              <a:rPr sz="1050" b="1">
                <a:solidFill>
                  <a:srgbClr val="17243A"/>
                </a:solidFill>
              </a:rPr>
              <a:t>对外：MCP Server</a:t>
            </a:r>
            <a:endParaRPr sz="1050" b="1">
              <a:solidFill>
                <a:srgbClr val="17243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24100" y="2038350"/>
            <a:ext cx="1409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mcp_gateway.py</a:t>
            </a:r>
            <a:endParaRPr sz="900" b="0">
              <a:solidFill>
                <a:srgbClr val="152033"/>
              </a:solidFill>
            </a:endParaRPr>
          </a:p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暴露教育工具；外部Agent可复用</a:t>
            </a:r>
            <a:endParaRPr sz="900" b="0">
              <a:solidFill>
                <a:srgbClr val="15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5622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7243A"/>
                </a:solidFill>
              </a:defRPr>
            </a:pPr>
            <a:r>
              <a:rPr sz="1050" b="1">
                <a:solidFill>
                  <a:srgbClr val="17243A"/>
                </a:solidFill>
              </a:rPr>
              <a:t>对内：MCP Client</a:t>
            </a:r>
            <a:endParaRPr sz="1050" b="1">
              <a:solidFill>
                <a:srgbClr val="17243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82190" y="2486025"/>
            <a:ext cx="161417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mcp_client.py 接标准Server；</a:t>
            </a:r>
            <a:endParaRPr sz="900" b="0">
              <a:solidFill>
                <a:srgbClr val="152033"/>
              </a:solidFill>
            </a:endParaRPr>
          </a:p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mcp_servers.json 声明式启停</a:t>
            </a:r>
            <a:endParaRPr sz="900" b="0">
              <a:solidFill>
                <a:srgbClr val="15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2924175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7243A"/>
                </a:solidFill>
              </a:defRPr>
            </a:pPr>
            <a:r>
              <a:rPr sz="900" b="1">
                <a:solidFill>
                  <a:srgbClr val="17243A"/>
                </a:solidFill>
              </a:rPr>
              <a:t>统一命名</a:t>
            </a:r>
            <a:endParaRPr sz="900" b="1">
              <a:solidFill>
                <a:srgbClr val="17243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85950" y="29146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mcp__server__tool</a:t>
            </a:r>
            <a:endParaRPr sz="900" b="0">
              <a:solidFill>
                <a:srgbClr val="15203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476750" y="1571625"/>
            <a:ext cx="3238500" cy="1562100"/>
          </a:xfrm>
          <a:prstGeom prst="roundRect">
            <a:avLst>
              <a:gd name="adj" fmla="val 4878"/>
            </a:avLst>
          </a:prstGeom>
          <a:solidFill>
            <a:srgbClr val="17243A"/>
          </a:solidFill>
          <a:ln w="12383">
            <a:solidFill>
              <a:srgbClr val="65CDE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67250" y="17240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统一工具运行时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67250" y="2105025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65CDE5"/>
                </a:solidFill>
              </a:defRPr>
            </a:pPr>
            <a:r>
              <a:rPr sz="975" b="1">
                <a:solidFill>
                  <a:srgbClr val="65CDE5"/>
                </a:solidFill>
              </a:rPr>
              <a:t>tool_registry.get_all_tool_defs()</a:t>
            </a:r>
            <a:endParaRPr sz="975" b="1">
              <a:solidFill>
                <a:srgbClr val="65CDE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67250" y="24384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Plan → Act → Observe → Reflect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67250" y="27622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0">
                <a:solidFill>
                  <a:srgbClr val="C6D7E5"/>
                </a:solidFill>
              </a:defRPr>
            </a:pPr>
            <a:r>
              <a:rPr sz="900" b="0">
                <a:solidFill>
                  <a:srgbClr val="C6D7E5"/>
                </a:solidFill>
              </a:rPr>
              <a:t>execute_tool()｜统一执行与结果回传</a:t>
            </a:r>
            <a:endParaRPr sz="900" b="0">
              <a:solidFill>
                <a:srgbClr val="C6D7E5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334375" y="1571625"/>
            <a:ext cx="3076575" cy="1562100"/>
          </a:xfrm>
          <a:prstGeom prst="roundRect">
            <a:avLst>
              <a:gd name="adj" fmla="val 4878"/>
            </a:avLst>
          </a:prstGeom>
          <a:solidFill>
            <a:srgbClr val="ECE8E0"/>
          </a:solidFill>
          <a:ln w="11430">
            <a:solidFill>
              <a:srgbClr val="9A527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43925" y="1714500"/>
            <a:ext cx="26384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8C315E"/>
                </a:solidFill>
              </a:defRPr>
            </a:pPr>
            <a:r>
              <a:rPr sz="1425" b="1">
                <a:solidFill>
                  <a:srgbClr val="8C315E"/>
                </a:solidFill>
              </a:rPr>
              <a:t>接口与模块可扩展性</a:t>
            </a:r>
            <a:endParaRPr sz="1425" b="1">
              <a:solidFill>
                <a:srgbClr val="8C315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43925" y="2114550"/>
            <a:ext cx="857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8C315E"/>
                </a:solidFill>
              </a:defRPr>
            </a:pPr>
            <a:r>
              <a:rPr sz="1050" b="1">
                <a:solidFill>
                  <a:srgbClr val="8C315E"/>
                </a:solidFill>
              </a:rPr>
              <a:t>模块门控</a:t>
            </a:r>
            <a:endParaRPr sz="1050" b="1">
              <a:solidFill>
                <a:srgbClr val="8C315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429750" y="2076450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27端点 × 9模块；配置可独立上下线</a:t>
            </a:r>
            <a:endParaRPr sz="900" b="0">
              <a:solidFill>
                <a:srgbClr val="15203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43925" y="2533650"/>
            <a:ext cx="857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8C315E"/>
                </a:solidFill>
              </a:defRPr>
            </a:pPr>
            <a:r>
              <a:rPr sz="1050" b="1">
                <a:solidFill>
                  <a:srgbClr val="8C315E"/>
                </a:solidFill>
              </a:rPr>
              <a:t>知识扩展</a:t>
            </a:r>
            <a:endParaRPr sz="1050" b="1">
              <a:solidFill>
                <a:srgbClr val="8C315E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429750" y="2514600"/>
            <a:ext cx="1762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subjects/*.json + facts/*.md</a:t>
            </a:r>
            <a:endParaRPr sz="900" b="0">
              <a:solidFill>
                <a:srgbClr val="15203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543925" y="2895600"/>
            <a:ext cx="857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8C315E"/>
                </a:solidFill>
              </a:defRPr>
            </a:pPr>
            <a:r>
              <a:rPr sz="1050" b="1">
                <a:solidFill>
                  <a:srgbClr val="8C315E"/>
                </a:solidFill>
              </a:rPr>
              <a:t>模式扩展</a:t>
            </a:r>
            <a:endParaRPr sz="1050" b="1">
              <a:solidFill>
                <a:srgbClr val="8C31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429750" y="2886075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152033"/>
                </a:solidFill>
              </a:defRPr>
            </a:pPr>
            <a:r>
              <a:rPr sz="900" b="0">
                <a:solidFill>
                  <a:srgbClr val="152033"/>
                </a:solidFill>
              </a:rPr>
              <a:t>6模式共享底层能力</a:t>
            </a:r>
            <a:endParaRPr sz="900" b="0">
              <a:solidFill>
                <a:srgbClr val="152033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81050" y="3448050"/>
            <a:ext cx="10629900" cy="1096010"/>
          </a:xfrm>
          <a:prstGeom prst="roundRect">
            <a:avLst>
              <a:gd name="adj" fmla="val 7547"/>
            </a:avLst>
          </a:prstGeom>
          <a:solidFill>
            <a:srgbClr val="17243A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90600" y="3571875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65CDE5"/>
                </a:solidFill>
              </a:defRPr>
            </a:pPr>
            <a:r>
              <a:rPr sz="1350" b="1">
                <a:solidFill>
                  <a:srgbClr val="65CDE5"/>
                </a:solidFill>
              </a:rPr>
              <a:t>当前工具包</a:t>
            </a:r>
            <a:endParaRPr sz="1350" b="1">
              <a:solidFill>
                <a:srgbClr val="65CDE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90600" y="39243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内置教育/事实工具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552700" y="38957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web_search｜verify_math｜fetch_page｜daily_quote｜get_time｜solve_problem｜save_document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0600" y="4210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外部与产出能力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552700" y="418147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filesystem MCP｜memory MCP｜pptx MCP｜知识库检索｜练习/讲解文件生成与下载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81050" y="4838700"/>
            <a:ext cx="7334250" cy="1000125"/>
          </a:xfrm>
          <a:prstGeom prst="roundRect">
            <a:avLst>
              <a:gd name="adj" fmla="val 7619"/>
            </a:avLst>
          </a:prstGeom>
          <a:solidFill>
            <a:srgbClr val="ECE8E0"/>
          </a:solidFill>
          <a:ln w="9525">
            <a:solidFill>
              <a:srgbClr val="388B7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90600" y="4953000"/>
            <a:ext cx="685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87060"/>
                </a:solidFill>
              </a:defRPr>
            </a:pPr>
            <a:r>
              <a:rPr sz="1275" b="1">
                <a:solidFill>
                  <a:srgbClr val="087060"/>
                </a:solidFill>
              </a:rPr>
              <a:t>可靠性不是补丁，而是工具运行时的一部分</a:t>
            </a:r>
            <a:endParaRPr sz="1275" b="1">
              <a:solidFill>
                <a:srgbClr val="087060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5305425"/>
            <a:ext cx="1285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87060"/>
                </a:solidFill>
              </a:defRPr>
            </a:pPr>
            <a:r>
              <a:rPr sz="975" b="1">
                <a:solidFill>
                  <a:srgbClr val="087060"/>
                </a:solidFill>
              </a:rPr>
              <a:t>缓存</a:t>
            </a:r>
            <a:endParaRPr sz="975" b="1">
              <a:solidFill>
                <a:srgbClr val="08706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52500" y="5514975"/>
            <a:ext cx="128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152033"/>
                </a:solidFill>
              </a:defRPr>
            </a:pPr>
            <a:r>
              <a:rPr sz="825" b="0">
                <a:solidFill>
                  <a:srgbClr val="152033"/>
                </a:solidFill>
              </a:rPr>
              <a:t>TTL分级 / 线程安全</a:t>
            </a:r>
            <a:endParaRPr sz="825" b="0">
              <a:solidFill>
                <a:srgbClr val="15203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343150" y="5305425"/>
            <a:ext cx="1285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87060"/>
                </a:solidFill>
              </a:defRPr>
            </a:pPr>
            <a:r>
              <a:rPr sz="975" b="1">
                <a:solidFill>
                  <a:srgbClr val="087060"/>
                </a:solidFill>
              </a:rPr>
              <a:t>恢复</a:t>
            </a:r>
            <a:endParaRPr sz="975" b="1">
              <a:solidFill>
                <a:srgbClr val="08706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343150" y="5514975"/>
            <a:ext cx="128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152033"/>
                </a:solidFill>
              </a:defRPr>
            </a:pPr>
            <a:r>
              <a:rPr sz="825" b="0">
                <a:solidFill>
                  <a:srgbClr val="152033"/>
                </a:solidFill>
              </a:rPr>
              <a:t>瞬时·永久·限流·配额分类</a:t>
            </a:r>
            <a:endParaRPr sz="825" b="0">
              <a:solidFill>
                <a:srgbClr val="152033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733800" y="5305425"/>
            <a:ext cx="1285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87060"/>
                </a:solidFill>
              </a:defRPr>
            </a:pPr>
            <a:r>
              <a:rPr sz="975" b="1">
                <a:solidFill>
                  <a:srgbClr val="087060"/>
                </a:solidFill>
              </a:rPr>
              <a:t>重试</a:t>
            </a:r>
            <a:endParaRPr sz="975" b="1">
              <a:solidFill>
                <a:srgbClr val="08706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733800" y="5514975"/>
            <a:ext cx="128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152033"/>
                </a:solidFill>
              </a:defRPr>
            </a:pPr>
            <a:r>
              <a:rPr sz="825" b="0">
                <a:solidFill>
                  <a:srgbClr val="152033"/>
                </a:solidFill>
              </a:rPr>
              <a:t>指数退避 / 次数上限</a:t>
            </a:r>
            <a:endParaRPr sz="825" b="0">
              <a:solidFill>
                <a:srgbClr val="152033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124450" y="5305425"/>
            <a:ext cx="1285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87060"/>
                </a:solidFill>
              </a:defRPr>
            </a:pPr>
            <a:r>
              <a:rPr sz="975" b="1">
                <a:solidFill>
                  <a:srgbClr val="087060"/>
                </a:solidFill>
              </a:rPr>
              <a:t>降级</a:t>
            </a:r>
            <a:endParaRPr sz="975" b="1">
              <a:solidFill>
                <a:srgbClr val="08706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124450" y="5514975"/>
            <a:ext cx="128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152033"/>
                </a:solidFill>
              </a:defRPr>
            </a:pPr>
            <a:r>
              <a:rPr sz="825" b="0">
                <a:solidFill>
                  <a:srgbClr val="152033"/>
                </a:solidFill>
              </a:rPr>
              <a:t>工具不可用时基于已有知识回答</a:t>
            </a:r>
            <a:endParaRPr sz="825" b="0">
              <a:solidFill>
                <a:srgbClr val="152033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515100" y="5305425"/>
            <a:ext cx="12858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87060"/>
                </a:solidFill>
              </a:defRPr>
            </a:pPr>
            <a:r>
              <a:rPr sz="975" b="1">
                <a:solidFill>
                  <a:srgbClr val="087060"/>
                </a:solidFill>
              </a:rPr>
              <a:t>可观测</a:t>
            </a:r>
            <a:endParaRPr sz="975" b="1">
              <a:solidFill>
                <a:srgbClr val="087060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515100" y="5514975"/>
            <a:ext cx="128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152033"/>
                </a:solidFill>
              </a:defRPr>
            </a:pPr>
            <a:r>
              <a:rPr sz="825" b="0">
                <a:solidFill>
                  <a:srgbClr val="152033"/>
                </a:solidFill>
              </a:rPr>
              <a:t>calls_log回传真实调用轨迹</a:t>
            </a:r>
            <a:endParaRPr sz="825" b="0">
              <a:solidFill>
                <a:srgbClr val="152033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334375" y="4838700"/>
            <a:ext cx="3076575" cy="1000125"/>
          </a:xfrm>
          <a:prstGeom prst="roundRect">
            <a:avLst>
              <a:gd name="adj" fmla="val 7619"/>
            </a:avLst>
          </a:prstGeom>
          <a:solidFill>
            <a:srgbClr val="FFF4E1"/>
          </a:solidFill>
          <a:ln w="9525">
            <a:solidFill>
              <a:srgbClr val="D49A42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543925" y="4953000"/>
            <a:ext cx="2638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8C5A00"/>
                </a:solidFill>
              </a:defRPr>
            </a:pPr>
            <a:r>
              <a:rPr sz="1275" b="1">
                <a:solidFill>
                  <a:srgbClr val="8C5A00"/>
                </a:solidFill>
              </a:rPr>
              <a:t>文档记录的接口规模</a:t>
            </a:r>
            <a:endParaRPr sz="1275" b="1">
              <a:solidFill>
                <a:srgbClr val="8C5A00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424545" y="5304790"/>
            <a:ext cx="1499870" cy="24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7个教育工具对外暴露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954260" y="5300980"/>
            <a:ext cx="157099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23个外部MCP工具接入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43925" y="5600700"/>
            <a:ext cx="26384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工具定义合并后由LLM自主选择与调用</a:t>
            </a:r>
            <a:endParaRPr sz="900" b="0">
              <a:solidFill>
                <a:srgbClr val="66708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设计理念已经进入可运行产品：前端、后端与完整链路均经验证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测试不是为了堆数字，而是确认“持续理解、动态决策、记忆写回”能够在真实界面中连续运行。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08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714750" y="2981325"/>
            <a:ext cx="523875" cy="0"/>
          </a:xfrm>
          <a:prstGeom prst="line">
            <a:avLst/>
          </a:prstGeom>
          <a:noFill/>
          <a:ln w="19050">
            <a:solidFill>
              <a:srgbClr val="9A91A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57625" y="280035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243A"/>
                </a:solidFill>
              </a:defRPr>
            </a:pPr>
            <a:r>
              <a:rPr sz="1950" b="1">
                <a:solidFill>
                  <a:srgbClr val="17243A"/>
                </a:solidFill>
              </a:rPr>
              <a:t>›</a:t>
            </a:r>
            <a:endParaRPr sz="1950" b="1">
              <a:solidFill>
                <a:srgbClr val="17243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953375" y="2981325"/>
            <a:ext cx="523875" cy="0"/>
          </a:xfrm>
          <a:prstGeom prst="line">
            <a:avLst/>
          </a:prstGeom>
          <a:noFill/>
          <a:ln w="19050">
            <a:solidFill>
              <a:srgbClr val="9A91A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96250" y="280035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243A"/>
                </a:solidFill>
              </a:defRPr>
            </a:pPr>
            <a:r>
              <a:rPr sz="1950" b="1">
                <a:solidFill>
                  <a:srgbClr val="17243A"/>
                </a:solidFill>
              </a:rPr>
              <a:t>›</a:t>
            </a:r>
            <a:endParaRPr sz="1950" b="1">
              <a:solidFill>
                <a:srgbClr val="17243A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81150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4288">
            <a:solidFill>
              <a:srgbClr val="746B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3143250" cy="76200"/>
          </a:xfrm>
          <a:prstGeom prst="rect">
            <a:avLst/>
          </a:prstGeom>
          <a:solidFill>
            <a:srgbClr val="746BE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1809750"/>
            <a:ext cx="2686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746BE8"/>
                </a:solidFill>
              </a:defRPr>
            </a:pPr>
            <a:r>
              <a:rPr sz="1350" b="1">
                <a:solidFill>
                  <a:srgbClr val="746BE8"/>
                </a:solidFill>
              </a:rPr>
              <a:t>01 前端验证</a:t>
            </a:r>
            <a:endParaRPr sz="1350" b="1">
              <a:solidFill>
                <a:srgbClr val="746BE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00275"/>
            <a:ext cx="2686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用户真的能够看见并操作</a:t>
            </a:r>
            <a:endParaRPr sz="1275" b="1">
              <a:solidFill>
                <a:srgbClr val="152033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00100" y="2609850"/>
            <a:ext cx="2686050" cy="0"/>
          </a:xfrm>
          <a:prstGeom prst="line">
            <a:avLst/>
          </a:prstGeom>
          <a:noFill/>
          <a:ln w="9525">
            <a:solidFill>
              <a:srgbClr val="D9D2C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27813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Playwright 真实浏览器 E2E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32194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UI 渲染 / 交互 / 模式切换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0100" y="3667125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流式输出 / 停止 / 状态更新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238625" y="1581150"/>
            <a:ext cx="37147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4288">
            <a:solidFill>
              <a:srgbClr val="D9829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38625" y="1581150"/>
            <a:ext cx="3714750" cy="76200"/>
          </a:xfrm>
          <a:prstGeom prst="rect">
            <a:avLst/>
          </a:prstGeom>
          <a:solidFill>
            <a:srgbClr val="D9829C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67225" y="1809750"/>
            <a:ext cx="3257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D9829C"/>
                </a:solidFill>
              </a:defRPr>
            </a:pPr>
            <a:r>
              <a:rPr sz="1350" b="1">
                <a:solidFill>
                  <a:srgbClr val="D9829C"/>
                </a:solidFill>
              </a:rPr>
              <a:t>02 后端验证</a:t>
            </a:r>
            <a:endParaRPr sz="1350" b="1">
              <a:solidFill>
                <a:srgbClr val="D9829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67225" y="2200275"/>
            <a:ext cx="3257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系统真的按照设计运行</a:t>
            </a:r>
            <a:endParaRPr sz="1275" b="1">
              <a:solidFill>
                <a:srgbClr val="152033"/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467225" y="2609850"/>
            <a:ext cx="3257550" cy="0"/>
          </a:xfrm>
          <a:prstGeom prst="line">
            <a:avLst/>
          </a:prstGeom>
          <a:noFill/>
          <a:ln w="9525">
            <a:solidFill>
              <a:srgbClr val="D9D2C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2781300"/>
            <a:ext cx="3257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40 / 40  自检项通过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67225" y="3219450"/>
            <a:ext cx="3257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13 项契约 + 71 项组合矩阵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67225" y="3667125"/>
            <a:ext cx="325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教学流属性与回归测试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477250" y="1581150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4288">
            <a:solidFill>
              <a:srgbClr val="57977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477250" y="1581150"/>
            <a:ext cx="3143250" cy="76200"/>
          </a:xfrm>
          <a:prstGeom prst="rect">
            <a:avLst/>
          </a:prstGeom>
          <a:solidFill>
            <a:srgbClr val="579775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705850" y="1809750"/>
            <a:ext cx="2686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579775"/>
                </a:solidFill>
              </a:defRPr>
            </a:pPr>
            <a:r>
              <a:rPr sz="1350" b="1">
                <a:solidFill>
                  <a:srgbClr val="579775"/>
                </a:solidFill>
              </a:rPr>
              <a:t>03 联通验证</a:t>
            </a:r>
            <a:endParaRPr sz="1350" b="1">
              <a:solidFill>
                <a:srgbClr val="57977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05850" y="2200275"/>
            <a:ext cx="2686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状态真的跨层流转并写回</a:t>
            </a:r>
            <a:endParaRPr sz="1275" b="1">
              <a:solidFill>
                <a:srgbClr val="152033"/>
              </a:solidFill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705850" y="2609850"/>
            <a:ext cx="2686050" cy="0"/>
          </a:xfrm>
          <a:prstGeom prst="line">
            <a:avLst/>
          </a:prstGeom>
          <a:noFill/>
          <a:ln w="9525">
            <a:solidFill>
              <a:srgbClr val="D9D2C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705850" y="27813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42 / 42  前后端端点矩阵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05850" y="32194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20 项连接验证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705850" y="3667125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204 轮多模式运行 · 0 错误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71500" y="4857750"/>
            <a:ext cx="11049000" cy="1114425"/>
          </a:xfrm>
          <a:prstGeom prst="roundRect">
            <a:avLst>
              <a:gd name="adj" fmla="val 6838"/>
            </a:avLst>
          </a:prstGeom>
          <a:solidFill>
            <a:srgbClr val="17243A"/>
          </a:solidFill>
          <a:ln w="11430">
            <a:solidFill>
              <a:srgbClr val="65CD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8200" y="50292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65CDE5"/>
                </a:solidFill>
              </a:defRPr>
            </a:pPr>
            <a:r>
              <a:rPr sz="1350" b="1">
                <a:solidFill>
                  <a:srgbClr val="65CDE5"/>
                </a:solidFill>
              </a:rPr>
              <a:t>工程验证的结论</a:t>
            </a:r>
            <a:endParaRPr sz="1350" b="1">
              <a:solidFill>
                <a:srgbClr val="65CDE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905125" y="495300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产品已初步具备实现设计理念的运行基础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38200" y="5467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746BE8"/>
                </a:solidFill>
              </a:defRPr>
            </a:pPr>
            <a:r>
              <a:rPr sz="1050" b="1">
                <a:solidFill>
                  <a:srgbClr val="746BE8"/>
                </a:solidFill>
              </a:rPr>
              <a:t>持续理解</a:t>
            </a:r>
            <a:endParaRPr sz="1050" b="1">
              <a:solidFill>
                <a:srgbClr val="746BE8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809750" y="54102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CFD8E4"/>
                </a:solidFill>
              </a:defRPr>
            </a:pPr>
            <a:r>
              <a:rPr sz="975" b="0">
                <a:solidFill>
                  <a:srgbClr val="CFD8E4"/>
                </a:solidFill>
              </a:rPr>
              <a:t>画像与会话状态能够保存并进入下一轮</a:t>
            </a:r>
            <a:endParaRPr sz="975" b="0">
              <a:solidFill>
                <a:srgbClr val="CFD8E4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314825" y="5467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49A42"/>
                </a:solidFill>
              </a:defRPr>
            </a:pPr>
            <a:r>
              <a:rPr sz="1050" b="1">
                <a:solidFill>
                  <a:srgbClr val="D49A42"/>
                </a:solidFill>
              </a:rPr>
              <a:t>动态教学</a:t>
            </a:r>
            <a:endParaRPr sz="1050" b="1">
              <a:solidFill>
                <a:srgbClr val="D49A42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286375" y="54102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CFD8E4"/>
                </a:solidFill>
              </a:defRPr>
            </a:pPr>
            <a:r>
              <a:rPr sz="975" b="0">
                <a:solidFill>
                  <a:srgbClr val="CFD8E4"/>
                </a:solidFill>
              </a:rPr>
              <a:t>用户状态能够改变模式、约束与教学动作</a:t>
            </a:r>
            <a:endParaRPr sz="975" b="0">
              <a:solidFill>
                <a:srgbClr val="CFD8E4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791450" y="5467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79775"/>
                </a:solidFill>
              </a:defRPr>
            </a:pPr>
            <a:r>
              <a:rPr sz="1050" b="1">
                <a:solidFill>
                  <a:srgbClr val="579775"/>
                </a:solidFill>
              </a:rPr>
              <a:t>闭环更新</a:t>
            </a:r>
            <a:endParaRPr sz="1050" b="1">
              <a:solidFill>
                <a:srgbClr val="57977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63000" y="54102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CFD8E4"/>
                </a:solidFill>
              </a:defRPr>
            </a:pPr>
            <a:r>
              <a:rPr sz="975" b="0">
                <a:solidFill>
                  <a:srgbClr val="CFD8E4"/>
                </a:solidFill>
              </a:rPr>
              <a:t>前端反馈能够穿过后端并写回学习者状态</a:t>
            </a:r>
            <a:endParaRPr sz="975" b="0">
              <a:solidFill>
                <a:srgbClr val="CFD8E4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067425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证据边界：证明“系统能够按设计运行”，课堂效果仍需教师共创与真实用户试点验证。</a:t>
            </a:r>
            <a:endParaRPr sz="900" b="0">
              <a:solidFill>
                <a:srgbClr val="6670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接下来，不再解释系统有什么——看它如何接住三种容易被忽略的需要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BAC4D2"/>
                </a:solidFill>
              </a:defRPr>
            </a:pPr>
            <a:r>
              <a:rPr sz="1200" b="0">
                <a:solidFill>
                  <a:srgbClr val="BAC4D2"/>
                </a:solidFill>
              </a:rPr>
              <a:t>三个演示界面集中兑现前面的技术主张。</a:t>
            </a:r>
            <a:endParaRPr sz="1200" b="0">
              <a:solidFill>
                <a:srgbClr val="BAC4D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47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8896AA"/>
                </a:solidFill>
              </a:defRPr>
            </a:pPr>
            <a:r>
              <a:rPr sz="675" b="0">
                <a:solidFill>
                  <a:srgbClr val="8896AA"/>
                </a:solidFill>
              </a:rPr>
              <a:t>爱弥儿 · 持续理解人 · 共同进化</a:t>
            </a:r>
            <a:endParaRPr sz="675" b="0">
              <a:solidFill>
                <a:srgbClr val="8896A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8896AA"/>
                </a:solidFill>
              </a:defRPr>
            </a:pPr>
            <a:r>
              <a:rPr sz="675" b="0">
                <a:solidFill>
                  <a:srgbClr val="8896AA"/>
                </a:solidFill>
              </a:rPr>
              <a:t>09 / 16</a:t>
            </a:r>
            <a:endParaRPr sz="675" b="0">
              <a:solidFill>
                <a:srgbClr val="8896A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1809750"/>
            <a:ext cx="3238500" cy="3333750"/>
          </a:xfrm>
          <a:prstGeom prst="roundRect">
            <a:avLst>
              <a:gd name="adj" fmla="val 2353"/>
            </a:avLst>
          </a:prstGeom>
          <a:solidFill>
            <a:srgbClr val="22314B"/>
          </a:solidFill>
          <a:ln w="14288">
            <a:solidFill>
              <a:srgbClr val="746B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047875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746BE8"/>
                </a:solidFill>
              </a:defRPr>
            </a:pPr>
            <a:r>
              <a:rPr sz="1500" b="1">
                <a:solidFill>
                  <a:srgbClr val="746BE8"/>
                </a:solidFill>
              </a:rPr>
              <a:t>01 教学</a:t>
            </a:r>
            <a:endParaRPr sz="1500" b="1">
              <a:solidFill>
                <a:srgbClr val="746B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4875" y="26098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DD5E0"/>
                </a:solidFill>
              </a:defRPr>
            </a:pPr>
            <a:r>
              <a:rPr sz="1125" b="0">
                <a:solidFill>
                  <a:srgbClr val="CDD5E0"/>
                </a:solidFill>
              </a:rPr>
              <a:t>当教师无法一直等待时</a:t>
            </a:r>
            <a:endParaRPr sz="1125" b="0">
              <a:solidFill>
                <a:srgbClr val="CDD5E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4875" y="3038475"/>
            <a:ext cx="276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学生的作答怎样改变下一步？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904875" y="3914775"/>
            <a:ext cx="2762250" cy="0"/>
          </a:xfrm>
          <a:prstGeom prst="line">
            <a:avLst/>
          </a:prstGeom>
          <a:noFill/>
          <a:ln w="9525">
            <a:solidFill>
              <a:srgbClr val="51607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" y="40957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746BE8"/>
                </a:solidFill>
              </a:defRPr>
            </a:pPr>
            <a:r>
              <a:rPr sz="1125" b="1">
                <a:solidFill>
                  <a:srgbClr val="746BE8"/>
                </a:solidFill>
              </a:rPr>
              <a:t>误区识别 → 换法再教</a:t>
            </a:r>
            <a:endParaRPr sz="1125" b="1">
              <a:solidFill>
                <a:srgbClr val="746BE8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286250" y="1809750"/>
            <a:ext cx="3238500" cy="3333750"/>
          </a:xfrm>
          <a:prstGeom prst="roundRect">
            <a:avLst>
              <a:gd name="adj" fmla="val 2353"/>
            </a:avLst>
          </a:prstGeom>
          <a:solidFill>
            <a:srgbClr val="22314B"/>
          </a:solidFill>
          <a:ln w="14288">
            <a:solidFill>
              <a:srgbClr val="D9829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24375" y="2047875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9829C"/>
                </a:solidFill>
              </a:defRPr>
            </a:pPr>
            <a:r>
              <a:rPr sz="1500" b="1">
                <a:solidFill>
                  <a:srgbClr val="D9829C"/>
                </a:solidFill>
              </a:rPr>
              <a:t>02 倾诉</a:t>
            </a:r>
            <a:endParaRPr sz="1500" b="1">
              <a:solidFill>
                <a:srgbClr val="D9829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24375" y="26098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DD5E0"/>
                </a:solidFill>
              </a:defRPr>
            </a:pPr>
            <a:r>
              <a:rPr sz="1125" b="0">
                <a:solidFill>
                  <a:srgbClr val="CDD5E0"/>
                </a:solidFill>
              </a:rPr>
              <a:t>当孩子需要先被听见时</a:t>
            </a:r>
            <a:endParaRPr sz="1125" b="0">
              <a:solidFill>
                <a:srgbClr val="CDD5E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24375" y="3038475"/>
            <a:ext cx="276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系统怎样主动暂停讲题？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4524375" y="3914775"/>
            <a:ext cx="2762250" cy="0"/>
          </a:xfrm>
          <a:prstGeom prst="line">
            <a:avLst/>
          </a:prstGeom>
          <a:noFill/>
          <a:ln w="9525">
            <a:solidFill>
              <a:srgbClr val="51607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24375" y="40957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D9829C"/>
                </a:solidFill>
              </a:defRPr>
            </a:pPr>
            <a:r>
              <a:rPr sz="1125" b="1">
                <a:solidFill>
                  <a:srgbClr val="D9829C"/>
                </a:solidFill>
              </a:rPr>
              <a:t>意图识别 → 承接与边界</a:t>
            </a:r>
            <a:endParaRPr sz="1125" b="1">
              <a:solidFill>
                <a:srgbClr val="D9829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905750" y="1809750"/>
            <a:ext cx="3238500" cy="3333750"/>
          </a:xfrm>
          <a:prstGeom prst="roundRect">
            <a:avLst>
              <a:gd name="adj" fmla="val 2353"/>
            </a:avLst>
          </a:prstGeom>
          <a:solidFill>
            <a:srgbClr val="22314B"/>
          </a:solidFill>
          <a:ln w="14288">
            <a:solidFill>
              <a:srgbClr val="D49A4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43875" y="2047875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49A42"/>
                </a:solidFill>
              </a:defRPr>
            </a:pPr>
            <a:r>
              <a:rPr sz="1500" b="1">
                <a:solidFill>
                  <a:srgbClr val="D49A42"/>
                </a:solidFill>
              </a:rPr>
              <a:t>03 通识</a:t>
            </a:r>
            <a:endParaRPr sz="1500" b="1">
              <a:solidFill>
                <a:srgbClr val="D49A4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43875" y="26098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DD5E0"/>
                </a:solidFill>
              </a:defRPr>
            </a:pPr>
            <a:r>
              <a:rPr sz="1125" b="0">
                <a:solidFill>
                  <a:srgbClr val="CDD5E0"/>
                </a:solidFill>
              </a:rPr>
              <a:t>当探索空间容易被挤压时</a:t>
            </a:r>
            <a:endParaRPr sz="1125" b="0">
              <a:solidFill>
                <a:srgbClr val="CDD5E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43875" y="3038475"/>
            <a:ext cx="276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怎样支持观察、表达与判断？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143875" y="3914775"/>
            <a:ext cx="2762250" cy="0"/>
          </a:xfrm>
          <a:prstGeom prst="line">
            <a:avLst/>
          </a:prstGeom>
          <a:noFill/>
          <a:ln w="9525">
            <a:solidFill>
              <a:srgbClr val="51607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43875" y="40957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D49A42"/>
                </a:solidFill>
              </a:defRPr>
            </a:pPr>
            <a:r>
              <a:rPr sz="1125" b="1">
                <a:solidFill>
                  <a:srgbClr val="D49A42"/>
                </a:solidFill>
              </a:rPr>
              <a:t>兴趣进入 → 多角度思考</a:t>
            </a:r>
            <a:endParaRPr sz="1125" b="1">
              <a:solidFill>
                <a:srgbClr val="D49A4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762125" y="541020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746BE8"/>
                </a:solidFill>
              </a:defRPr>
            </a:pPr>
            <a:r>
              <a:rPr sz="2100" b="1">
                <a:solidFill>
                  <a:srgbClr val="746BE8"/>
                </a:solidFill>
              </a:rPr>
              <a:t>10</a:t>
            </a:r>
            <a:endParaRPr sz="2100" b="1">
              <a:solidFill>
                <a:srgbClr val="746BE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81625" y="541020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D9829C"/>
                </a:solidFill>
              </a:defRPr>
            </a:pPr>
            <a:r>
              <a:rPr sz="2100" b="1">
                <a:solidFill>
                  <a:srgbClr val="D9829C"/>
                </a:solidFill>
              </a:rPr>
              <a:t>11</a:t>
            </a:r>
            <a:endParaRPr sz="2100" b="1">
              <a:solidFill>
                <a:srgbClr val="D9829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001125" y="541020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D49A42"/>
                </a:solidFill>
              </a:defRPr>
            </a:pPr>
            <a:r>
              <a:rPr sz="2100" b="1">
                <a:solidFill>
                  <a:srgbClr val="D49A42"/>
                </a:solidFill>
              </a:rPr>
              <a:t>12</a:t>
            </a:r>
            <a:endParaRPr sz="2100" b="1">
              <a:solidFill>
                <a:srgbClr val="D49A4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76375" y="58293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9DA9BB"/>
                </a:solidFill>
              </a:defRPr>
            </a:pPr>
            <a:r>
              <a:rPr sz="975" b="0">
                <a:solidFill>
                  <a:srgbClr val="9DA9BB"/>
                </a:solidFill>
              </a:rPr>
              <a:t>产品界面</a:t>
            </a:r>
            <a:endParaRPr sz="975" b="0">
              <a:solidFill>
                <a:srgbClr val="9DA9BB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095875" y="58293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9DA9BB"/>
                </a:solidFill>
              </a:defRPr>
            </a:pPr>
            <a:r>
              <a:rPr sz="975" b="0">
                <a:solidFill>
                  <a:srgbClr val="9DA9BB"/>
                </a:solidFill>
              </a:rPr>
              <a:t>产品界面</a:t>
            </a:r>
            <a:endParaRPr sz="975" b="0">
              <a:solidFill>
                <a:srgbClr val="9DA9BB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15375" y="58293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9DA9BB"/>
                </a:solidFill>
              </a:defRPr>
            </a:pPr>
            <a:r>
              <a:rPr sz="975" b="0">
                <a:solidFill>
                  <a:srgbClr val="9DA9BB"/>
                </a:solidFill>
              </a:rPr>
              <a:t>产品界面</a:t>
            </a:r>
            <a:endParaRPr sz="975" b="0">
              <a:solidFill>
                <a:srgbClr val="9DA9B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教学Demo：15轮对话，把</a:t>
            </a:r>
            <a:r>
              <a:rPr sz="2250" b="1">
                <a:solidFill>
                  <a:srgbClr val="152033"/>
                </a:solidFill>
              </a:rPr>
              <a:t>“</a:t>
            </a:r>
            <a:r>
              <a:rPr sz="2250" b="1">
                <a:solidFill>
                  <a:srgbClr val="152033"/>
                </a:solidFill>
              </a:rPr>
              <a:t>讲会”推进到“独立完成”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孟德尔遗传从生活现象进入，连续经过概念、推演、机制与迁移。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10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71500" y="1428750"/>
            <a:ext cx="4095750" cy="4495800"/>
          </a:xfrm>
          <a:prstGeom prst="roundRect">
            <a:avLst>
              <a:gd name="adj" fmla="val 1860"/>
            </a:avLst>
          </a:prstGeom>
          <a:solidFill>
            <a:schemeClr val="bg1">
              <a:lumMod val="95000"/>
            </a:schemeClr>
          </a:solidFill>
          <a:ln w="13335">
            <a:solidFill>
              <a:srgbClr val="746B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5410200"/>
            <a:ext cx="3752850" cy="342900"/>
          </a:xfrm>
          <a:prstGeom prst="roundRect">
            <a:avLst>
              <a:gd name="adj" fmla="val 22222"/>
            </a:avLst>
          </a:prstGeom>
          <a:solidFill>
            <a:srgbClr val="30283A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542925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真实产品界面 · 多轮会话与学习者状态同时可见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95875" y="14668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243A"/>
                </a:solidFill>
              </a:defRPr>
            </a:pPr>
            <a:r>
              <a:rPr sz="1575" b="1">
                <a:solidFill>
                  <a:srgbClr val="17243A"/>
                </a:solidFill>
              </a:rPr>
              <a:t>15轮能力台阶</a:t>
            </a:r>
            <a:endParaRPr sz="1575" b="1">
              <a:solidFill>
                <a:srgbClr val="17243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000625" y="1914525"/>
            <a:ext cx="633412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746B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153025" y="19907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746BE8"/>
                </a:solidFill>
              </a:defRPr>
            </a:pPr>
            <a:r>
              <a:rPr sz="1050" b="1">
                <a:solidFill>
                  <a:srgbClr val="746BE8"/>
                </a:solidFill>
              </a:rPr>
              <a:t>R1</a:t>
            </a:r>
            <a:endParaRPr sz="1050" b="1">
              <a:solidFill>
                <a:srgbClr val="746BE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48350" y="19907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生活现象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53250" y="19621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棕眼父母为什么可能有蓝眼孩子？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0" y="20002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746BE8"/>
                </a:solidFill>
              </a:defRPr>
            </a:pPr>
            <a:r>
              <a:rPr sz="975" b="1">
                <a:solidFill>
                  <a:srgbClr val="746BE8"/>
                </a:solidFill>
              </a:rPr>
              <a:t>建立问题</a:t>
            </a:r>
            <a:endParaRPr sz="975" b="1">
              <a:solidFill>
                <a:srgbClr val="746BE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48350" y="22383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不是直接给遗传比例</a:t>
            </a:r>
            <a:endParaRPr sz="900" b="0">
              <a:solidFill>
                <a:srgbClr val="667080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000625" y="2628900"/>
            <a:ext cx="633412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829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53025" y="27051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9829C"/>
                </a:solidFill>
              </a:defRPr>
            </a:pPr>
            <a:r>
              <a:rPr sz="1050" b="1">
                <a:solidFill>
                  <a:srgbClr val="D9829C"/>
                </a:solidFill>
              </a:rPr>
              <a:t>R2–3</a:t>
            </a:r>
            <a:endParaRPr sz="1050" b="1">
              <a:solidFill>
                <a:srgbClr val="D9829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7051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最小模型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53250" y="26765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B / b、显性 / 隐性；学生独立推演 Bb × Bb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287000" y="27146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D9829C"/>
                </a:solidFill>
              </a:defRPr>
            </a:pPr>
            <a:r>
              <a:rPr sz="975" b="1">
                <a:solidFill>
                  <a:srgbClr val="D9829C"/>
                </a:solidFill>
              </a:rPr>
              <a:t>开始推理</a:t>
            </a:r>
            <a:endParaRPr sz="975" b="1">
              <a:solidFill>
                <a:srgbClr val="D9829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48350" y="2952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根据上一轮继续加深</a:t>
            </a:r>
            <a:endParaRPr sz="900" b="0">
              <a:solidFill>
                <a:srgbClr val="667080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000625" y="3343275"/>
            <a:ext cx="633412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49A4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53025" y="341947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49A42"/>
                </a:solidFill>
              </a:defRPr>
            </a:pPr>
            <a:r>
              <a:rPr sz="1050" b="1">
                <a:solidFill>
                  <a:srgbClr val="D49A42"/>
                </a:solidFill>
              </a:rPr>
              <a:t>R4–6</a:t>
            </a:r>
            <a:endParaRPr sz="1050" b="1">
              <a:solidFill>
                <a:srgbClr val="D49A4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848350" y="34194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解释机制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953250" y="3390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从结论推进到“基因如何制造蛋白质”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87000" y="34290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解释为什么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848350" y="3667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根据上一轮继续加深</a:t>
            </a:r>
            <a:endParaRPr sz="900" b="0">
              <a:solidFill>
                <a:srgbClr val="667080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000625" y="4057650"/>
            <a:ext cx="633412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57977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153025" y="4133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79775"/>
                </a:solidFill>
              </a:defRPr>
            </a:pPr>
            <a:r>
              <a:rPr sz="1050" b="1">
                <a:solidFill>
                  <a:srgbClr val="579775"/>
                </a:solidFill>
              </a:rPr>
              <a:t>R7–12</a:t>
            </a:r>
            <a:endParaRPr sz="1050" b="1">
              <a:solidFill>
                <a:srgbClr val="57977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1338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跨概念迁移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953250" y="41052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不完全显性 → 伴X隐性遗传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287000" y="41433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79775"/>
                </a:solidFill>
              </a:defRPr>
            </a:pPr>
            <a:r>
              <a:rPr sz="975" b="1">
                <a:solidFill>
                  <a:srgbClr val="579775"/>
                </a:solidFill>
              </a:rPr>
              <a:t>迁移方法</a:t>
            </a:r>
            <a:endParaRPr sz="975" b="1">
              <a:solidFill>
                <a:srgbClr val="57977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848350" y="43815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根据上一轮继续加深</a:t>
            </a:r>
            <a:endParaRPr sz="900" b="0">
              <a:solidFill>
                <a:srgbClr val="66708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000625" y="4772025"/>
            <a:ext cx="633412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65CDE5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153025" y="48482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5CDE5"/>
                </a:solidFill>
              </a:defRPr>
            </a:pPr>
            <a:r>
              <a:rPr sz="1050" b="1">
                <a:solidFill>
                  <a:srgbClr val="65CDE5"/>
                </a:solidFill>
              </a:rPr>
              <a:t>R13–15</a:t>
            </a:r>
            <a:endParaRPr sz="1050" b="1">
              <a:solidFill>
                <a:srgbClr val="65CDE5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848350" y="48482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独立挑战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953250" y="48196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区分两条定律，完成新情境推演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287000" y="48577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5CDE5"/>
                </a:solidFill>
              </a:defRPr>
            </a:pPr>
            <a:r>
              <a:rPr sz="975" b="1">
                <a:solidFill>
                  <a:srgbClr val="65CDE5"/>
                </a:solidFill>
              </a:rPr>
              <a:t>独立完成</a:t>
            </a:r>
            <a:endParaRPr sz="975" b="1">
              <a:solidFill>
                <a:srgbClr val="65CDE5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48350" y="50958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系统撤掉脚手架</a:t>
            </a:r>
            <a:endParaRPr sz="900" b="0">
              <a:solidFill>
                <a:srgbClr val="66708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5000625" y="5600700"/>
            <a:ext cx="6334125" cy="323850"/>
          </a:xfrm>
          <a:prstGeom prst="roundRect">
            <a:avLst>
              <a:gd name="adj" fmla="val 23529"/>
            </a:avLst>
          </a:prstGeom>
          <a:solidFill>
            <a:srgbClr val="E7E0F2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172075" y="5619750"/>
            <a:ext cx="5991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7243A"/>
                </a:solidFill>
              </a:defRPr>
            </a:pPr>
            <a:r>
              <a:rPr sz="1050" b="1">
                <a:solidFill>
                  <a:srgbClr val="17243A"/>
                </a:solidFill>
              </a:rPr>
              <a:t>证明点：系统不是把同一个答案讲长，而是在每轮改变下一步教学任务。</a:t>
            </a:r>
            <a:endParaRPr sz="1050" b="1">
              <a:solidFill>
                <a:srgbClr val="17243A"/>
              </a:solidFill>
            </a:endParaRPr>
          </a:p>
        </p:txBody>
      </p:sp>
      <p:pic>
        <p:nvPicPr>
          <p:cNvPr id="84" name="Image 0"/>
          <p:cNvPicPr>
            <a:picLocks noChangeAspect="1"/>
          </p:cNvPicPr>
          <p:nvPr/>
        </p:nvPicPr>
        <p:blipFill>
          <a:blip r:embed="rId1"/>
          <a:srcRect l="26772" b="52934"/>
          <a:stretch>
            <a:fillRect/>
          </a:stretch>
        </p:blipFill>
        <p:spPr>
          <a:xfrm>
            <a:off x="683260" y="1700530"/>
            <a:ext cx="38715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倾诉Demo：真正的转折，是把“我有问题”变成“我能行动”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学业压力15轮中，系统没有急着安慰，而是持续拆开事实、恐惧、选择与行动。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11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71500" y="1495425"/>
            <a:ext cx="6715125" cy="41148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3335">
            <a:solidFill>
              <a:srgbClr val="D9829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714500"/>
            <a:ext cx="6096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9829C"/>
                </a:solidFill>
              </a:defRPr>
            </a:pPr>
            <a:r>
              <a:rPr sz="1500" b="1">
                <a:solidFill>
                  <a:srgbClr val="D9829C"/>
                </a:solidFill>
              </a:rPr>
              <a:t>一段真实对话的三次变化</a:t>
            </a:r>
            <a:endParaRPr sz="1500" b="1">
              <a:solidFill>
                <a:srgbClr val="D9829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38200" y="2238375"/>
            <a:ext cx="6143625" cy="790575"/>
          </a:xfrm>
          <a:prstGeom prst="roundRect">
            <a:avLst>
              <a:gd name="adj" fmla="val 9639"/>
            </a:avLst>
          </a:prstGeom>
          <a:solidFill>
            <a:srgbClr val="FBFAF7"/>
          </a:solidFill>
          <a:ln w="10478">
            <a:solidFill>
              <a:srgbClr val="D9829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2333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D9829C"/>
                </a:solidFill>
              </a:defRPr>
            </a:pPr>
            <a:r>
              <a:rPr sz="1200" b="1">
                <a:solidFill>
                  <a:srgbClr val="D9829C"/>
                </a:solidFill>
              </a:rPr>
              <a:t>01 自我否定</a:t>
            </a:r>
            <a:endParaRPr sz="1200" b="1">
              <a:solidFill>
                <a:srgbClr val="D9829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57425" y="233362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67080"/>
                </a:solidFill>
              </a:defRPr>
            </a:pPr>
            <a:r>
              <a:rPr sz="975" b="1">
                <a:solidFill>
                  <a:srgbClr val="667080"/>
                </a:solidFill>
              </a:rPr>
              <a:t>R1–7</a:t>
            </a:r>
            <a:endParaRPr sz="975" b="1">
              <a:solidFill>
                <a:srgbClr val="66708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52750" y="2305050"/>
            <a:ext cx="3810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转学两个月，没有朋友，上课走神。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0125" y="2657475"/>
            <a:ext cx="5762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9829C"/>
                </a:solidFill>
              </a:defRPr>
            </a:pPr>
            <a:r>
              <a:rPr sz="1050" b="1">
                <a:solidFill>
                  <a:srgbClr val="D9829C"/>
                </a:solidFill>
              </a:rPr>
              <a:t>“我是不是性格有问题？”</a:t>
            </a:r>
            <a:endParaRPr sz="1050" b="1">
              <a:solidFill>
                <a:srgbClr val="D9829C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" y="3219450"/>
            <a:ext cx="6143625" cy="790575"/>
          </a:xfrm>
          <a:prstGeom prst="roundRect">
            <a:avLst>
              <a:gd name="adj" fmla="val 9639"/>
            </a:avLst>
          </a:prstGeom>
          <a:solidFill>
            <a:srgbClr val="FBFAF7"/>
          </a:solidFill>
          <a:ln w="10478">
            <a:solidFill>
              <a:srgbClr val="D49A4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00125" y="3314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D49A42"/>
                </a:solidFill>
              </a:defRPr>
            </a:pPr>
            <a:r>
              <a:rPr sz="1200" b="1">
                <a:solidFill>
                  <a:srgbClr val="D49A42"/>
                </a:solidFill>
              </a:rPr>
              <a:t>02 找到事实</a:t>
            </a:r>
            <a:endParaRPr sz="1200" b="1">
              <a:solidFill>
                <a:srgbClr val="D49A4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257425" y="3314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67080"/>
                </a:solidFill>
              </a:defRPr>
            </a:pPr>
            <a:r>
              <a:rPr sz="975" b="1">
                <a:solidFill>
                  <a:srgbClr val="667080"/>
                </a:solidFill>
              </a:rPr>
              <a:t>R8</a:t>
            </a:r>
            <a:endParaRPr sz="975" b="1">
              <a:solidFill>
                <a:srgbClr val="6670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3286125"/>
            <a:ext cx="3810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“我从来没有主动邀请别人一起吃饭或聊天。”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00125" y="3638550"/>
            <a:ext cx="5762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D49A42"/>
                </a:solidFill>
              </a:defRPr>
            </a:pPr>
            <a:r>
              <a:rPr sz="1050" b="1">
                <a:solidFill>
                  <a:srgbClr val="D49A42"/>
                </a:solidFill>
              </a:rPr>
              <a:t>模糊的自我审判 → 可观察行为</a:t>
            </a:r>
            <a:endParaRPr sz="1050" b="1">
              <a:solidFill>
                <a:srgbClr val="D49A42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38200" y="4200525"/>
            <a:ext cx="6143625" cy="790575"/>
          </a:xfrm>
          <a:prstGeom prst="roundRect">
            <a:avLst>
              <a:gd name="adj" fmla="val 9639"/>
            </a:avLst>
          </a:prstGeom>
          <a:solidFill>
            <a:srgbClr val="FBFAF7"/>
          </a:solidFill>
          <a:ln w="10478">
            <a:solidFill>
              <a:srgbClr val="57977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0125" y="42957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579775"/>
                </a:solidFill>
              </a:defRPr>
            </a:pPr>
            <a:r>
              <a:rPr sz="1200" b="1">
                <a:solidFill>
                  <a:srgbClr val="579775"/>
                </a:solidFill>
              </a:rPr>
              <a:t>03 形成行动</a:t>
            </a:r>
            <a:endParaRPr sz="1200" b="1">
              <a:solidFill>
                <a:srgbClr val="57977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57425" y="42957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67080"/>
                </a:solidFill>
              </a:defRPr>
            </a:pPr>
            <a:r>
              <a:rPr sz="975" b="1">
                <a:solidFill>
                  <a:srgbClr val="667080"/>
                </a:solidFill>
              </a:rPr>
              <a:t>R9–15</a:t>
            </a:r>
            <a:endParaRPr sz="975" b="1">
              <a:solidFill>
                <a:srgbClr val="6670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52750" y="4267200"/>
            <a:ext cx="3810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52033"/>
                </a:solidFill>
              </a:defRPr>
            </a:pPr>
            <a:r>
              <a:rPr sz="1125" b="1">
                <a:solidFill>
                  <a:srgbClr val="152033"/>
                </a:solidFill>
              </a:rPr>
              <a:t>“跟同桌说一句话。”</a:t>
            </a:r>
            <a:endParaRPr sz="1125" b="1">
              <a:solidFill>
                <a:srgbClr val="15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0125" y="4619625"/>
            <a:ext cx="5762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79775"/>
                </a:solidFill>
              </a:defRPr>
            </a:pPr>
            <a:r>
              <a:rPr sz="1050" b="1">
                <a:solidFill>
                  <a:srgbClr val="579775"/>
                </a:solidFill>
              </a:rPr>
              <a:t>“打招呼是练习，不是考试。”</a:t>
            </a:r>
            <a:endParaRPr sz="1050" b="1">
              <a:solidFill>
                <a:srgbClr val="579775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38200" y="5257800"/>
            <a:ext cx="6143625" cy="238125"/>
          </a:xfrm>
          <a:prstGeom prst="roundRect">
            <a:avLst>
              <a:gd name="adj" fmla="val 32000"/>
            </a:avLst>
          </a:prstGeom>
          <a:solidFill>
            <a:srgbClr val="17243A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1550" y="5257800"/>
            <a:ext cx="5876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倾诉不是一句安慰，而是重新获得对生活的解释权与行动权。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572375" y="1495425"/>
            <a:ext cx="4048125" cy="4114800"/>
          </a:xfrm>
          <a:prstGeom prst="roundRect">
            <a:avLst>
              <a:gd name="adj" fmla="val 1882"/>
            </a:avLst>
          </a:prstGeom>
          <a:solidFill>
            <a:schemeClr val="bg1">
              <a:lumMod val="95000"/>
            </a:schemeClr>
          </a:solidFill>
          <a:ln w="13335">
            <a:solidFill>
              <a:srgbClr val="D9829C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743825" y="5095875"/>
            <a:ext cx="3705225" cy="342900"/>
          </a:xfrm>
          <a:prstGeom prst="roundRect">
            <a:avLst>
              <a:gd name="adj" fmla="val 22222"/>
            </a:avLst>
          </a:prstGeom>
          <a:solidFill>
            <a:srgbClr val="352837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86700" y="5114925"/>
            <a:ext cx="3419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真实产品界面 · R9–R10 行动转折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71500" y="58197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0DFE4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867400"/>
            <a:ext cx="10629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7243A"/>
                </a:solidFill>
              </a:defRPr>
            </a:pPr>
            <a:r>
              <a:rPr sz="1125" b="1">
                <a:solidFill>
                  <a:srgbClr val="17243A"/>
                </a:solidFill>
              </a:rPr>
              <a:t>证明点：系统把“性格有问题”的整体判断，转</a:t>
            </a:r>
            <a:r>
              <a:rPr lang="zh-CN" sz="1125" b="1">
                <a:solidFill>
                  <a:srgbClr val="17243A"/>
                </a:solidFill>
              </a:rPr>
              <a:t>换</a:t>
            </a:r>
            <a:r>
              <a:rPr sz="1125" b="1">
                <a:solidFill>
                  <a:srgbClr val="17243A"/>
                </a:solidFill>
              </a:rPr>
              <a:t>成下一天可以尝试的一个小</a:t>
            </a:r>
            <a:r>
              <a:rPr lang="zh-CN" sz="1125" b="1">
                <a:solidFill>
                  <a:srgbClr val="17243A"/>
                </a:solidFill>
              </a:rPr>
              <a:t>的行动</a:t>
            </a:r>
            <a:r>
              <a:rPr sz="1125" b="1">
                <a:solidFill>
                  <a:srgbClr val="17243A"/>
                </a:solidFill>
              </a:rPr>
              <a:t>。</a:t>
            </a:r>
            <a:endParaRPr sz="1125" b="1">
              <a:solidFill>
                <a:srgbClr val="17243A"/>
              </a:solidFill>
            </a:endParaRPr>
          </a:p>
        </p:txBody>
      </p:sp>
      <p:pic>
        <p:nvPicPr>
          <p:cNvPr id="60" name="Image 1"/>
          <p:cNvPicPr>
            <a:picLocks noChangeAspect="1"/>
          </p:cNvPicPr>
          <p:nvPr/>
        </p:nvPicPr>
        <p:blipFill>
          <a:blip r:embed="rId1"/>
          <a:srcRect b="49089"/>
          <a:stretch>
            <a:fillRect/>
          </a:stretch>
        </p:blipFill>
        <p:spPr>
          <a:xfrm>
            <a:off x="7686040" y="1755140"/>
            <a:ext cx="3839210" cy="29121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通识与知识表达Demo：知识不仅被回答，还能被组织成教学作品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真实证据包括结构化历史论述，以及可继续播放和教学的光合作用可视化产出。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12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71500" y="1495425"/>
            <a:ext cx="4286250" cy="415290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3335">
            <a:solidFill>
              <a:srgbClr val="D49A4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714500"/>
            <a:ext cx="3714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49A42"/>
                </a:solidFill>
              </a:defRPr>
            </a:pPr>
            <a:r>
              <a:rPr sz="1500" b="1">
                <a:solidFill>
                  <a:srgbClr val="D49A42"/>
                </a:solidFill>
              </a:rPr>
              <a:t>结构化论述 · 唐朝科举制度</a:t>
            </a:r>
            <a:endParaRPr sz="1500" b="1">
              <a:solidFill>
                <a:srgbClr val="D49A4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085975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997字完整答案</a:t>
            </a:r>
            <a:endParaRPr sz="1050" b="0">
              <a:solidFill>
                <a:srgbClr val="66708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5336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01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85875" y="253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制度确立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09800" y="25336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667080"/>
                </a:solidFill>
              </a:defRPr>
            </a:pPr>
            <a:r>
              <a:rPr sz="975" b="0">
                <a:solidFill>
                  <a:srgbClr val="667080"/>
                </a:solidFill>
              </a:rPr>
              <a:t>从隋代创立到唐代完善</a:t>
            </a:r>
            <a:endParaRPr sz="975" b="0">
              <a:solidFill>
                <a:srgbClr val="66708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0480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02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85875" y="30480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政治结构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09800" y="304800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667080"/>
                </a:solidFill>
              </a:defRPr>
            </a:pPr>
            <a:r>
              <a:rPr sz="975" b="0">
                <a:solidFill>
                  <a:srgbClr val="667080"/>
                </a:solidFill>
              </a:rPr>
              <a:t>打破门阀垄断，扩大选官基础</a:t>
            </a:r>
            <a:endParaRPr sz="975" b="0">
              <a:solidFill>
                <a:srgbClr val="66708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562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03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85875" y="3562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社会流动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09800" y="35623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667080"/>
                </a:solidFill>
              </a:defRPr>
            </a:pPr>
            <a:r>
              <a:rPr sz="975" b="0">
                <a:solidFill>
                  <a:srgbClr val="667080"/>
                </a:solidFill>
              </a:rPr>
              <a:t>寒门读书人获得进入仕途的通道</a:t>
            </a:r>
            <a:endParaRPr sz="975" b="0">
              <a:solidFill>
                <a:srgbClr val="66708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0767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04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85875" y="40767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文化教育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09800" y="407670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667080"/>
                </a:solidFill>
              </a:defRPr>
            </a:pPr>
            <a:r>
              <a:rPr sz="975" b="0">
                <a:solidFill>
                  <a:srgbClr val="667080"/>
                </a:solidFill>
              </a:rPr>
              <a:t>考试制度推动学习与文化发展</a:t>
            </a:r>
            <a:endParaRPr sz="975" b="0">
              <a:solidFill>
                <a:srgbClr val="6670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45910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05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85875" y="45910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52033"/>
                </a:solidFill>
              </a:defRPr>
            </a:pPr>
            <a:r>
              <a:rPr sz="1050" b="1">
                <a:solidFill>
                  <a:srgbClr val="152033"/>
                </a:solidFill>
              </a:rPr>
              <a:t>历史评价</a:t>
            </a:r>
            <a:endParaRPr sz="1050" b="1">
              <a:solidFill>
                <a:srgbClr val="15203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209800" y="45910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667080"/>
                </a:solidFill>
              </a:defRPr>
            </a:pPr>
            <a:r>
              <a:rPr sz="975" b="0">
                <a:solidFill>
                  <a:srgbClr val="667080"/>
                </a:solidFill>
              </a:rPr>
              <a:t>同时讨论制度边界，而非只有赞美</a:t>
            </a:r>
            <a:endParaRPr sz="975" b="0">
              <a:solidFill>
                <a:srgbClr val="667080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38200" y="5219700"/>
            <a:ext cx="3752850" cy="257175"/>
          </a:xfrm>
          <a:prstGeom prst="roundRect">
            <a:avLst>
              <a:gd name="adj" fmla="val 29630"/>
            </a:avLst>
          </a:prstGeom>
          <a:solidFill>
            <a:srgbClr val="F5E8D2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5219700"/>
            <a:ext cx="3600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17243A"/>
                </a:solidFill>
              </a:defRPr>
            </a:pPr>
            <a:r>
              <a:rPr sz="975" b="1">
                <a:solidFill>
                  <a:srgbClr val="17243A"/>
                </a:solidFill>
              </a:rPr>
              <a:t>证明：把知识组织为有层次、有判断的表达</a:t>
            </a:r>
            <a:endParaRPr sz="975" b="1">
              <a:solidFill>
                <a:srgbClr val="17243A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5143500" y="1495425"/>
            <a:ext cx="6477000" cy="4152900"/>
          </a:xfrm>
          <a:prstGeom prst="roundRect">
            <a:avLst>
              <a:gd name="adj" fmla="val 1835"/>
            </a:avLst>
          </a:prstGeom>
          <a:solidFill>
            <a:srgbClr val="17243A"/>
          </a:solidFill>
          <a:ln w="13335">
            <a:solidFill>
              <a:srgbClr val="65CDE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410200" y="1714500"/>
            <a:ext cx="5943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65CDE5"/>
                </a:solidFill>
              </a:defRPr>
            </a:pPr>
            <a:r>
              <a:rPr sz="1500" b="1">
                <a:solidFill>
                  <a:srgbClr val="65CDE5"/>
                </a:solidFill>
              </a:rPr>
              <a:t>真实可播放产出 · 光合作用</a:t>
            </a:r>
            <a:endParaRPr sz="1500" b="1">
              <a:solidFill>
                <a:srgbClr val="65CDE5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410200" y="5105400"/>
            <a:ext cx="5943600" cy="361950"/>
          </a:xfrm>
          <a:prstGeom prst="roundRect">
            <a:avLst>
              <a:gd name="adj" fmla="val 21053"/>
            </a:avLst>
          </a:prstGeom>
          <a:solidFill>
            <a:srgbClr val="0D3658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62600" y="5133975"/>
            <a:ext cx="5638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65CDE5"/>
                </a:solidFill>
              </a:defRPr>
            </a:pPr>
            <a:r>
              <a:rPr sz="1050" b="1">
                <a:solidFill>
                  <a:srgbClr val="65CDE5"/>
                </a:solidFill>
              </a:rPr>
              <a:t>128秒完整视频 + 35秒演示片段 · PPT内可播放</a:t>
            </a:r>
            <a:endParaRPr sz="1050" b="1">
              <a:solidFill>
                <a:srgbClr val="65CDE5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571500" y="58197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E9E0CF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5867400"/>
            <a:ext cx="10629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7243A"/>
                </a:solidFill>
              </a:defRPr>
            </a:pPr>
            <a:r>
              <a:rPr sz="1125" b="1">
                <a:solidFill>
                  <a:srgbClr val="17243A"/>
                </a:solidFill>
              </a:rPr>
              <a:t>证明点：系统能把知识变成教师可继续使用、学生可继续理解的内容载体。</a:t>
            </a:r>
            <a:endParaRPr sz="1125" b="1">
              <a:solidFill>
                <a:srgbClr val="17243A"/>
              </a:solidFill>
            </a:endParaRPr>
          </a:p>
        </p:txBody>
      </p:sp>
      <p:pic>
        <p:nvPicPr>
          <p:cNvPr id="27" name="paeg_video_ppt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82030" y="2204720"/>
            <a:ext cx="4599940" cy="2590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571500" y="37147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三个入口共享同一学习者状态，持续理解才不会在场景切换中断</a:t>
            </a:r>
            <a:endParaRPr sz="2250" b="1">
              <a:solidFill>
                <a:srgbClr val="152033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9334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教学、倾诉与通识产生不同证据，共同进入下一步决策。</a:t>
            </a:r>
            <a:endParaRPr sz="1200" b="0">
              <a:solidFill>
                <a:srgbClr val="66708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爱弥儿 · 持续更新的乡村教育智能体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58500" y="64198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675" b="0">
                <a:solidFill>
                  <a:srgbClr val="918A7E"/>
                </a:solidFill>
              </a:defRPr>
            </a:pPr>
            <a:r>
              <a:rPr sz="675" b="0">
                <a:solidFill>
                  <a:srgbClr val="918A7E"/>
                </a:solidFill>
              </a:rPr>
              <a:t>14 / 16</a:t>
            </a:r>
            <a:endParaRPr sz="675" b="0">
              <a:solidFill>
                <a:srgbClr val="918A7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71500" y="1504950"/>
            <a:ext cx="28194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335">
            <a:solidFill>
              <a:srgbClr val="746B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17240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746BE8"/>
                </a:solidFill>
              </a:defRPr>
            </a:pPr>
            <a:r>
              <a:rPr sz="1425" b="1">
                <a:solidFill>
                  <a:srgbClr val="746BE8"/>
                </a:solidFill>
              </a:rPr>
              <a:t>教学入口</a:t>
            </a:r>
            <a:endParaRPr sz="1425" b="1">
              <a:solidFill>
                <a:srgbClr val="746B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90575" y="22002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152033"/>
                </a:solidFill>
              </a:defRPr>
            </a:pPr>
            <a:r>
              <a:rPr sz="1050" b="0">
                <a:solidFill>
                  <a:srgbClr val="152033"/>
                </a:solidFill>
              </a:rPr>
              <a:t>认知路径｜真实误区｜有效讲法｜适合节奏</a:t>
            </a:r>
            <a:endParaRPr sz="1050" b="0">
              <a:solidFill>
                <a:srgbClr val="15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0575" y="30575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746BE8"/>
                </a:solidFill>
              </a:defRPr>
            </a:pPr>
            <a:r>
              <a:rPr sz="975" b="1">
                <a:solidFill>
                  <a:srgbClr val="746BE8"/>
                </a:solidFill>
              </a:rPr>
              <a:t>更新：知识状态与教学策略</a:t>
            </a:r>
            <a:endParaRPr sz="975" b="1">
              <a:solidFill>
                <a:srgbClr val="746BE8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981200" y="3457575"/>
            <a:ext cx="0" cy="466725"/>
          </a:xfrm>
          <a:prstGeom prst="line">
            <a:avLst/>
          </a:prstGeom>
          <a:noFill/>
          <a:ln w="14288">
            <a:solidFill>
              <a:srgbClr val="A69FB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857375" y="3562350"/>
            <a:ext cx="2476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243A"/>
                </a:solidFill>
              </a:defRPr>
            </a:pPr>
            <a:r>
              <a:rPr sz="1500" b="1">
                <a:solidFill>
                  <a:srgbClr val="17243A"/>
                </a:solidFill>
              </a:rPr>
              <a:t>↓</a:t>
            </a:r>
            <a:endParaRPr sz="1500" b="1">
              <a:solidFill>
                <a:srgbClr val="17243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95700" y="1504950"/>
            <a:ext cx="28194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335">
            <a:solidFill>
              <a:srgbClr val="D9829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14775" y="17240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D9829C"/>
                </a:solidFill>
              </a:defRPr>
            </a:pPr>
            <a:r>
              <a:rPr sz="1425" b="1">
                <a:solidFill>
                  <a:srgbClr val="D9829C"/>
                </a:solidFill>
              </a:rPr>
              <a:t>倾诉入口</a:t>
            </a:r>
            <a:endParaRPr sz="1425" b="1">
              <a:solidFill>
                <a:srgbClr val="D9829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14775" y="22002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152033"/>
                </a:solidFill>
              </a:defRPr>
            </a:pPr>
            <a:r>
              <a:rPr sz="1050" b="0">
                <a:solidFill>
                  <a:srgbClr val="152033"/>
                </a:solidFill>
              </a:rPr>
              <a:t>会话意图｜情绪状态｜自我信念｜安全边界</a:t>
            </a:r>
            <a:endParaRPr sz="1050" b="0">
              <a:solidFill>
                <a:srgbClr val="15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14775" y="30575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D9829C"/>
                </a:solidFill>
              </a:defRPr>
            </a:pPr>
            <a:r>
              <a:rPr sz="975" b="1">
                <a:solidFill>
                  <a:srgbClr val="D9829C"/>
                </a:solidFill>
              </a:rPr>
              <a:t>更新：当前状态与回应优先级</a:t>
            </a:r>
            <a:endParaRPr sz="975" b="1">
              <a:solidFill>
                <a:srgbClr val="D9829C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05400" y="3457575"/>
            <a:ext cx="0" cy="466725"/>
          </a:xfrm>
          <a:prstGeom prst="line">
            <a:avLst/>
          </a:prstGeom>
          <a:noFill/>
          <a:ln w="14288">
            <a:solidFill>
              <a:srgbClr val="A69FB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81575" y="3562350"/>
            <a:ext cx="2476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243A"/>
                </a:solidFill>
              </a:defRPr>
            </a:pPr>
            <a:r>
              <a:rPr sz="1500" b="1">
                <a:solidFill>
                  <a:srgbClr val="17243A"/>
                </a:solidFill>
              </a:rPr>
              <a:t>↓</a:t>
            </a:r>
            <a:endParaRPr sz="1500" b="1">
              <a:solidFill>
                <a:srgbClr val="17243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19900" y="1504950"/>
            <a:ext cx="28194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335">
            <a:solidFill>
              <a:srgbClr val="D49A4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38975" y="17240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D49A42"/>
                </a:solidFill>
              </a:defRPr>
            </a:pPr>
            <a:r>
              <a:rPr sz="1425" b="1">
                <a:solidFill>
                  <a:srgbClr val="D49A42"/>
                </a:solidFill>
              </a:rPr>
              <a:t>通识入口</a:t>
            </a:r>
            <a:endParaRPr sz="1425" b="1">
              <a:solidFill>
                <a:srgbClr val="D49A4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38975" y="22002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152033"/>
                </a:solidFill>
              </a:defRPr>
            </a:pPr>
            <a:r>
              <a:rPr sz="1050" b="0">
                <a:solidFill>
                  <a:srgbClr val="152033"/>
                </a:solidFill>
              </a:rPr>
              <a:t>兴趣｜表达｜问题意识｜价值与世界理解</a:t>
            </a:r>
            <a:endParaRPr sz="1050" b="0">
              <a:solidFill>
                <a:srgbClr val="15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38975" y="30575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D49A42"/>
                </a:solidFill>
              </a:defRPr>
            </a:pPr>
            <a:r>
              <a:rPr sz="975" b="1">
                <a:solidFill>
                  <a:srgbClr val="D49A42"/>
                </a:solidFill>
              </a:rPr>
              <a:t>更新：探索方向与对话深度</a:t>
            </a:r>
            <a:endParaRPr sz="975" b="1">
              <a:solidFill>
                <a:srgbClr val="D49A42"/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229600" y="3457575"/>
            <a:ext cx="0" cy="466725"/>
          </a:xfrm>
          <a:prstGeom prst="line">
            <a:avLst/>
          </a:prstGeom>
          <a:noFill/>
          <a:ln w="14288">
            <a:solidFill>
              <a:srgbClr val="A69FB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05775" y="3562350"/>
            <a:ext cx="2476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243A"/>
                </a:solidFill>
              </a:defRPr>
            </a:pPr>
            <a:r>
              <a:rPr sz="1500" b="1">
                <a:solidFill>
                  <a:srgbClr val="17243A"/>
                </a:solidFill>
              </a:rPr>
              <a:t>↓</a:t>
            </a:r>
            <a:endParaRPr sz="1500" b="1">
              <a:solidFill>
                <a:srgbClr val="17243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886950" y="1504950"/>
            <a:ext cx="1733550" cy="3581400"/>
          </a:xfrm>
          <a:prstGeom prst="roundRect">
            <a:avLst>
              <a:gd name="adj" fmla="val 4396"/>
            </a:avLst>
          </a:prstGeom>
          <a:solidFill>
            <a:srgbClr val="17243A"/>
          </a:solidFill>
          <a:ln w="12383">
            <a:solidFill>
              <a:srgbClr val="65CDE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058400" y="1714500"/>
            <a:ext cx="1390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跨入口共享底座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048875" y="2400300"/>
            <a:ext cx="1409700" cy="295275"/>
          </a:xfrm>
          <a:prstGeom prst="roundRect">
            <a:avLst>
              <a:gd name="adj" fmla="val 25806"/>
            </a:avLst>
          </a:prstGeom>
          <a:solidFill>
            <a:srgbClr val="263750"/>
          </a:solidFill>
          <a:ln w="6668">
            <a:solidFill>
              <a:srgbClr val="746BE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125075" y="24003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意图聚焦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0048875" y="2809875"/>
            <a:ext cx="1409700" cy="295275"/>
          </a:xfrm>
          <a:prstGeom prst="roundRect">
            <a:avLst>
              <a:gd name="adj" fmla="val 25806"/>
            </a:avLst>
          </a:prstGeom>
          <a:solidFill>
            <a:srgbClr val="263750"/>
          </a:solidFill>
          <a:ln w="6668">
            <a:solidFill>
              <a:srgbClr val="D9829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125075" y="280987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动态约束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048875" y="3219450"/>
            <a:ext cx="1409700" cy="295275"/>
          </a:xfrm>
          <a:prstGeom prst="roundRect">
            <a:avLst>
              <a:gd name="adj" fmla="val 25806"/>
            </a:avLst>
          </a:prstGeom>
          <a:solidFill>
            <a:srgbClr val="263750"/>
          </a:solidFill>
          <a:ln w="6668">
            <a:solidFill>
              <a:srgbClr val="D49A4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125075" y="321945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语言规范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0048875" y="3629025"/>
            <a:ext cx="1409700" cy="295275"/>
          </a:xfrm>
          <a:prstGeom prst="roundRect">
            <a:avLst>
              <a:gd name="adj" fmla="val 25806"/>
            </a:avLst>
          </a:prstGeom>
          <a:solidFill>
            <a:srgbClr val="263750"/>
          </a:solidFill>
          <a:ln w="6668">
            <a:solidFill>
              <a:srgbClr val="57977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125075" y="362902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安全边界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0048875" y="4038600"/>
            <a:ext cx="1409700" cy="295275"/>
          </a:xfrm>
          <a:prstGeom prst="roundRect">
            <a:avLst>
              <a:gd name="adj" fmla="val 25806"/>
            </a:avLst>
          </a:prstGeom>
          <a:solidFill>
            <a:srgbClr val="263750"/>
          </a:solidFill>
          <a:ln w="6668">
            <a:solidFill>
              <a:srgbClr val="65CD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125075" y="403860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跨会话记忆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0048875" y="4448175"/>
            <a:ext cx="1409700" cy="295275"/>
          </a:xfrm>
          <a:prstGeom prst="roundRect">
            <a:avLst>
              <a:gd name="adj" fmla="val 25806"/>
            </a:avLst>
          </a:prstGeom>
          <a:solidFill>
            <a:srgbClr val="263750"/>
          </a:solidFill>
          <a:ln w="6668">
            <a:solidFill>
              <a:srgbClr val="746BE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125075" y="444817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下一步决策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00125" y="4010025"/>
            <a:ext cx="8429625" cy="1352550"/>
          </a:xfrm>
          <a:prstGeom prst="roundRect">
            <a:avLst>
              <a:gd name="adj" fmla="val 5634"/>
            </a:avLst>
          </a:prstGeom>
          <a:solidFill>
            <a:srgbClr val="17243A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85875" y="4219575"/>
            <a:ext cx="785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同一个持续更新的学习者状态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85875" y="4648200"/>
            <a:ext cx="785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CD5E1"/>
                </a:solidFill>
              </a:defRPr>
            </a:pPr>
            <a:r>
              <a:rPr sz="1125" b="0">
                <a:solidFill>
                  <a:srgbClr val="CCD5E1"/>
                </a:solidFill>
              </a:rPr>
              <a:t>认知证据 + 行为证据 + 情绪证据 + 价值与意图证据</a:t>
            </a:r>
            <a:endParaRPr sz="1125" b="0">
              <a:solidFill>
                <a:srgbClr val="CCD5E1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85875" y="5019675"/>
            <a:ext cx="785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65CDE5"/>
                </a:solidFill>
              </a:defRPr>
            </a:pPr>
            <a:r>
              <a:rPr sz="1125" b="1">
                <a:solidFill>
                  <a:srgbClr val="65CDE5"/>
                </a:solidFill>
              </a:rPr>
              <a:t>共同驱动：模式路由｜记忆写回｜下一步教育决策</a:t>
            </a:r>
            <a:endParaRPr sz="1125" b="1">
              <a:solidFill>
                <a:srgbClr val="65CDE5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000125" y="5619750"/>
            <a:ext cx="10620375" cy="447675"/>
          </a:xfrm>
          <a:prstGeom prst="roundRect">
            <a:avLst>
              <a:gd name="adj" fmla="val 17021"/>
            </a:avLst>
          </a:prstGeom>
          <a:solidFill>
            <a:srgbClr val="E6DFF0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238250" y="5676900"/>
            <a:ext cx="10144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爱弥儿不是把三项功能放在一起，而是让三个入口持续更新同一个人的状态。</a:t>
            </a:r>
            <a:endParaRPr sz="1200" b="1">
              <a:solidFill>
                <a:srgbClr val="17243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85800" y="4953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 i="0">
                <a:solidFill>
                  <a:srgbClr val="101827"/>
                </a:solidFill>
              </a:defRPr>
            </a:pPr>
            <a:r>
              <a:rPr sz="3150" b="1" i="0">
                <a:solidFill>
                  <a:srgbClr val="101827"/>
                </a:solidFill>
              </a:rPr>
              <a:t>一个公益教育系统，也需要被共同塑造</a:t>
            </a:r>
            <a:endParaRPr sz="3150" b="1" i="0">
              <a:solidFill>
                <a:srgbClr val="101827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 i="0">
                <a:solidFill>
                  <a:srgbClr val="A65C72"/>
                </a:solidFill>
              </a:defRPr>
            </a:pPr>
            <a:r>
              <a:rPr sz="1800" b="0" i="0">
                <a:solidFill>
                  <a:srgbClr val="A65C72"/>
                </a:solidFill>
              </a:rPr>
              <a:t>爱弥儿</a:t>
            </a:r>
            <a:r>
              <a:rPr sz="1800" b="0" i="0">
                <a:solidFill>
                  <a:srgbClr val="A65C72"/>
                </a:solidFill>
              </a:rPr>
              <a:t>不应只代表一个团队对教育的想象。</a:t>
            </a:r>
            <a:endParaRPr sz="1800" b="0" i="0">
              <a:solidFill>
                <a:srgbClr val="A65C72"/>
              </a:solidFill>
            </a:endParaRP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1333500" y="2057400"/>
            <a:ext cx="914400" cy="914400"/>
          </a:xfrm>
          <a:prstGeom prst="ellipse">
            <a:avLst/>
          </a:prstGeom>
          <a:solidFill>
            <a:srgbClr val="7770D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227647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教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1051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101827"/>
                </a:solidFill>
              </a:defRPr>
            </a:pPr>
            <a:r>
              <a:rPr sz="1800" b="1" i="0">
                <a:solidFill>
                  <a:srgbClr val="101827"/>
                </a:solidFill>
              </a:rPr>
              <a:t>教师</a:t>
            </a:r>
            <a:endParaRPr sz="1800" b="1" i="0">
              <a:solidFill>
                <a:srgbClr val="10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77190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教学目标与课程材料</a:t>
            </a:r>
            <a:endParaRPr sz="1350" b="0" i="0">
              <a:solidFill>
                <a:srgbClr val="667085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3543300" y="2057400"/>
            <a:ext cx="914400" cy="914400"/>
          </a:xfrm>
          <a:prstGeom prst="ellipse">
            <a:avLst/>
          </a:prstGeom>
          <a:solidFill>
            <a:srgbClr val="E6A6B5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543300" y="227647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艺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95600" y="31051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 i="0">
                <a:solidFill>
                  <a:srgbClr val="101827"/>
                </a:solidFill>
              </a:defRPr>
            </a:pPr>
            <a:r>
              <a:rPr sz="1500" b="1" i="0">
                <a:solidFill>
                  <a:srgbClr val="101827"/>
                </a:solidFill>
              </a:rPr>
              <a:t>艺术 / 通识教育者</a:t>
            </a:r>
            <a:endParaRPr sz="1500" b="1" i="0">
              <a:solidFill>
                <a:srgbClr val="10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90850" y="377190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视野、表达与探索</a:t>
            </a:r>
            <a:endParaRPr sz="1350" b="0" i="0">
              <a:solidFill>
                <a:srgbClr val="667085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753100" y="2057400"/>
            <a:ext cx="914400" cy="914400"/>
          </a:xfrm>
          <a:prstGeom prst="ellipse">
            <a:avLst/>
          </a:prstGeom>
          <a:solidFill>
            <a:srgbClr val="7770D8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53100" y="227647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安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05400" y="31051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 i="0">
                <a:solidFill>
                  <a:srgbClr val="101827"/>
                </a:solidFill>
              </a:defRPr>
            </a:pPr>
            <a:r>
              <a:rPr sz="1500" b="1" i="0">
                <a:solidFill>
                  <a:srgbClr val="101827"/>
                </a:solidFill>
              </a:rPr>
              <a:t>儿童发展 / 安全专家</a:t>
            </a:r>
            <a:endParaRPr sz="1500" b="1" i="0">
              <a:solidFill>
                <a:srgbClr val="10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00650" y="377190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边界、评审与转介</a:t>
            </a:r>
            <a:endParaRPr sz="1350" b="0" i="0">
              <a:solidFill>
                <a:srgbClr val="667085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962900" y="2057400"/>
            <a:ext cx="914400" cy="914400"/>
          </a:xfrm>
          <a:prstGeom prst="ellipse">
            <a:avLst/>
          </a:prstGeom>
          <a:solidFill>
            <a:srgbClr val="E6A6B5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962900" y="227647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家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315200" y="31051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101827"/>
                </a:solidFill>
              </a:defRPr>
            </a:pPr>
            <a:r>
              <a:rPr sz="1800" b="1" i="0">
                <a:solidFill>
                  <a:srgbClr val="101827"/>
                </a:solidFill>
              </a:rPr>
              <a:t>家庭 / 学校</a:t>
            </a:r>
            <a:endParaRPr sz="1800" b="1" i="0">
              <a:solidFill>
                <a:srgbClr val="10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10450" y="377190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使用规则与现实反馈</a:t>
            </a:r>
            <a:endParaRPr sz="1350" b="0" i="0">
              <a:solidFill>
                <a:srgbClr val="667085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0172700" y="2057400"/>
            <a:ext cx="914400" cy="914400"/>
          </a:xfrm>
          <a:prstGeom prst="ellipse">
            <a:avLst/>
          </a:prstGeom>
          <a:solidFill>
            <a:srgbClr val="7770D8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172700" y="2276475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生</a:t>
            </a:r>
            <a:endParaRPr sz="2100" b="1" i="0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25000" y="31051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101827"/>
                </a:solidFill>
              </a:defRPr>
            </a:pPr>
            <a:r>
              <a:rPr sz="1800" b="1" i="0">
                <a:solidFill>
                  <a:srgbClr val="101827"/>
                </a:solidFill>
              </a:rPr>
              <a:t>学生</a:t>
            </a:r>
            <a:endParaRPr sz="1800" b="1" i="0">
              <a:solidFill>
                <a:srgbClr val="10182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20250" y="3771900"/>
            <a:ext cx="2019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真实体验与持续反馈</a:t>
            </a:r>
            <a:endParaRPr sz="1350" b="0" i="0">
              <a:solidFill>
                <a:srgbClr val="667085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123950" y="4762500"/>
            <a:ext cx="9944100" cy="933450"/>
          </a:xfrm>
          <a:prstGeom prst="roundRect">
            <a:avLst>
              <a:gd name="adj" fmla="val 8163"/>
            </a:avLst>
          </a:prstGeom>
          <a:solidFill>
            <a:srgbClr val="E9E7F7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28750" y="5010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514AA5"/>
                </a:solidFill>
              </a:defRPr>
            </a:pPr>
            <a:r>
              <a:rPr sz="2025" b="1" i="0">
                <a:solidFill>
                  <a:srgbClr val="514AA5"/>
                </a:solidFill>
              </a:rPr>
              <a:t>技术不替这些人做决定，而是让他们的经验更公平地抵达每一个孩子。</a:t>
            </a:r>
            <a:endParaRPr sz="2025" b="1" i="0">
              <a:solidFill>
                <a:srgbClr val="514AA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29000" y="596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共创 · 试用评审 · 安全边界 · 持续迭代</a:t>
            </a:r>
            <a:endParaRPr sz="1425" b="0" i="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667500" cy="6858000"/>
          </a:xfrm>
          <a:prstGeom prst="rect">
            <a:avLst/>
          </a:prstGeom>
          <a:solidFill>
            <a:srgbClr val="152237"/>
          </a:solidFill>
          <a:ln w="0">
            <a:noFill/>
            <a:prstDash val="solid"/>
          </a:ln>
        </p:spPr>
      </p:sp>
      <p:pic>
        <p:nvPicPr>
          <p:cNvPr id="21" name="图片 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28650" y="685800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FFFDFC"/>
                </a:solidFill>
              </a:defRPr>
            </a:pPr>
            <a:r>
              <a:rPr sz="2025" b="1">
                <a:solidFill>
                  <a:srgbClr val="FFFDFC"/>
                </a:solidFill>
              </a:rPr>
              <a:t>硬件让知识抵达，教学让理解发生。</a:t>
            </a:r>
            <a:endParaRPr sz="2025" b="1">
              <a:solidFill>
                <a:srgbClr val="FFFDF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4668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C2CBD9"/>
                </a:solidFill>
              </a:defRPr>
            </a:pPr>
            <a:r>
              <a:rPr sz="1425" b="0">
                <a:solidFill>
                  <a:srgbClr val="C2CBD9"/>
                </a:solidFill>
              </a:rPr>
              <a:t>当老师暂时顾不过来时：</a:t>
            </a:r>
            <a:endParaRPr sz="1425" b="0">
              <a:solidFill>
                <a:srgbClr val="C2CBD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943100"/>
            <a:ext cx="5334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FFFDFC"/>
                </a:solidFill>
              </a:defRPr>
            </a:pPr>
            <a:r>
              <a:rPr sz="2175" b="1">
                <a:solidFill>
                  <a:srgbClr val="FFFDFC"/>
                </a:solidFill>
              </a:rPr>
              <a:t>把教学过程接住，</a:t>
            </a:r>
            <a:endParaRPr sz="2175" b="1">
              <a:solidFill>
                <a:srgbClr val="FFFDFC"/>
              </a:solidFill>
            </a:endParaRPr>
          </a:p>
          <a:p>
            <a:pPr algn="l">
              <a:buNone/>
              <a:defRPr sz="2175" b="1">
                <a:solidFill>
                  <a:srgbClr val="FFFDFC"/>
                </a:solidFill>
              </a:defRPr>
            </a:pPr>
            <a:r>
              <a:rPr sz="2175" b="1">
                <a:solidFill>
                  <a:srgbClr val="FFFDFC"/>
                </a:solidFill>
              </a:rPr>
              <a:t>也把眼前这个孩子看见。</a:t>
            </a:r>
            <a:endParaRPr sz="2175" b="1">
              <a:solidFill>
                <a:srgbClr val="FFFD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3143250"/>
            <a:ext cx="533400" cy="47625"/>
          </a:xfrm>
          <a:prstGeom prst="rect">
            <a:avLst/>
          </a:prstGeom>
          <a:solidFill>
            <a:srgbClr val="D9829C"/>
          </a:solidFill>
          <a:ln w="0">
            <a:noFill/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3524250"/>
            <a:ext cx="285750" cy="285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028700" y="34671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FFFDFC"/>
                </a:solidFill>
              </a:defRPr>
            </a:pPr>
            <a:r>
              <a:rPr sz="1275" b="1">
                <a:solidFill>
                  <a:srgbClr val="FFFDFC"/>
                </a:solidFill>
              </a:rPr>
              <a:t>学得懂</a:t>
            </a:r>
            <a:endParaRPr sz="1275" b="1">
              <a:solidFill>
                <a:srgbClr val="FFFDFC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05050" y="3524250"/>
            <a:ext cx="285750" cy="285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2705100" y="34671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FFFDFC"/>
                </a:solidFill>
              </a:defRPr>
            </a:pPr>
            <a:r>
              <a:rPr sz="1275" b="1">
                <a:solidFill>
                  <a:srgbClr val="FFFDFC"/>
                </a:solidFill>
              </a:rPr>
              <a:t>看得远</a:t>
            </a:r>
            <a:endParaRPr sz="1275" b="1">
              <a:solidFill>
                <a:srgbClr val="FFFDFC"/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1450" y="3524250"/>
            <a:ext cx="285750" cy="2857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4381500" y="34671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FFFDFC"/>
                </a:solidFill>
              </a:defRPr>
            </a:pPr>
            <a:r>
              <a:rPr sz="1275" b="1">
                <a:solidFill>
                  <a:srgbClr val="FFFDFC"/>
                </a:solidFill>
              </a:rPr>
              <a:t>被看见</a:t>
            </a:r>
            <a:endParaRPr sz="1275" b="1">
              <a:solidFill>
                <a:srgbClr val="FFFDF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43434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FFFDFC"/>
                </a:solidFill>
              </a:defRPr>
            </a:pPr>
            <a:r>
              <a:rPr sz="2550" b="1">
                <a:solidFill>
                  <a:srgbClr val="FFFDFC"/>
                </a:solidFill>
              </a:rPr>
              <a:t>这不是一次回答。</a:t>
            </a:r>
            <a:endParaRPr sz="2550" b="1">
              <a:solidFill>
                <a:srgbClr val="FFFD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4991100"/>
            <a:ext cx="5334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D9DFE8"/>
                </a:solidFill>
              </a:defRPr>
            </a:pPr>
            <a:r>
              <a:rPr sz="1725" b="1">
                <a:solidFill>
                  <a:srgbClr val="D9DFE8"/>
                </a:solidFill>
              </a:rPr>
              <a:t>这是一段教学的继续，</a:t>
            </a:r>
            <a:endParaRPr sz="1725" b="1">
              <a:solidFill>
                <a:srgbClr val="D9DFE8"/>
              </a:solidFill>
            </a:endParaRPr>
          </a:p>
          <a:p>
            <a:pPr algn="l">
              <a:buNone/>
              <a:defRPr sz="1725" b="1">
                <a:solidFill>
                  <a:srgbClr val="D9DFE8"/>
                </a:solidFill>
              </a:defRPr>
            </a:pPr>
            <a:r>
              <a:rPr sz="1725" b="1">
                <a:solidFill>
                  <a:srgbClr val="D9DFE8"/>
                </a:solidFill>
              </a:rPr>
              <a:t>也是技术向善的一种选择。</a:t>
            </a:r>
            <a:endParaRPr sz="1725" b="1">
              <a:solidFill>
                <a:srgbClr val="D9DFE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62103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AAB5C6"/>
                </a:solidFill>
              </a:defRPr>
            </a:pPr>
            <a:r>
              <a:rPr sz="975" b="0">
                <a:solidFill>
                  <a:srgbClr val="AAB5C6"/>
                </a:solidFill>
              </a:rPr>
              <a:t>Understand the learner. Evolve the teacher.</a:t>
            </a:r>
            <a:endParaRPr sz="975" b="0">
              <a:solidFill>
                <a:srgbClr val="AAB5C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27800" y="6858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DCE2ED"/>
                </a:solidFill>
              </a:defRPr>
            </a:pPr>
            <a:r>
              <a:rPr sz="1800" b="1">
                <a:solidFill>
                  <a:srgbClr val="DCE2ED"/>
                </a:solidFill>
                <a:latin typeface="华文楷体" panose="02010600040101010101" charset="-122"/>
                <a:ea typeface="华文楷体" panose="02010600040101010101" charset="-122"/>
              </a:rPr>
              <a:t>爱弥儿：持续更新的乡村教育智能体</a:t>
            </a:r>
            <a:endParaRPr sz="1800" b="1">
              <a:solidFill>
                <a:srgbClr val="DCE2ED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2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3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4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5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6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7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8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9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0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1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2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3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4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5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6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7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ags/tag18.xml><?xml version="1.0" encoding="utf-8"?>
<p:tagLst xmlns:p="http://schemas.openxmlformats.org/presentationml/2006/main">
  <p:tag name="KSO_WM_DIAGRAM_VIRTUALLY_FRAME" val="{&quot;height&quot;:327,&quot;left&quot;:45,&quot;top&quot;:126,&quot;width&quot;:88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4705</Words>
  <Application>WPS 演示</Application>
  <PresentationFormat>Converted Presentation</PresentationFormat>
  <Paragraphs>788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华文楷体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书玉</cp:lastModifiedBy>
  <cp:revision>3</cp:revision>
  <dcterms:created xsi:type="dcterms:W3CDTF">2026-08-12T09:57:00Z</dcterms:created>
  <dcterms:modified xsi:type="dcterms:W3CDTF">2026-08-13T03:36:12Z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20A35AE80A664857AB756E9AA57F8405_13</vt:lpwstr>
  </property>
</Properties>
</file>