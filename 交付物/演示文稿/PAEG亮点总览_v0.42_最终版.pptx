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1097280"/>
            <a:ext cx="3657600" cy="36576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0"/>
            <a:ext cx="1828800" cy="18288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0" y="4572000"/>
            <a:ext cx="548640" cy="54864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0" y="4937760"/>
            <a:ext cx="274320" cy="27432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914400" y="5486400"/>
            <a:ext cx="2286000" cy="22860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2C39A"/>
                </a:solidFill>
                <a:latin typeface="Consolas"/>
                <a:eastAsia typeface="Consolas"/>
                <a:cs typeface="Consolas"/>
                <a:ascii typeface="Consolas"/>
                <a:hAnsi typeface="Consolas"/>
              </a:rPr>
              <a:t>PAEG · Education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5156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PAEG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新一代教育智能体解决方案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2C39A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投资人版 · v0.42 关键节点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89120"/>
            <a:ext cx="10058400" cy="1463040"/>
          </a:xfrm>
          <a:prstGeom prst="rect">
            <a:avLst/>
          </a:prstGeom>
          <a:solidFill>
            <a:srgbClr val="103252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2628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2C39A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一句话定位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92040"/>
            <a:ext cx="96012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不是给 LLM 套一个聊天框，而是为教育重新设计 Agent 架构——
让智能体指挥大模型完成教学的全过程。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6126480"/>
            <a:ext cx="1828800" cy="41148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提示词模板引擎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6126480"/>
            <a:ext cx="1828800" cy="41148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学段联动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6126480"/>
            <a:ext cx="1828800" cy="411480"/>
          </a:xfrm>
          <a:prstGeom prst="round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模式短路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6126480"/>
            <a:ext cx="1828800" cy="41148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PPT 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02C39A"/>
                </a:solidFill>
                <a:latin typeface="Consolas"/>
                <a:eastAsia typeface="Consolas"/>
                <a:cs typeface="Consolas"/>
                <a:ascii typeface="Consolas"/>
                <a:hAnsi typeface="Consolas"/>
              </a:rPr>
              <a:t>2026 · Sisyphus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2C39A"/>
                </a:solidFill>
                <a:latin typeface="Consolas"/>
                <a:eastAsia typeface="Consolas"/>
                <a:cs typeface="Consolas"/>
                <a:ascii typeface="Consolas"/>
                <a:hAnsi typeface="Consolas"/>
              </a:rPr>
              <a:t>01 · 为什么是现在？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教育 AI 正处于从「工具」到「教师」的临界点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4572000" cy="2103120"/>
          </a:xfrm>
          <a:prstGeom prst="round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00" b="1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4206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2C39A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市场的真问题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420624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"没有懂我的老师"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4206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CBD5E1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家长与学生最痛的，不是没答案，是没陪伴。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55448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通用 AI 教育产品的四大缺口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965960"/>
            <a:ext cx="1371600" cy="45720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教学法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01168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直接给答案，不问学生懂了没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2468880"/>
            <a:ext cx="1371600" cy="45720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过程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51460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一次性输出，无阶段、无反馈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2971800"/>
            <a:ext cx="1371600" cy="45720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评估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01752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只管输出，不管掌握程度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3474720"/>
            <a:ext cx="1371600" cy="45720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陪伴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52044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模板化安慰，没有人格、没有记忆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112471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市场数据 · 赛道已经验证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572000"/>
            <a:ext cx="274320" cy="2743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52628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2809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付费意愿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46320"/>
            <a:ext cx="256032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Khanmigo
Duolingo</a:t>
            </a:r>
          </a:p>
        </p:txBody>
      </p:sp>
      <p:sp>
        <p:nvSpPr>
          <p:cNvPr id="24" name="Oval 23"/>
          <p:cNvSpPr/>
          <p:nvPr/>
        </p:nvSpPr>
        <p:spPr>
          <a:xfrm>
            <a:off x="3566160" y="4572000"/>
            <a:ext cx="274320" cy="27432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0" y="452628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0A896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核心痛点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846320"/>
            <a:ext cx="256032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个性化
有陪伴 · 记住学生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4572000"/>
            <a:ext cx="274320" cy="27432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452628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2C39A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市场空白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846320"/>
            <a:ext cx="256032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博雅教育
人文/哲学/批判思维</a:t>
            </a:r>
          </a:p>
        </p:txBody>
      </p:sp>
      <p:sp>
        <p:nvSpPr>
          <p:cNvPr id="30" name="Oval 29"/>
          <p:cNvSpPr/>
          <p:nvPr/>
        </p:nvSpPr>
        <p:spPr>
          <a:xfrm>
            <a:off x="9235440" y="4572000"/>
            <a:ext cx="274320" cy="27432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452628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PAEG 切入点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4846320"/>
            <a:ext cx="256032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用 Agent 架构
把「教学」结构化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38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PAEG · 投资人版 v0.42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8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2C39A"/>
                </a:solidFill>
                <a:latin typeface="Consolas"/>
                <a:eastAsia typeface="Consolas"/>
                <a:cs typeface="Consolas"/>
                <a:ascii typeface="Consolas"/>
                <a:hAnsi typeface="Consolas"/>
              </a:rPr>
              <a:t>02 · 完整教学循环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不是聊天，是教学——六阶段闭环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30175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6B738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之前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0175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EF4F4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一次性问答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3017520" cy="3200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"什么是导数？"
→ LLM 输出定义
→ 学生关掉页面
→ 学没学会？
   不知道。
→ 教学结束。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31920" y="3657600"/>
            <a:ext cx="640080" cy="457200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310896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28090"/>
                </a:solidFill>
                <a:latin typeface="Consolas"/>
                <a:eastAsia typeface="Consolas"/>
                <a:cs typeface="Consolas"/>
                <a:ascii typeface="Consolas"/>
                <a:hAnsi typeface="Consolas"/>
              </a:rPr>
              <a:t>PAEG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645920"/>
            <a:ext cx="69494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6B738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之后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011680"/>
            <a:ext cx="69494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2809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六阶段闭环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2697480"/>
            <a:ext cx="21031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46320" y="2788920"/>
            <a:ext cx="411480" cy="4114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46320" y="2788920"/>
            <a:ext cx="411480" cy="4114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83464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诊断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291840"/>
            <a:ext cx="18288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738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判断学生基础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2697480"/>
            <a:ext cx="21031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23760" y="2788920"/>
            <a:ext cx="411480" cy="4114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223760" y="2788920"/>
            <a:ext cx="411480" cy="4114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283464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计划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3291840"/>
            <a:ext cx="18288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738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学科风格+学段定制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2697480"/>
            <a:ext cx="21031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0" y="2788920"/>
            <a:ext cx="411480" cy="41148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01200" y="2788920"/>
            <a:ext cx="411480" cy="41148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283464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呈现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3291840"/>
            <a:ext cx="18288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738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分步讲解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0" y="4114800"/>
            <a:ext cx="21031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46320" y="4206240"/>
            <a:ext cx="411480" cy="41148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46320" y="4206240"/>
            <a:ext cx="411480" cy="41148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425196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评估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4709160"/>
            <a:ext cx="18288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738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判断是否真懂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0" y="4114800"/>
            <a:ext cx="21031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223760" y="4206240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223760" y="4206240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6680" y="425196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调整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4709160"/>
            <a:ext cx="18288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738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不懂就换讲法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09760" y="4114800"/>
            <a:ext cx="21031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601200" y="4206240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601200" y="4206240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04120" y="425196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反思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4709160"/>
            <a:ext cx="18288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738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沉淀经验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10515600" y="2697480"/>
            <a:ext cx="1097280" cy="320040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ight Arrow 44"/>
          <p:cNvSpPr/>
          <p:nvPr/>
        </p:nvSpPr>
        <p:spPr>
          <a:xfrm>
            <a:off x="10515600" y="4114800"/>
            <a:ext cx="1097280" cy="320040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6B738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评估用确定性启发式（可复现、不随机），LLM 只负责最擅长的「讲解」。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38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PAEG · 投资人版 v0.42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8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2C39A"/>
                </a:solidFill>
                <a:latin typeface="Consolas"/>
                <a:eastAsia typeface="Consolas"/>
                <a:cs typeface="Consolas"/>
                <a:ascii typeface="Consolas"/>
                <a:hAnsi typeface="Consolas"/>
              </a:rPr>
              <a:t>03 · 9 子代理架构 + 学段学科联动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LLM 只做擅长的事，9 个专职 subagent 分工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PAEG 持有 9 个子代理（v0.25 升级）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1783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1783080" cy="7315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1600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Diagnostor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600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2809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诊断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06040"/>
            <a:ext cx="1600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B7380"/>
                </a:solidFill>
                <a:latin typeface="Consolas"/>
                <a:eastAsia typeface="Consolas"/>
                <a:cs typeface="Consolas"/>
                <a:ascii typeface="Consolas"/>
                <a:hAnsi typeface="Consolas"/>
              </a:rPr>
              <a:t>subagent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19" y="1828800"/>
            <a:ext cx="1783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31719" y="1828800"/>
            <a:ext cx="1783080" cy="7315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59" y="1965960"/>
            <a:ext cx="1600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Planner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59" y="2286000"/>
            <a:ext cx="1600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2809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计划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59" y="2606040"/>
            <a:ext cx="1600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B7380"/>
                </a:solidFill>
                <a:latin typeface="Consolas"/>
                <a:eastAsia typeface="Consolas"/>
                <a:cs typeface="Consolas"/>
                <a:ascii typeface="Consolas"/>
                <a:hAnsi typeface="Consolas"/>
              </a:rPr>
              <a:t>subagent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39" y="1828800"/>
            <a:ext cx="1783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39" y="1828800"/>
            <a:ext cx="1783080" cy="7315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79" y="1965960"/>
            <a:ext cx="1600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Presenter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79" y="2286000"/>
            <a:ext cx="1600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0A896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讲解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79" y="2606040"/>
            <a:ext cx="1600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B7380"/>
                </a:solidFill>
                <a:latin typeface="Consolas"/>
                <a:eastAsia typeface="Consolas"/>
                <a:cs typeface="Consolas"/>
                <a:ascii typeface="Consolas"/>
                <a:hAnsi typeface="Consolas"/>
              </a:rPr>
              <a:t>subagent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971800"/>
            <a:ext cx="1783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971800"/>
            <a:ext cx="1783080" cy="7315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108960"/>
            <a:ext cx="1600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Evaluator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429000"/>
            <a:ext cx="1600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0A896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评估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749040"/>
            <a:ext cx="1600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B7380"/>
                </a:solidFill>
                <a:latin typeface="Consolas"/>
                <a:eastAsia typeface="Consolas"/>
                <a:cs typeface="Consolas"/>
                <a:ascii typeface="Consolas"/>
                <a:hAnsi typeface="Consolas"/>
              </a:rPr>
              <a:t>subagent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31719" y="2971800"/>
            <a:ext cx="1783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31719" y="2971800"/>
            <a:ext cx="1783080" cy="7315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23159" y="3108960"/>
            <a:ext cx="1600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Adapter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59" y="3429000"/>
            <a:ext cx="1600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2C39A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调整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59" y="3749040"/>
            <a:ext cx="1600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B7380"/>
                </a:solidFill>
                <a:latin typeface="Consolas"/>
                <a:eastAsia typeface="Consolas"/>
                <a:cs typeface="Consolas"/>
                <a:ascii typeface="Consolas"/>
                <a:hAnsi typeface="Consolas"/>
              </a:rPr>
              <a:t>subagent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39" y="2971800"/>
            <a:ext cx="1783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06239" y="2971800"/>
            <a:ext cx="1783080" cy="7315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79" y="3108960"/>
            <a:ext cx="1600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AnswerSolver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79" y="3429000"/>
            <a:ext cx="1600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2C39A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找答案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79" y="3749040"/>
            <a:ext cx="1600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B7380"/>
                </a:solidFill>
                <a:latin typeface="Consolas"/>
                <a:eastAsia typeface="Consolas"/>
                <a:cs typeface="Consolas"/>
                <a:ascii typeface="Consolas"/>
                <a:hAnsi typeface="Consolas"/>
              </a:rPr>
              <a:t>subagent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114800"/>
            <a:ext cx="1783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4114800"/>
            <a:ext cx="1783080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251960"/>
            <a:ext cx="1600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AffectionSupportor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572000"/>
            <a:ext cx="1600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7C3AED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情绪陪伴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892040"/>
            <a:ext cx="1600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B7380"/>
                </a:solidFill>
                <a:latin typeface="Consolas"/>
                <a:eastAsia typeface="Consolas"/>
                <a:cs typeface="Consolas"/>
                <a:ascii typeface="Consolas"/>
                <a:hAnsi typeface="Consolas"/>
              </a:rPr>
              <a:t>subagent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331719" y="4114800"/>
            <a:ext cx="1783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F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331719" y="4114800"/>
            <a:ext cx="1783080" cy="73152"/>
          </a:xfrm>
          <a:prstGeom prst="rect">
            <a:avLst/>
          </a:prstGeom>
          <a:solidFill>
            <a:srgbClr val="EF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23159" y="4251960"/>
            <a:ext cx="1600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SelfUpdateAgent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59" y="4572000"/>
            <a:ext cx="1600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F4F4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自我更新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59" y="4892040"/>
            <a:ext cx="1600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B7380"/>
                </a:solidFill>
                <a:latin typeface="Consolas"/>
                <a:eastAsia typeface="Consolas"/>
                <a:cs typeface="Consolas"/>
                <a:ascii typeface="Consolas"/>
                <a:hAnsi typeface="Consolas"/>
              </a:rPr>
              <a:t>subagent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06239" y="4114800"/>
            <a:ext cx="1783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06239" y="4114800"/>
            <a:ext cx="178308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97679" y="4251960"/>
            <a:ext cx="1600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Individuality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97679" y="4572000"/>
            <a:ext cx="1600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9E0B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个体化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97679" y="4892040"/>
            <a:ext cx="1600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B7380"/>
                </a:solidFill>
                <a:latin typeface="Consolas"/>
                <a:eastAsia typeface="Consolas"/>
                <a:cs typeface="Consolas"/>
                <a:ascii typeface="Consolas"/>
                <a:hAnsi typeface="Consolas"/>
              </a:rPr>
              <a:t>subagent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学段-学科联动（v0.25 修复）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0" y="1828800"/>
            <a:ext cx="12801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192024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02809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初中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233172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12 学科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818120" y="1828800"/>
            <a:ext cx="12801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18120" y="192024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00A896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高中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18120" y="233172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22 学科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235440" y="1828800"/>
            <a:ext cx="12801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35440" y="192024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02C39A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本科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35440" y="233172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28 学科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652760" y="1828800"/>
            <a:ext cx="12801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652760" y="192024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59E0B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考研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52760" y="233172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2 学科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0" y="2971800"/>
            <a:ext cx="5486400" cy="1463040"/>
          </a:xfrm>
          <a:prstGeom prst="roundRect">
            <a:avLst/>
          </a:prstGeom>
          <a:solidFill>
            <a:srgbClr val="E6FFF5"/>
          </a:solidFill>
          <a:ln w="127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83680" y="306324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A896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角落组合修复 · SUBJECT_MIN_GRADE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0" y="3429000"/>
            <a:ext cx="51206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高中生问「语言学」 → 自动拦截并提示「该学科需本科及以上学段，
可切换学段」——而不是误报「未收录」。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00800" y="4617720"/>
            <a:ext cx="54864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83680" y="470916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特殊组合 · 考研 + 法语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83680" y="5074920"/>
            <a:ext cx="512064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考研政治 + 考研外语 互不冲突；前端菜单按学段动态过滤，
学科边界 = 学段秩序，不再是孤立的知识点。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38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PAEG · 投资人版 v0.42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8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2C39A"/>
                </a:solidFill>
                <a:latin typeface="Consolas"/>
                <a:eastAsia typeface="Consolas"/>
                <a:cs typeface="Consolas"/>
                <a:ascii typeface="Consolas"/>
                <a:hAnsi typeface="Consolas"/>
              </a:rPr>
              <a:t>04 · 个体化因材施教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17 维正交画像 · 每一位学生都被记住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4114800" cy="210312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00" b="1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CF0EB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正交画像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749039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17 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CCF0EB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身份 / VARK / 掌握状态 / 价值观 / 母语 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40480"/>
            <a:ext cx="4114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LLM 增量建模 + 持久化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389120"/>
            <a:ext cx="164592" cy="164592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对话/自我介绍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800600"/>
            <a:ext cx="164592" cy="164592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LLM 抽取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5212080"/>
            <a:ext cx="164592" cy="164592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66360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画像更新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623560"/>
            <a:ext cx="164592" cy="164592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577840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持久化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141732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五层注入 · inject_control（语言 / 风格 / 深度 / 节奏 / 情绪）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1828800"/>
            <a:ext cx="320040" cy="6400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1828800"/>
            <a:ext cx="11887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语言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1828800"/>
            <a:ext cx="50292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母语选择 + 术语处理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2606040"/>
            <a:ext cx="320040" cy="64008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2606040"/>
            <a:ext cx="11887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风格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606040"/>
            <a:ext cx="50292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亲切 / 严谨 / 启发式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3383280"/>
            <a:ext cx="320040" cy="64008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49240" y="3383280"/>
            <a:ext cx="11887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深度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383280"/>
            <a:ext cx="50292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初识 / 进阶 / 拓展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4160520"/>
            <a:ext cx="320040" cy="640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9240" y="4160520"/>
            <a:ext cx="11887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节奏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160520"/>
            <a:ext cx="50292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分步 / 总分 / 案例先行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0" y="4937760"/>
            <a:ext cx="320040" cy="640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49240" y="4937760"/>
            <a:ext cx="11887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情绪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937760"/>
            <a:ext cx="50292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情绪稳定 + 鼓励 / 稳重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37760" y="5715000"/>
            <a:ext cx="6858000" cy="4572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5760720"/>
            <a:ext cx="6583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59E0B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动态扩展：add_dimension() 支持加到第 18 / 19 维，不止固定 16 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38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PAEG · 投资人版 v0.42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8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2C39A"/>
                </a:solidFill>
                <a:latin typeface="Consolas"/>
                <a:eastAsia typeface="Consolas"/>
                <a:cs typeface="Consolas"/>
                <a:ascii typeface="Consolas"/>
                <a:hAnsi typeface="Consolas"/>
              </a:rPr>
              <a:t>05 · 立德树人 · AffectionSupportor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德才兼备双支柱——先成人，后成才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1247120" cy="640080"/>
          </a:xfrm>
          <a:prstGeom prst="round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CCF0EB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通用 AI 教育只能做到「才」（知识传授）；PAEG 还要做到「德」（品格陪伴）。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10698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2C39A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Individuality 因材施教   ×   AffectionSupportor 立德树人   =   德才兼备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哲学三角 · 不教不答不解决，以注意力陪伴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743200"/>
            <a:ext cx="822960" cy="82296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83464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胡塞尔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2004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2809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现象学悬置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703320"/>
            <a:ext cx="822960" cy="82296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7947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薇依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16052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0A896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注意力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663440"/>
            <a:ext cx="822960" cy="82296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75488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尼采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12064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2C39A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自我克服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623560"/>
            <a:ext cx="5212080" cy="5029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687568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7C3AED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生命现象学：约纳斯 / 梅洛-庞蒂 / 海德格尔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2860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F4F4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危机协议 · 钩子先行（v0.24 修复）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743200"/>
            <a:ext cx="548640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63640" y="2880360"/>
            <a:ext cx="320040" cy="320040"/>
          </a:xfrm>
          <a:prstGeom prst="ellipse">
            <a:avLst/>
          </a:prstGeom>
          <a:solidFill>
            <a:srgbClr val="EF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63640" y="2880360"/>
            <a:ext cx="320040" cy="320040"/>
          </a:xfrm>
          <a:prstGeom prst="ellipse">
            <a:avLst/>
          </a:prstGeom>
          <a:solidFill>
            <a:srgbClr val="EF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7889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F4F4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检测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2816352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自伤 / 自杀信号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3429000"/>
            <a:ext cx="548640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63640" y="3566160"/>
            <a:ext cx="320040" cy="320040"/>
          </a:xfrm>
          <a:prstGeom prst="ellipse">
            <a:avLst/>
          </a:prstGeom>
          <a:solidFill>
            <a:srgbClr val="EF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63640" y="3566160"/>
            <a:ext cx="320040" cy="320040"/>
          </a:xfrm>
          <a:prstGeom prst="ellipse">
            <a:avLst/>
          </a:prstGeom>
          <a:solidFill>
            <a:srgbClr val="EF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4747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F4F4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先回应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3502152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LLM 完整回应用户说的话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4114800"/>
            <a:ext cx="548640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63640" y="425196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263640" y="425196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4160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9E0B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再关怀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4187952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12356 热线 + 现实陪伴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0" y="4800600"/>
            <a:ext cx="548640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263640" y="4937760"/>
            <a:ext cx="320040" cy="320040"/>
          </a:xfrm>
          <a:prstGeom prst="ellipse">
            <a:avLst/>
          </a:prstGeom>
          <a:solidFill>
            <a:srgbClr val="6B7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263640" y="4937760"/>
            <a:ext cx="320040" cy="320040"/>
          </a:xfrm>
          <a:prstGeom prst="ellipse">
            <a:avLst/>
          </a:prstGeom>
          <a:solidFill>
            <a:srgbClr val="6B7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48463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6B738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不机械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4873752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用户拒绝后尊重选择，不再重复提示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26480" y="5532120"/>
            <a:ext cx="5486400" cy="594360"/>
          </a:xfrm>
          <a:prstGeom prst="roundRect">
            <a:avLst/>
          </a:prstGeom>
          <a:solidFill>
            <a:srgbClr val="E6FFF5"/>
          </a:solidFill>
          <a:ln w="127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5596128"/>
            <a:ext cx="5120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0A896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原则宪法：memory/AffectionSAPAO.md（不美化、不粉饰、不虚构安慰）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38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PAEG · 投资人版 v0.42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8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2C39A"/>
                </a:solidFill>
                <a:latin typeface="Consolas"/>
                <a:eastAsia typeface="Consolas"/>
                <a:cs typeface="Consolas"/>
                <a:ascii typeface="Consolas"/>
                <a:hAnsi typeface="Consolas"/>
              </a:rPr>
              <a:t>06 · 多层意图路由 + 模式短路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判断成本分层：确定性信号 &gt; 规则 &gt; 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三层路由架构 · v0.41.6 模式短路落地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74519"/>
            <a:ext cx="86868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228600" cy="11430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84247"/>
            <a:ext cx="7772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2809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L1 · 确定性信号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19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用户选了「闲聊 / 教学 / 情绪 / 知识库」？直接走对应意图（conf 0.95，LLM 零调用）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2057399"/>
            <a:ext cx="1463040" cy="77724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免费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1874519"/>
            <a:ext cx="14630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1">
                <a:solidFill>
                  <a:srgbClr val="6B738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100% 确定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54679"/>
            <a:ext cx="86868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154679"/>
            <a:ext cx="228600" cy="1143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64407"/>
            <a:ext cx="7772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0A896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L2 · 规则判断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11879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meta_router + self_referential + Steering；问「考研政治」自动切学科、粘贴长文区分指令/资料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0" y="3337559"/>
            <a:ext cx="1463040" cy="77724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廉价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3154679"/>
            <a:ext cx="14630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1">
                <a:solidFill>
                  <a:srgbClr val="6B738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关键词 / 正则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434839"/>
            <a:ext cx="86868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434839"/>
            <a:ext cx="228600" cy="11430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44567"/>
            <a:ext cx="7772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2C39A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L3 · LLM 优先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892039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14 意图选项由 LLM 综合判断（教学/闲聊/推荐/方法/倾诉…）；规则只兜底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4617719"/>
            <a:ext cx="1463040" cy="777240"/>
          </a:xfrm>
          <a:prstGeom prst="round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昂贵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4434839"/>
            <a:ext cx="14630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1">
                <a:solidFill>
                  <a:srgbClr val="6B738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答非所问场景识别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760720"/>
            <a:ext cx="11247120" cy="502920"/>
          </a:xfrm>
          <a:prstGeom prst="roundRect">
            <a:avLst/>
          </a:prstGeom>
          <a:solidFill>
            <a:srgbClr val="E6FFF5"/>
          </a:solidFill>
          <a:ln w="127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824728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0A896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关键收益：用户零学习成本——不必切模式，PAEG 自动判断该做什么；LLM 调用次数显著下降。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38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PAEG · 投资人版 v0.42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8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2C39A"/>
                </a:solidFill>
                <a:latin typeface="Consolas"/>
                <a:eastAsia typeface="Consolas"/>
                <a:cs typeface="Consolas"/>
                <a:ascii typeface="Consolas"/>
                <a:hAnsi typeface="Consolas"/>
              </a:rPr>
              <a:t>07 · ⭐ v0.42 关键演进：提示词模板引擎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430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从「散落拼接」到「确定性工程制品」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840480" cy="1828800"/>
          </a:xfrm>
          <a:prstGeom prst="roundRect">
            <a:avLst/>
          </a:prstGeom>
          <a:solidFill>
            <a:srgbClr val="FDECEA"/>
          </a:solidFill>
          <a:ln w="12700">
            <a:solidFill>
              <a:srgbClr val="EF4F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3474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F4F4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❌ 之前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30+ 处散落拼接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34747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system = system + "
" + X 遍布 server.py / subagents.py
注入顺序由代码书写顺序决定
随迭代漂移无法审计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83280"/>
            <a:ext cx="3840480" cy="1828800"/>
          </a:xfrm>
          <a:prstGeom prst="roundRect">
            <a:avLst/>
          </a:prstGeom>
          <a:solidFill>
            <a:srgbClr val="E6FFF5"/>
          </a:solidFill>
          <a:ln w="127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3474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A896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✅ 现在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固定模板 + 动态槽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43400"/>
            <a:ext cx="34747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render_prompt() / render_dynamic_slots()
确定性输出 · 幂等
新增上下文只需加一个槽位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349240"/>
            <a:ext cx="3840480" cy="914400"/>
          </a:xfrm>
          <a:prstGeom prst="round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413248"/>
            <a:ext cx="3474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2C39A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三层架构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60720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BD5E1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固定模板（角色/世界观）· 动态槽 · 渲染引擎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417320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⭐ 12 动态槽 · 按重要性降序排列（核心设计）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1874519"/>
            <a:ext cx="7223760" cy="3200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0" y="1874519"/>
            <a:ext cx="7223760" cy="3200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1856231"/>
            <a:ext cx="365760" cy="35661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1874519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模式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41480" y="1874519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用户选了什么模式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2231135"/>
            <a:ext cx="7223760" cy="3200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2231135"/>
            <a:ext cx="6718096" cy="3200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0" y="2212847"/>
            <a:ext cx="365760" cy="35661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2231135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学段学科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5816" y="2231135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初中 12 / 高中 22 / 本科 28 / 考研 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2587751"/>
            <a:ext cx="7223760" cy="3200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2587751"/>
            <a:ext cx="6212433" cy="3200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40" y="2569463"/>
            <a:ext cx="365760" cy="35661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587751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本次提问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30153" y="2587751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本次输入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2944367"/>
            <a:ext cx="7223760" cy="3200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0" y="2944367"/>
            <a:ext cx="5706770" cy="3200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0" y="2926079"/>
            <a:ext cx="365760" cy="35661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2944367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学习者画像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24490" y="2944367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BDI / 学段 / 目标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3300983"/>
            <a:ext cx="7223760" cy="3200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0" y="3300983"/>
            <a:ext cx="5201107" cy="3200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0" y="3282695"/>
            <a:ext cx="365760" cy="35661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3300983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个体化画像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18827" y="3300983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Individuality 17 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3657599"/>
            <a:ext cx="7223760" cy="3200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657599"/>
            <a:ext cx="4695444" cy="3200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06240" y="3639311"/>
            <a:ext cx="365760" cy="35661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3657599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用户事实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13164" y="3657599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自我介绍 / 抽取事实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0" y="4014215"/>
            <a:ext cx="7223760" cy="3200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0" y="4014215"/>
            <a:ext cx="4189780" cy="3200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06240" y="3995927"/>
            <a:ext cx="365760" cy="35661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4014215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教学记忆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07500" y="4014215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历史经验 / patches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4370831"/>
            <a:ext cx="7223760" cy="3200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0" y="4370831"/>
            <a:ext cx="3684117" cy="3200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06240" y="4352543"/>
            <a:ext cx="365760" cy="35661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370831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资料库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01837" y="4370831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KnowledgeBase + Library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0" y="4727447"/>
            <a:ext cx="7223760" cy="3200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2000" y="4727447"/>
            <a:ext cx="3178454" cy="3200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06240" y="4709159"/>
            <a:ext cx="365760" cy="35661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63440" y="4727447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用户语料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96174" y="4727447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上传文档 / 历史附件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0" y="5084063"/>
            <a:ext cx="7223760" cy="3200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572000" y="5084063"/>
            <a:ext cx="2672791" cy="3200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06240" y="5065775"/>
            <a:ext cx="365760" cy="35661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5084063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检索补充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90511" y="5084063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BM25 + 网络检索结果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0" y="5440679"/>
            <a:ext cx="7223760" cy="3200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572000" y="5440679"/>
            <a:ext cx="2167128" cy="320040"/>
          </a:xfrm>
          <a:prstGeom prst="rect">
            <a:avLst/>
          </a:prstGeom>
          <a:solidFill>
            <a:srgbClr val="6B7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06240" y="5422391"/>
            <a:ext cx="365760" cy="35661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11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63440" y="5440679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技能目录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84848" y="5440679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10 skills 可插拔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0" y="5797295"/>
            <a:ext cx="7223760" cy="3200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572000" y="5797295"/>
            <a:ext cx="1661464" cy="320040"/>
          </a:xfrm>
          <a:prstGeom prst="rect">
            <a:avLst/>
          </a:prstGeom>
          <a:solidFill>
            <a:srgbClr val="6B7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206240" y="5779007"/>
            <a:ext cx="365760" cy="35661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12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663440" y="5797295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对话历史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79184" y="5797295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近期 N 轮对话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6355080"/>
            <a:ext cx="11247120" cy="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1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约束边界 = 身份 + 上下文秩序　|　思考自由 = 回答本身——既不过分约束大模型，也充分释放效能。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38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PAEG · 投资人版 v0.42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8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2C39A"/>
                </a:solidFill>
                <a:latin typeface="Consolas"/>
                <a:eastAsia typeface="Consolas"/>
                <a:cs typeface="Consolas"/>
                <a:ascii typeface="Consolas"/>
                <a:hAnsi typeface="Consolas"/>
              </a:rPr>
              <a:t>08 · 自我进化 + 全局语言质量层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越用越懂怎么教 + 输出像人话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四路自进化（v0.25 周期调度器落地）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86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965960"/>
            <a:ext cx="411480" cy="4114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4360" y="1965960"/>
            <a:ext cx="411480" cy="4114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901952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知识蒸馏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920240"/>
            <a:ext cx="28346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成功教学入库 evolved_*.json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06040"/>
            <a:ext cx="5486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4360" y="2743200"/>
            <a:ext cx="411480" cy="41148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" y="2743200"/>
            <a:ext cx="411480" cy="41148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679192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提示词补丁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697480"/>
            <a:ext cx="28346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evolve_prompt → subject_patches.md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383280"/>
            <a:ext cx="5486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4360" y="3520440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" y="3520440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456432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工具经验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474720"/>
            <a:ext cx="28346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工具调用经验沉淀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60520"/>
            <a:ext cx="5486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4360" y="429768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" y="429768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233672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新学科需求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251960"/>
            <a:ext cx="28346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subject_addition / library_update 自动入库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074920"/>
            <a:ext cx="5486400" cy="1051560"/>
          </a:xfrm>
          <a:prstGeom prst="round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166360"/>
            <a:ext cx="5120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2C39A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🛡 质量门禁（Constitutional AI 风格）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486400"/>
            <a:ext cx="5120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BD5E1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过滤有害内容 → SelfUpdateAgent 读过滤后洞察
生成结构化改进建议 → 周期调度器落地执行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14173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三层语言质量层 · 程序化保证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1828800"/>
            <a:ext cx="5486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1828800"/>
            <a:ext cx="548640" cy="6858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1828800"/>
            <a:ext cx="548640" cy="6858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L1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1874520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2809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提示词约束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2176272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完整主谓宾 / 动宾搭配 / 介词规范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2606040"/>
            <a:ext cx="5486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2606040"/>
            <a:ext cx="548640" cy="6858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26480" y="2606040"/>
            <a:ext cx="548640" cy="6858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L2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2651760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0A896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规则检测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2953512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零 LLM 成本 · 检出残缺句 / 悬空宾语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3383280"/>
            <a:ext cx="5486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6480" y="3383280"/>
            <a:ext cx="548640" cy="6858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6480" y="3383280"/>
            <a:ext cx="548640" cy="6858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L3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3429000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2C39A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LLM 修正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3730752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保持风格地补全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26480" y="4206240"/>
            <a:ext cx="5486400" cy="1920240"/>
          </a:xfrm>
          <a:prstGeom prst="round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429768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2C39A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实测数据（v0.25 介词规范 + 话题多样化）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4709160"/>
            <a:ext cx="18288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 i="0">
                <a:solidFill>
                  <a:srgbClr val="02C39A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94%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5532120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BD5E1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病句捕获率
15/16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4709160"/>
            <a:ext cx="32004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 i="0">
                <a:solidFill>
                  <a:srgbClr val="CBD5E1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话题多样化 12/13 (92%)
句法覆盖全捕获
正确句零误报 4/4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38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PAEG · 投资人版 v0.42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8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2C39A"/>
                </a:solidFill>
                <a:latin typeface="Consolas"/>
                <a:eastAsia typeface="Consolas"/>
                <a:cs typeface="Consolas"/>
                <a:ascii typeface="Consolas"/>
                <a:hAnsi typeface="Consolas"/>
              </a:rPr>
              <a:t>09 · MCP 双向 + Skills 生态 + 文件 4 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工具标准化 + 能力可插拔 + 文件闭环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7033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703320" cy="4572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7033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MCP 双向打通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3703320" cy="1371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6000" b="1" i="0">
                <a:solidFill>
                  <a:srgbClr val="02809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3703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工具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703320"/>
            <a:ext cx="2788920" cy="1828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3154680" cy="2103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对外暴露 MCP Server
对内调用 MCP Client
web_search / verify_math /
文件系统 / 记忆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417320"/>
            <a:ext cx="37033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417320"/>
            <a:ext cx="3703320" cy="4572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463040"/>
            <a:ext cx="37033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Skills 生态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057400"/>
            <a:ext cx="3703320" cy="1371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6000" b="1" i="0">
                <a:solidFill>
                  <a:srgbClr val="00A896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246120"/>
            <a:ext cx="3703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技能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3703320"/>
            <a:ext cx="2788920" cy="1828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3840480"/>
            <a:ext cx="3154680" cy="2103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skill_registry → tool_registry
LLM 自主加载（load_skill__*）
下载成熟 skills 即插即用
pdf / docx / xlsx / teach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417320"/>
            <a:ext cx="37033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417320"/>
            <a:ext cx="3703320" cy="4572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463040"/>
            <a:ext cx="37033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文件 4 能力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057400"/>
            <a:ext cx="3703320" cy="1371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6000" b="1" i="0">
                <a:solidFill>
                  <a:srgbClr val="02C39A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BM25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246120"/>
            <a:ext cx="3703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+ jieba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3703320"/>
            <a:ext cx="2788920" cy="18288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3840480"/>
            <a:ext cx="3154680" cy="2103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无需向量数据库
155 教育术语词典
①从文件找答案
②基于文件讲解 ③输出原文
④重组文件结构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38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PAEG · 投资人版 v0.42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8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2C39A"/>
                </a:solidFill>
                <a:latin typeface="Consolas"/>
                <a:eastAsia typeface="Consolas"/>
                <a:cs typeface="Consolas"/>
                <a:ascii typeface="Consolas"/>
                <a:hAnsi typeface="Consolas"/>
              </a:rPr>
              <a:t>10 · 测试体系 + 工程化（v0.41）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从功能完整到结构优秀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27889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27889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02809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40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24231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audit 自检
全绿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463040"/>
            <a:ext cx="27889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691640"/>
            <a:ext cx="27889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00A896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71+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606040"/>
            <a:ext cx="24231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pytest 组合矩阵
4 学段 × 14 学科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27889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691640"/>
            <a:ext cx="27889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02C39A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AI + 真人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06040"/>
            <a:ext cx="24231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E2E 端到端
对话质量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463040"/>
            <a:ext cx="27889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691640"/>
            <a:ext cx="27889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F59E0B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4556 → ~4000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606040"/>
            <a:ext cx="24231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server.py
拆分 -550 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5204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A254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工程化深度（v0.41 Phase 1+2）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77639"/>
            <a:ext cx="278892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977639"/>
            <a:ext cx="2788920" cy="7315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6052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2809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模块化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0"/>
            <a:ext cx="242316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config/ utils/ infra/ services/
Phase 1+2 完成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3280" y="3977639"/>
            <a:ext cx="278892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83280" y="3977639"/>
            <a:ext cx="2788920" cy="7315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416052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A896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测试隔离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572000"/>
            <a:ext cx="242316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conftest tmp_path
并行 pytest -n auto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3977639"/>
            <a:ext cx="278892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3977639"/>
            <a:ext cx="2788920" cy="7315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16052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2C39A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安全基线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572000"/>
            <a:ext cx="242316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SECRET_KEY 环境变量
pip-audit + .gitignore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3977639"/>
            <a:ext cx="278892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35440" y="3977639"/>
            <a:ext cx="278892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416052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59E0B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决策可追溯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4572000"/>
            <a:ext cx="242316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A2E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借鉴 Flask / Kraken / llama-index
§10.2.21 写明「为什么」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38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PAEG · 投资人版 v0.42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8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5029200"/>
            <a:ext cx="3200400" cy="32004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55680" y="5486400"/>
            <a:ext cx="1371600" cy="13716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2C39A"/>
                </a:solidFill>
                <a:latin typeface="Consolas"/>
                <a:eastAsia typeface="Consolas"/>
                <a:cs typeface="Consolas"/>
                <a:ascii typeface="Consolas"/>
                <a:hAnsi typeface="Consolas"/>
              </a:rPr>
              <a:t>PAEG · 投资人版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五条竞争壁垒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2240280" cy="1554480"/>
          </a:xfrm>
          <a:prstGeom prst="roundRect">
            <a:avLst/>
          </a:prstGeom>
          <a:solidFill>
            <a:srgbClr val="103252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10312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210312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1965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28090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教学法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17520"/>
            <a:ext cx="1965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BD5E1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六阶段闭环，不是套壳 LLM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52928" y="1965960"/>
            <a:ext cx="2240280" cy="1554480"/>
          </a:xfrm>
          <a:prstGeom prst="roundRect">
            <a:avLst/>
          </a:prstGeom>
          <a:solidFill>
            <a:srgbClr val="103252"/>
          </a:solidFill>
          <a:ln w="1905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90088" y="210312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90088" y="210312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0088" y="2697480"/>
            <a:ext cx="1965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0A896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人格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3017520"/>
            <a:ext cx="1965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BD5E1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薇依式教师 + 哲学三角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1965960"/>
            <a:ext cx="2240280" cy="1554480"/>
          </a:xfrm>
          <a:prstGeom prst="roundRect">
            <a:avLst/>
          </a:prstGeom>
          <a:solidFill>
            <a:srgbClr val="103252"/>
          </a:solidFill>
          <a:ln w="1905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94376" y="210312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94376" y="210312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94376" y="2697480"/>
            <a:ext cx="1965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2C39A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自我进化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3017520"/>
            <a:ext cx="1965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BD5E1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四路自进化 + 质量门禁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61504" y="1965960"/>
            <a:ext cx="2240280" cy="1554480"/>
          </a:xfrm>
          <a:prstGeom prst="roundRect">
            <a:avLst/>
          </a:prstGeom>
          <a:solidFill>
            <a:srgbClr val="103252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98664" y="210312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98664" y="210312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98664" y="2697480"/>
            <a:ext cx="1965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59E0B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语言规范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98664" y="3017520"/>
            <a:ext cx="1965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BD5E1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程序化保证（94% 病句捕获）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65792" y="1965960"/>
            <a:ext cx="2240280" cy="1554480"/>
          </a:xfrm>
          <a:prstGeom prst="roundRect">
            <a:avLst/>
          </a:prstGeom>
          <a:solidFill>
            <a:srgbClr val="103252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02952" y="210312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02952" y="210312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02952" y="2697480"/>
            <a:ext cx="1965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7C3AED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博雅定位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2952" y="3017520"/>
            <a:ext cx="1965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BD5E1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35 学科 + 人文/哲学/批判思维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3794760"/>
            <a:ext cx="11064240" cy="1463040"/>
          </a:xfrm>
          <a:prstGeom prst="roundRect">
            <a:avLst/>
          </a:prstGeom>
          <a:solidFill>
            <a:srgbClr val="103252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388620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2C39A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技术栈一览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343400"/>
            <a:ext cx="1783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2C39A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后端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617720"/>
            <a:ext cx="17830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Python + Flask + SSE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14600" y="4343400"/>
            <a:ext cx="1783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2C39A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模型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4617720"/>
            <a:ext cx="17830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DeepSeek（OpenAI 兼容）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4343400"/>
            <a:ext cx="1783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2C39A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知识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4617720"/>
            <a:ext cx="17830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KB + Library + BM25/jieba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4343400"/>
            <a:ext cx="1783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2C39A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工具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4617720"/>
            <a:ext cx="17830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MCP 双向 + 10 skills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4343400"/>
            <a:ext cx="1783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2C39A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前端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4617720"/>
            <a:ext cx="17830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单文件 Web GUI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46920" y="4343400"/>
            <a:ext cx="1783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2C39A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部署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46920" y="4617720"/>
            <a:ext cx="17830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本地 + Cloudflare 隧道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48640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谢谢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1">
                <a:solidFill>
                  <a:srgbClr val="02C39A"/>
                </a:solidFill>
                <a:latin typeface="Microsoft YaHei"/>
                <a:eastAsia typeface="Microsoft YaHei"/>
                <a:cs typeface="Microsoft YaHei"/>
                <a:ascii typeface="Microsoft YaHei"/>
                <a:hAnsi typeface="Microsoft YaHei"/>
              </a:rPr>
              <a:t>谢谢观看 · 期待与您进一步交流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02C39A"/>
                </a:solidFill>
                <a:latin typeface="Consolas"/>
                <a:eastAsia typeface="Consolas"/>
                <a:cs typeface="Consolas"/>
                <a:ascii typeface="Consolas"/>
                <a:hAnsi typeface="Consolas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