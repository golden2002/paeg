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76200" cy="576072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PAEG · AI+EDUCATION · ROADSHOW v0.42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1">
                <a:solidFill>
                  <a:srgbClr val="FFFFFF"/>
                </a:solidFill>
                <a:latin typeface="Georgia"/>
                <a:eastAsia typeface="Georgia"/>
                <a:cs typeface="Georgia"/>
              </a:rPr>
              <a:t>PAEG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ADCFC"/>
                </a:solidFill>
                <a:latin typeface="Georgia"/>
                <a:eastAsia typeface="Georgia"/>
                <a:cs typeface="Georgia"/>
              </a:rPr>
              <a:t>Personalized Agent for Every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AI+教育 · 竞品分析与优势论证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D4A574"/>
                </a:solidFill>
                <a:latin typeface="Georgia"/>
                <a:eastAsia typeface="微软雅黑"/>
                <a:cs typeface="微软雅黑"/>
              </a:rPr>
              <a:t>让每个孩子都获得「懂他的老师」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Georgia"/>
                <a:eastAsia typeface="微软雅黑"/>
                <a:cs typeface="微软雅黑"/>
              </a:rPr>
              <a:t>Personalized Agentic Education · 人工智能 + 教育智能体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695" y="6437376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1E2761"/>
                </a:solidFill>
                <a:latin typeface="Georgia"/>
                <a:eastAsia typeface="Georgia"/>
                <a:cs typeface="Georgia"/>
              </a:rPr>
              <a:t>2026 · 路演版 v0.42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62000" cy="254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MISSION · 项目使命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需求真实存在 ≠ 需求被看见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657600" cy="3657600"/>
          </a:xfrm>
          <a:prstGeom prst="roundRect">
            <a:avLst>
              <a:gd name="adj" fmla="val 6000"/>
            </a:avLst>
          </a:prstGeom>
          <a:solidFill>
            <a:srgbClr val="29357A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377440"/>
            <a:ext cx="777240" cy="7772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777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1">
                <a:solidFill>
                  <a:srgbClr val="1E2761"/>
                </a:solidFill>
                <a:latin typeface="Georgia"/>
                <a:eastAsia typeface="Georgia"/>
                <a:cs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需求 ≠ 被看见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D4A574"/>
                </a:solidFill>
                <a:latin typeface="Georgia"/>
                <a:eastAsia typeface="微软雅黑"/>
                <a:cs typeface="微软雅黑"/>
              </a:rPr>
              <a:t>需求真实存在和需求被看见是两回事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389120"/>
            <a:ext cx="731520" cy="254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Georgia"/>
                <a:eastAsia typeface="微软雅黑"/>
                <a:cs typeface="微软雅黑"/>
              </a:rPr>
              <a:t>教育公平、博雅教育稀缺、情绪陪伴缺失</a:t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Georgia"/>
                <a:eastAsia typeface="微软雅黑"/>
                <a:cs typeface="微软雅黑"/>
              </a:rPr>
              <a:t>这些需求真实存在，却长期不被主流产品看见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2011680"/>
            <a:ext cx="3657600" cy="3657600"/>
          </a:xfrm>
          <a:prstGeom prst="roundRect">
            <a:avLst>
              <a:gd name="adj" fmla="val 6000"/>
            </a:avLst>
          </a:prstGeom>
          <a:solidFill>
            <a:srgbClr val="29357A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46319" y="2377440"/>
            <a:ext cx="777240" cy="7772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19" y="2423160"/>
            <a:ext cx="777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1">
                <a:solidFill>
                  <a:srgbClr val="1E2761"/>
                </a:solidFill>
                <a:latin typeface="Georgia"/>
                <a:eastAsia typeface="Georgia"/>
                <a:cs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19" y="333756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一箭双雕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19" y="39319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D4A574"/>
                </a:solidFill>
                <a:latin typeface="Georgia"/>
                <a:eastAsia typeface="微软雅黑"/>
                <a:cs typeface="微软雅黑"/>
              </a:rPr>
              <a:t>帮助到缺少被看到的人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19" y="4389120"/>
            <a:ext cx="731520" cy="254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19" y="457200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Georgia"/>
                <a:eastAsia typeface="微软雅黑"/>
                <a:cs typeface="微软雅黑"/>
              </a:rPr>
              <a:t>让这些需要更多地被人看见</a:t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Georgia"/>
                <a:eastAsia typeface="微软雅黑"/>
                <a:cs typeface="微软雅黑"/>
              </a:rPr>
              <a:t>项目的存在本身让社会注意到这部分需求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011680"/>
            <a:ext cx="3657600" cy="3657600"/>
          </a:xfrm>
          <a:prstGeom prst="roundRect">
            <a:avLst>
              <a:gd name="adj" fmla="val 6000"/>
            </a:avLst>
          </a:prstGeom>
          <a:solidFill>
            <a:srgbClr val="29357A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0" y="2377440"/>
            <a:ext cx="777240" cy="7772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2423160"/>
            <a:ext cx="777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1">
                <a:solidFill>
                  <a:srgbClr val="1E2761"/>
                </a:solidFill>
                <a:latin typeface="Georgia"/>
                <a:eastAsia typeface="Georgia"/>
                <a:cs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33756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社会需求 &gt; 市场需求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9319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D4A574"/>
                </a:solidFill>
                <a:latin typeface="Georgia"/>
                <a:eastAsia typeface="微软雅黑"/>
                <a:cs typeface="微软雅黑"/>
              </a:rPr>
              <a:t>英雄不问出处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0" y="4389120"/>
            <a:ext cx="731520" cy="254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457200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Georgia"/>
                <a:eastAsia typeface="微软雅黑"/>
                <a:cs typeface="微软雅黑"/>
              </a:rPr>
              <a:t>好的 idea 落地，无论出于商业还是非盈利</a:t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Georgia"/>
                <a:eastAsia typeface="微软雅黑"/>
                <a:cs typeface="微软雅黑"/>
              </a:rPr>
              <a:t>只要它是好的，就能找到自己的生存空间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D4A574"/>
                </a:solidFill>
                <a:latin typeface="Georgia"/>
                <a:eastAsia typeface="微软雅黑"/>
                <a:cs typeface="微软雅黑"/>
              </a:rPr>
              <a:t>市场并非真正的零和博弈 · 合作共赢才是更普遍也更根本的道理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08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01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市场格局 · AI+教育的四条赛道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Georgia"/>
                <a:cs typeface="Georgia"/>
              </a:rPr>
              <a:t>Market Landscape · Where we play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CADCFC"/>
                </a:solidFill>
                <a:latin typeface="Georgia"/>
                <a:eastAsia typeface="微软雅黑"/>
                <a:cs typeface="微软雅黑"/>
              </a:rPr>
              <a:t>中国 GenAI+教育 市场规模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1">
                <a:solidFill>
                  <a:srgbClr val="FFFFFF"/>
                </a:solidFill>
                <a:latin typeface="Georgia"/>
                <a:eastAsia typeface="Georgia"/>
                <a:cs typeface="Georgia"/>
              </a:rPr>
              <a:t>3442 → 8910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4A574"/>
                </a:solidFill>
                <a:latin typeface="Georgia"/>
                <a:eastAsia typeface="微软雅黑"/>
                <a:cs typeface="微软雅黑"/>
              </a:rPr>
              <a:t>亿（人民币）· 2025 → 2028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520440"/>
            <a:ext cx="3657600" cy="36576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20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Georgia"/>
                <a:eastAsia typeface="Georgia"/>
                <a:cs typeface="Georgia"/>
              </a:rPr>
              <a:t>CAGR · 37%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5A6489"/>
                </a:solidFill>
                <a:latin typeface="Georgia"/>
                <a:eastAsia typeface="微软雅黑"/>
                <a:cs typeface="微软雅黑"/>
              </a:rPr>
              <a:t>数据来源：艾瑞咨询 GenAI+教育白皮书 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55448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554480"/>
            <a:ext cx="63500" cy="1417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16916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问答工具型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1031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489"/>
                </a:solidFill>
                <a:latin typeface="Calibri"/>
                <a:eastAsia typeface="微软雅黑"/>
                <a:cs typeface="微软雅黑"/>
              </a:rPr>
              <a:t>Chegg / 豆包答疑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42316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C0392B"/>
                </a:solidFill>
                <a:latin typeface="Georgia"/>
                <a:eastAsia typeface="微软雅黑"/>
                <a:cs typeface="微软雅黑"/>
              </a:rPr>
              <a:t>被 LLM 歼灭 · Chegg 营收 -42%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155448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49640" y="1554480"/>
            <a:ext cx="63500" cy="1417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6916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导师陪伴型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1031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489"/>
                </a:solidFill>
                <a:latin typeface="Calibri"/>
                <a:eastAsia typeface="微软雅黑"/>
                <a:cs typeface="微软雅黑"/>
              </a:rPr>
              <a:t>Khanmigo / Q-Chat / Synthesis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42316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C0392B"/>
                </a:solidFill>
                <a:latin typeface="Georgia"/>
                <a:eastAsia typeface="微软雅黑"/>
                <a:cs typeface="微软雅黑"/>
              </a:rPr>
              <a:t>学生不主动提问 · 集体失败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306324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0" y="3063240"/>
            <a:ext cx="63500" cy="14173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32004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教师提效型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36118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489"/>
                </a:solidFill>
                <a:latin typeface="Calibri"/>
                <a:eastAsia typeface="微软雅黑"/>
                <a:cs typeface="微软雅黑"/>
              </a:rPr>
              <a:t>MagicSchool / 希沃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9319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2E7D32"/>
                </a:solidFill>
                <a:latin typeface="Georgia"/>
                <a:eastAsia typeface="微软雅黑"/>
                <a:cs typeface="微软雅黑"/>
              </a:rPr>
              <a:t>B 端跑通 · MagicSchool $60M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306324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9640" y="3063240"/>
            <a:ext cx="63500" cy="1417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32004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内容生成型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6118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489"/>
                </a:solidFill>
                <a:latin typeface="Calibri"/>
                <a:eastAsia typeface="微软雅黑"/>
                <a:cs typeface="微软雅黑"/>
              </a:rPr>
              <a:t>作业帮 / 学而思 / 讯飞 / 松鼠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9319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1E2761"/>
                </a:solidFill>
                <a:latin typeface="Georgia"/>
                <a:eastAsia typeface="微软雅黑"/>
                <a:cs typeface="微软雅黑"/>
              </a:rPr>
              <a:t>应试导向 · 内容为王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6489"/>
                </a:solidFill>
                <a:latin typeface="Calibri"/>
                <a:eastAsia typeface="Calibri"/>
                <a:cs typeface="Calibr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08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02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海外竞品（上）：导师陪伴型集体踩坑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Georgia"/>
                <a:cs typeface="Georgia"/>
              </a:rPr>
              <a:t>Overseas · Khanmigo &amp; Duolingo Max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5778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57784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01 · Khanmigo（可汗学院）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557784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创始人自曝「非事件」 · 状态红牌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微软雅黑"/>
                <a:cs typeface="微软雅黑"/>
              </a:rPr>
              <a:t>技术路线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260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GPT-4o + 强制上下文检索 + 教学基准集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微软雅黑"/>
                <a:cs typeface="微软雅黑"/>
              </a:rPr>
              <a:t>核心功能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苏格拉底引导 / 拒绝直接给答案 / 写作教练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89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微软雅黑"/>
                <a:cs typeface="微软雅黑"/>
              </a:rPr>
              <a:t>商业模式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$4/月 · $44/年 · 学区 $15/学生 · 教师免费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25780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5257800"/>
            <a:ext cx="50800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3095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C0392B"/>
                </a:solidFill>
                <a:latin typeface="Georgia"/>
                <a:eastAsia typeface="Georgia"/>
                <a:cs typeface="Georgia"/>
              </a:rPr>
              <a:t>✗ 失败模式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62356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学生不主动提问 · Khan 自己承认「学生不擅长提问」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60020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1600200"/>
            <a:ext cx="548640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64592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02 · Duolingo Max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103120"/>
            <a:ext cx="5486400" cy="365760"/>
          </a:xfrm>
          <a:prstGeom prst="rect">
            <a:avLst/>
          </a:prstGeom>
          <a:solidFill>
            <a:srgbClr val="E89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AI 层下放至低价层 · 状态橙牌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651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微软雅黑"/>
                <a:cs typeface="微软雅黑"/>
              </a:rPr>
              <a:t>技术路线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926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Birdbrain ML 自适应 + GPT-4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微软雅黑"/>
                <a:cs typeface="微软雅黑"/>
              </a:rPr>
              <a:t>核心功能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794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Explain My Answer / Roleplay / Video Call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389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微软雅黑"/>
                <a:cs typeface="微软雅黑"/>
              </a:rPr>
              <a:t>商业模式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663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$168/年 · Super Duolingo 订阅增值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525780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0" y="5257800"/>
            <a:ext cx="50800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533095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C0392B"/>
                </a:solidFill>
                <a:latin typeface="Georgia"/>
                <a:eastAsia typeface="Georgia"/>
                <a:cs typeface="Georgia"/>
              </a:rPr>
              <a:t>✗ 失败模式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62356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AI 层被下放至低价层 · 高价 AI 功能或关停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52160"/>
            <a:ext cx="11292840" cy="548640"/>
          </a:xfrm>
          <a:prstGeom prst="roundRect">
            <a:avLst>
              <a:gd name="adj" fmla="val 6000"/>
            </a:avLst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852160"/>
            <a:ext cx="11292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Georgia"/>
                <a:eastAsia typeface="微软雅黑"/>
                <a:cs typeface="微软雅黑"/>
              </a:rPr>
              <a:t>共同败因：被动等待学生提问 → 没有「诊断-驱动」的主动闭环，AI 再强也无用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7729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6489"/>
                </a:solidFill>
                <a:latin typeface="Calibri"/>
                <a:eastAsia typeface="Calibri"/>
                <a:cs typeface="Calibr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08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03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海外竞品（下）：唯一成功与集体阵亡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Georgia"/>
                <a:cs typeface="Georgia"/>
              </a:rPr>
              <a:t>Overseas · What works &amp; what dies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78892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2788920" cy="594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1">
                <a:solidFill>
                  <a:srgbClr val="FFFFFF"/>
                </a:solidFill>
                <a:latin typeface="Georgia"/>
                <a:eastAsia typeface="Georgia"/>
                <a:cs typeface="Georgia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6002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Coursera Coach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A6489"/>
                </a:solidFill>
                <a:latin typeface="Georgia"/>
                <a:eastAsia typeface="Georgia"/>
                <a:cs typeface="Georgia"/>
              </a:rPr>
              <a:t>技术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LLM + 课程 RAG 接地（26 语言）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A6489"/>
                </a:solidFill>
                <a:latin typeface="Georgia"/>
                <a:eastAsia typeface="Georgia"/>
                <a:cs typeface="Georgia"/>
              </a:rPr>
              <a:t>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课程答疑 / 视频摘要 / 职业导航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931920"/>
            <a:ext cx="251460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✅ 唯一有效果数据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3484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1">
                <a:solidFill>
                  <a:srgbClr val="2E7D32"/>
                </a:solidFill>
                <a:latin typeface="Georgia"/>
                <a:eastAsia typeface="微软雅黑"/>
                <a:cs typeface="微软雅黑"/>
              </a:rPr>
              <a:t>测验通过率 +9.5%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1554480"/>
            <a:ext cx="278892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29000" y="1554480"/>
            <a:ext cx="2788920" cy="594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16002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1">
                <a:solidFill>
                  <a:srgbClr val="FFFFFF"/>
                </a:solidFill>
                <a:latin typeface="Georgia"/>
                <a:eastAsia typeface="Georgia"/>
                <a:cs typeface="Georgia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16002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MagicSchool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28600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A6489"/>
                </a:solidFill>
                <a:latin typeface="Georgia"/>
                <a:eastAsia typeface="Georgia"/>
                <a:cs typeface="Georgia"/>
              </a:rPr>
              <a:t>技术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248716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LLM + 表单化工具 80+ 任务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10896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A6489"/>
                </a:solidFill>
                <a:latin typeface="Georgia"/>
                <a:eastAsia typeface="Georgia"/>
                <a:cs typeface="Georgia"/>
              </a:rPr>
              <a:t>功能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31012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教师备课 / 评分 / IEP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3931920"/>
            <a:ext cx="251460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393192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✅ 商业最稳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43484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1">
                <a:solidFill>
                  <a:srgbClr val="2E7D32"/>
                </a:solidFill>
                <a:latin typeface="Georgia"/>
                <a:eastAsia typeface="微软雅黑"/>
                <a:cs typeface="微软雅黑"/>
              </a:rPr>
              <a:t>$60M 融资 · 学区 B2B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1554480"/>
            <a:ext cx="278892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1554480"/>
            <a:ext cx="2788920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16002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1">
                <a:solidFill>
                  <a:srgbClr val="FFFFFF"/>
                </a:solidFill>
                <a:latin typeface="Georgia"/>
                <a:eastAsia typeface="Georgia"/>
                <a:cs typeface="Georgia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16002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Q-Chat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28600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A6489"/>
                </a:solidFill>
                <a:latin typeface="Georgia"/>
                <a:eastAsia typeface="Georgia"/>
                <a:cs typeface="Georgia"/>
              </a:rPr>
              <a:t>技术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48716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ChatGPT API + 苏格拉底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10896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A6489"/>
                </a:solidFill>
                <a:latin typeface="Georgia"/>
                <a:eastAsia typeface="Georgia"/>
                <a:cs typeface="Georgia"/>
              </a:rPr>
              <a:t>功能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31012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AI 导师 / Quizlet 内置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3931920"/>
            <a:ext cx="2514600" cy="411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393192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❌ 已关停 2025.6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43484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1">
                <a:solidFill>
                  <a:srgbClr val="C0392B"/>
                </a:solidFill>
                <a:latin typeface="Georgia"/>
                <a:eastAsia typeface="微软雅黑"/>
                <a:cs typeface="微软雅黑"/>
              </a:rPr>
              <a:t>内容 + LLM + 教学法仍失败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9720" y="1554480"/>
            <a:ext cx="278892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89720" y="1554480"/>
            <a:ext cx="2788920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16002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1">
                <a:solidFill>
                  <a:srgbClr val="FFFFFF"/>
                </a:solidFill>
                <a:latin typeface="Georgia"/>
                <a:eastAsia typeface="Georgia"/>
                <a:cs typeface="Georgia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16002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Chegg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228600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A6489"/>
                </a:solidFill>
                <a:latin typeface="Georgia"/>
                <a:eastAsia typeface="Georgia"/>
                <a:cs typeface="Georgia"/>
              </a:rPr>
              <a:t>技术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248716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多模型混合 · 作业答疑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310896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A6489"/>
                </a:solidFill>
                <a:latin typeface="Georgia"/>
                <a:eastAsia typeface="Georgia"/>
                <a:cs typeface="Georgia"/>
              </a:rPr>
              <a:t>功能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331012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被 LLM 歼灭 · 转型 B2B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26880" y="3931920"/>
            <a:ext cx="2514600" cy="411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393192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❌ 营收 -42%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443484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1">
                <a:solidFill>
                  <a:srgbClr val="C0392B"/>
                </a:solidFill>
                <a:latin typeface="Georgia"/>
                <a:eastAsia typeface="微软雅黑"/>
                <a:cs typeface="微软雅黑"/>
              </a:rPr>
              <a:t>不可逆 · 失去 C 端护城河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4846320"/>
            <a:ext cx="11292840" cy="14173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49834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PATTERN · 规律总结</a:t>
            </a:r>
          </a:p>
        </p:txBody>
      </p:sp>
      <p:sp>
        <p:nvSpPr>
          <p:cNvPr id="53" name="Oval 52"/>
          <p:cNvSpPr/>
          <p:nvPr/>
        </p:nvSpPr>
        <p:spPr>
          <a:xfrm>
            <a:off x="777240" y="5532120"/>
            <a:ext cx="164592" cy="16459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1560" y="5504688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成功：B 端提效 (MagicSchool) + 课程绑定 (Coursera) — 价值可量化</a:t>
            </a:r>
          </a:p>
        </p:txBody>
      </p:sp>
      <p:sp>
        <p:nvSpPr>
          <p:cNvPr id="55" name="Oval 54"/>
          <p:cNvSpPr/>
          <p:nvPr/>
        </p:nvSpPr>
        <p:spPr>
          <a:xfrm>
            <a:off x="4480559" y="5532120"/>
            <a:ext cx="164592" cy="16459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79" y="5504688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失败：纯 C 端 LLM 答疑 (Chegg) / 纯陪伴 (Q-Chat) — 没有教学结构</a:t>
            </a:r>
          </a:p>
        </p:txBody>
      </p:sp>
      <p:sp>
        <p:nvSpPr>
          <p:cNvPr id="57" name="Oval 56"/>
          <p:cNvSpPr/>
          <p:nvPr/>
        </p:nvSpPr>
        <p:spPr>
          <a:xfrm>
            <a:off x="8183879" y="5532120"/>
            <a:ext cx="164592" cy="16459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58199" y="5504688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PAEG 启示：必须有「完整教学闭环」，C 端陪伴才成立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7729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6489"/>
                </a:solidFill>
                <a:latin typeface="Calibri"/>
                <a:eastAsia typeface="Calibri"/>
                <a:cs typeface="Calibr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08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04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国内竞品（上）：应试三巨头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Georgia"/>
                <a:cs typeface="Georgia"/>
              </a:rPr>
              <a:t>Domestic · Examination-oriented giants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7033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76200" cy="3657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作业帮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微软雅黑"/>
                <a:cs typeface="微软雅黑"/>
              </a:rPr>
              <a:t>AI 超级老师 · 银河大模型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651760"/>
            <a:ext cx="731520" cy="254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574"/>
                </a:solidFill>
                <a:latin typeface="Georgia"/>
                <a:eastAsia typeface="微软雅黑"/>
                <a:cs typeface="微软雅黑"/>
              </a:rPr>
              <a:t>技术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8803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Galaxy 大模型 + DeepSeek + 19 亿题库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661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574"/>
                </a:solidFill>
                <a:latin typeface="Georgia"/>
                <a:eastAsia typeface="微软雅黑"/>
                <a:cs typeface="微软雅黑"/>
              </a:rPr>
              <a:t>角色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5661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学习机 32.9% 份额 · 行业龙头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519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574"/>
                </a:solidFill>
                <a:latin typeface="Georgia"/>
                <a:eastAsia typeface="微软雅黑"/>
                <a:cs typeface="微软雅黑"/>
              </a:rPr>
              <a:t>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2519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硬件 + VIP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554480"/>
            <a:ext cx="37033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554480"/>
            <a:ext cx="76200" cy="3657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173736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学而思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2677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微软雅黑"/>
                <a:cs typeface="微软雅黑"/>
              </a:rPr>
              <a:t>九年沉淀教研教学基底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651760"/>
            <a:ext cx="731520" cy="254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28803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574"/>
                </a:solidFill>
                <a:latin typeface="Georgia"/>
                <a:eastAsia typeface="微软雅黑"/>
                <a:cs typeface="微软雅黑"/>
              </a:rPr>
              <a:t>技术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8803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九章大模型 (MathGPT) + DeepSeek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5661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574"/>
                </a:solidFill>
                <a:latin typeface="Georgia"/>
                <a:eastAsia typeface="微软雅黑"/>
                <a:cs typeface="微软雅黑"/>
              </a:rPr>
              <a:t>角色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5661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教研最强 · 小思 AI 1对1 · 牵头国标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2519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574"/>
                </a:solidFill>
                <a:latin typeface="Georgia"/>
                <a:eastAsia typeface="微软雅黑"/>
                <a:cs typeface="微软雅黑"/>
              </a:rPr>
              <a:t>模式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42519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高端硬件 ¥6899+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554480"/>
            <a:ext cx="37033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1554480"/>
            <a:ext cx="76200" cy="3657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173736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猿辅导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22677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微软雅黑"/>
                <a:cs typeface="微软雅黑"/>
              </a:rPr>
              <a:t>¥1499/年 · 内容护城河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2651760"/>
            <a:ext cx="731520" cy="254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28803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574"/>
                </a:solidFill>
                <a:latin typeface="Georgia"/>
                <a:eastAsia typeface="微软雅黑"/>
                <a:cs typeface="微软雅黑"/>
              </a:rPr>
              <a:t>技术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28803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猿力大模型 + DeepSeek-R1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35661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574"/>
                </a:solidFill>
                <a:latin typeface="Georgia"/>
                <a:eastAsia typeface="微软雅黑"/>
                <a:cs typeface="微软雅黑"/>
              </a:rPr>
              <a:t>角色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35661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掌握度模型 98.9% · AI 大阅读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42519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574"/>
                </a:solidFill>
                <a:latin typeface="Georgia"/>
                <a:eastAsia typeface="微软雅黑"/>
                <a:cs typeface="微软雅黑"/>
              </a:rPr>
              <a:t>模式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42519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订阅 + 硬件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486400"/>
            <a:ext cx="11292840" cy="100584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486400"/>
            <a:ext cx="50800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623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C0392B"/>
                </a:solidFill>
                <a:latin typeface="Georgia"/>
                <a:eastAsia typeface="微软雅黑"/>
                <a:cs typeface="微软雅黑"/>
              </a:rPr>
              <a:t>共鸣：应试导向 · 重知识传递 · 轻能力培养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9436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短板：35 学科博雅、人文哲学、批判性思维、情绪陪伴——蓝海未被覆盖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7729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6489"/>
                </a:solidFill>
                <a:latin typeface="Calibri"/>
                <a:eastAsia typeface="Calibri"/>
                <a:cs typeface="Calibr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08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05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国内竞品（下）：B 端与流量派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Georgia"/>
                <a:cs typeface="Georgia"/>
              </a:rPr>
              <a:t>Domestic · B2B scale &amp; traffic play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7889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2788920" cy="635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科大讯飞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微软雅黑"/>
                <a:cs typeface="微软雅黑"/>
              </a:rPr>
              <a:t>星火 X2 全国产算力 · 4000 错因标签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B 端进校龙头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2423160" cy="5029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5 万+ 学校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554480"/>
            <a:ext cx="27889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554480"/>
            <a:ext cx="2788920" cy="63500"/>
          </a:xfrm>
          <a:prstGeom prst="rect">
            <a:avLst/>
          </a:prstGeom>
          <a:solidFill>
            <a:srgbClr val="E89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17830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字节豆包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4231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微软雅黑"/>
                <a:cs typeface="微软雅黑"/>
              </a:rPr>
              <a:t>豆包大模型 + Seedance 视频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1089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定位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33756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免费流量打法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4023360"/>
            <a:ext cx="2423160" cy="502920"/>
          </a:xfrm>
          <a:prstGeom prst="roundRect">
            <a:avLst>
              <a:gd name="adj" fmla="val 6000"/>
            </a:avLst>
          </a:prstGeom>
          <a:solidFill>
            <a:srgbClr val="E8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402336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DAU 1 亿+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554480"/>
            <a:ext cx="27889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554480"/>
            <a:ext cx="2788920" cy="635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7830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松鼠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4231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微软雅黑"/>
                <a:cs typeface="微软雅黑"/>
              </a:rPr>
              <a:t>LAM 自适应大模型 + 多智能体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1089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定位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33756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智适应 + AI 自习室 3000 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023360"/>
            <a:ext cx="2423160" cy="5029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02336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《时代》2025 唯一入选 AI 教育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1554480"/>
            <a:ext cx="27889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89720" y="1554480"/>
            <a:ext cx="2788920" cy="635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17830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希沃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4231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微软雅黑"/>
                <a:cs typeface="微软雅黑"/>
              </a:rPr>
              <a:t>自研教育大模型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1089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定位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333756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B 端教育信息化龙头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72600" y="4023360"/>
            <a:ext cx="2423160" cy="5029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402336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B2B/B2G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20640"/>
            <a:ext cx="112928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257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OBSERVATION · 国内竞品观察</a:t>
            </a:r>
          </a:p>
        </p:txBody>
      </p:sp>
      <p:sp>
        <p:nvSpPr>
          <p:cNvPr id="41" name="Oval 40"/>
          <p:cNvSpPr/>
          <p:nvPr/>
        </p:nvSpPr>
        <p:spPr>
          <a:xfrm>
            <a:off x="777240" y="5715000"/>
            <a:ext cx="164592" cy="1645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6784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B 端工程派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98932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Georgia"/>
                <a:eastAsia typeface="微软雅黑"/>
                <a:cs typeface="微软雅黑"/>
              </a:rPr>
              <a:t>讯飞 / 希沃 / 松鼠 — 跑通进校闭环</a:t>
            </a:r>
          </a:p>
        </p:txBody>
      </p:sp>
      <p:sp>
        <p:nvSpPr>
          <p:cNvPr id="44" name="Oval 43"/>
          <p:cNvSpPr/>
          <p:nvPr/>
        </p:nvSpPr>
        <p:spPr>
          <a:xfrm>
            <a:off x="4526279" y="5715000"/>
            <a:ext cx="164592" cy="164592"/>
          </a:xfrm>
          <a:prstGeom prst="ellipse">
            <a:avLst/>
          </a:prstGeom>
          <a:solidFill>
            <a:srgbClr val="E8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19" y="56784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流量免费派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19" y="598932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Georgia"/>
                <a:eastAsia typeface="微软雅黑"/>
                <a:cs typeface="微软雅黑"/>
              </a:rPr>
              <a:t>豆包 / 千问 — 抢用户时间，难做深</a:t>
            </a:r>
          </a:p>
        </p:txBody>
      </p:sp>
      <p:sp>
        <p:nvSpPr>
          <p:cNvPr id="47" name="Oval 46"/>
          <p:cNvSpPr/>
          <p:nvPr/>
        </p:nvSpPr>
        <p:spPr>
          <a:xfrm>
            <a:off x="8275319" y="5715000"/>
            <a:ext cx="164592" cy="16459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59" y="56784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PAEG 路径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59" y="598932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Georgia"/>
                <a:eastAsia typeface="微软雅黑"/>
                <a:cs typeface="微软雅黑"/>
              </a:rPr>
              <a:t>C 端素养订阅 + B 端辅助教师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7729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6489"/>
                </a:solidFill>
                <a:latin typeface="Calibri"/>
                <a:eastAsia typeface="Calibri"/>
                <a:cs typeface="Calibr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08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06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行业级证据：AI 教学真的有效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Georgia"/>
                <a:cs typeface="Georgia"/>
              </a:rPr>
              <a:t>Industry Evidence · World Bank RCT 2025 + 40/60 理论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669280" cy="4572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D4A574"/>
                </a:solidFill>
                <a:latin typeface="Georgia"/>
                <a:eastAsia typeface="微软雅黑"/>
                <a:cs typeface="微软雅黑"/>
              </a:rPr>
              <a:t>世界银行 尼日利亚 RCT（2025）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GPT-4 辅导英语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52120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0" b="1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0.31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4164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1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标准差（SD）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1">
                <a:solidFill>
                  <a:srgbClr val="CADCFC"/>
                </a:solidFill>
                <a:latin typeface="Georgia"/>
                <a:eastAsia typeface="微软雅黑"/>
                <a:cs typeface="微软雅黑"/>
              </a:rPr>
              <a:t>≈ 1.5 ~ 2 年正规学习量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937760"/>
            <a:ext cx="5212080" cy="127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292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效益成本比 · BENEFIT-COST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4924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1">
                <a:solidFill>
                  <a:srgbClr val="FFFFFF"/>
                </a:solidFill>
                <a:latin typeface="Georgia"/>
                <a:eastAsia typeface="Georgia"/>
                <a:cs typeface="Georgia"/>
              </a:rPr>
              <a:t>161 : 260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978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CADCFC"/>
                </a:solidFill>
                <a:latin typeface="Georgia"/>
                <a:eastAsia typeface="微软雅黑"/>
                <a:cs typeface="微软雅黑"/>
              </a:rPr>
              <a:t>每投入 1 美元产出 161–260 美元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55448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艾瑞 40 / 60 理论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教育的边界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2743200"/>
            <a:ext cx="1828800" cy="18288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9718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1">
                <a:solidFill>
                  <a:srgbClr val="FFFFFF"/>
                </a:solidFill>
                <a:latin typeface="Georgia"/>
                <a:eastAsia typeface="Georgia"/>
                <a:cs typeface="Georgia"/>
              </a:rPr>
              <a:t>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52044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技术可工具化</a:t>
            </a:r>
          </a:p>
        </p:txBody>
      </p:sp>
      <p:sp>
        <p:nvSpPr>
          <p:cNvPr id="23" name="Oval 22"/>
          <p:cNvSpPr/>
          <p:nvPr/>
        </p:nvSpPr>
        <p:spPr>
          <a:xfrm>
            <a:off x="9189720" y="2606040"/>
            <a:ext cx="2103120" cy="210312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283464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1" i="1">
                <a:solidFill>
                  <a:srgbClr val="1E2761"/>
                </a:solidFill>
                <a:latin typeface="Georgia"/>
                <a:eastAsia typeface="Georgia"/>
                <a:cs typeface="Georgia"/>
              </a:rPr>
              <a:t>60%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52044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E2761"/>
                </a:solidFill>
                <a:latin typeface="Georgia"/>
                <a:eastAsia typeface="微软雅黑"/>
                <a:cs typeface="微软雅黑"/>
              </a:rPr>
              <a:t>人类主场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3492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60% 人类主场的三大能力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5760720"/>
            <a:ext cx="1554480" cy="320040"/>
          </a:xfrm>
          <a:prstGeom prst="roundRect">
            <a:avLst>
              <a:gd name="adj" fmla="val 6000"/>
            </a:avLst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760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Georgia"/>
                <a:eastAsia typeface="微软雅黑"/>
                <a:cs typeface="微软雅黑"/>
              </a:rPr>
              <a:t>情感唤醒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5760720"/>
            <a:ext cx="1554480" cy="320040"/>
          </a:xfrm>
          <a:prstGeom prst="roundRect">
            <a:avLst>
              <a:gd name="adj" fmla="val 6000"/>
            </a:avLst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5760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Georgia"/>
                <a:eastAsia typeface="微软雅黑"/>
                <a:cs typeface="微软雅黑"/>
              </a:rPr>
              <a:t>价值塑造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5760720"/>
            <a:ext cx="1554480" cy="320040"/>
          </a:xfrm>
          <a:prstGeom prst="roundRect">
            <a:avLst>
              <a:gd name="adj" fmla="val 6000"/>
            </a:avLst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5760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Georgia"/>
                <a:eastAsia typeface="微软雅黑"/>
                <a:cs typeface="微软雅黑"/>
              </a:rPr>
              <a:t>悟性启发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355080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1">
                <a:solidFill>
                  <a:srgbClr val="D4A574"/>
                </a:solidFill>
                <a:latin typeface="Georgia"/>
                <a:eastAsia typeface="微软雅黑"/>
                <a:cs typeface="微软雅黑"/>
              </a:rPr>
              <a:t>AI 教学有效，但有效的是「完整教学结构」，而非「聊天机器人」 · 多数玩家只做 40%，60% 是蓝海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6489"/>
                </a:solidFill>
                <a:latin typeface="Calibri"/>
                <a:eastAsia typeface="Calibri"/>
                <a:cs typeface="Calibr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08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07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7 维度对比 · 命中行业失败点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Georgia"/>
                <a:cs typeface="Georgia"/>
              </a:rPr>
              <a:t>PAEG Advantage Matrix · 7 Dimensions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828800" cy="5303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645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维度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600200"/>
            <a:ext cx="3840480" cy="5303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600200"/>
            <a:ext cx="3657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竞品主流做法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2194560" cy="5303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Georgia"/>
                <a:eastAsia typeface="微软雅黑"/>
                <a:cs typeface="微软雅黑"/>
              </a:rPr>
              <a:t>PAEG 优势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600200"/>
            <a:ext cx="3429000" cy="5303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600200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关键实现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130552"/>
            <a:ext cx="182880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7440" y="2130552"/>
            <a:ext cx="3840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130552"/>
            <a:ext cx="219456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2130552"/>
            <a:ext cx="342900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77440" y="2130552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130552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2130552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130552"/>
            <a:ext cx="50800" cy="5303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130552"/>
            <a:ext cx="15544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教学结构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2130552"/>
            <a:ext cx="3657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A6489"/>
                </a:solidFill>
                <a:latin typeface="Calibri"/>
                <a:eastAsia typeface="微软雅黑"/>
                <a:cs typeface="微软雅黑"/>
              </a:rPr>
              <a:t>AI 答疑 / 错题本 / 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130552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Georgia"/>
                <a:eastAsia typeface="微软雅黑"/>
                <a:cs typeface="微软雅黑"/>
              </a:rPr>
              <a:t>完整闭环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130552"/>
            <a:ext cx="32004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诊断→计划→讲解→评估→调整→反思→进化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660904"/>
            <a:ext cx="1828800" cy="530352"/>
          </a:xfrm>
          <a:prstGeom prst="rect">
            <a:avLst/>
          </a:prstGeom>
          <a:solidFill>
            <a:srgbClr val="E8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77440" y="2660904"/>
            <a:ext cx="3840480" cy="530352"/>
          </a:xfrm>
          <a:prstGeom prst="rect">
            <a:avLst/>
          </a:prstGeom>
          <a:solidFill>
            <a:srgbClr val="E8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2660904"/>
            <a:ext cx="2194560" cy="530352"/>
          </a:xfrm>
          <a:prstGeom prst="rect">
            <a:avLst/>
          </a:prstGeom>
          <a:solidFill>
            <a:srgbClr val="E8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0" y="2660904"/>
            <a:ext cx="3429000" cy="530352"/>
          </a:xfrm>
          <a:prstGeom prst="rect">
            <a:avLst/>
          </a:prstGeom>
          <a:solidFill>
            <a:srgbClr val="E8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77440" y="2660904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2660904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0" y="2660904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2660904"/>
            <a:ext cx="50800" cy="5303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2660904"/>
            <a:ext cx="15544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个性化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2660904"/>
            <a:ext cx="3657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A6489"/>
                </a:solidFill>
                <a:latin typeface="Calibri"/>
                <a:eastAsia typeface="微软雅黑"/>
                <a:cs typeface="微软雅黑"/>
              </a:rPr>
              <a:t>知识掌握度单一维度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2660904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Georgia"/>
                <a:eastAsia typeface="微软雅黑"/>
                <a:cs typeface="微软雅黑"/>
              </a:rPr>
              <a:t>17 维正交个体化画像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2660904"/>
            <a:ext cx="32004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VARK · 情绪 · 动机 · 节奏 · 母语 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191255"/>
            <a:ext cx="182880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77440" y="3191255"/>
            <a:ext cx="3840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3191255"/>
            <a:ext cx="219456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412480" y="3191255"/>
            <a:ext cx="342900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377440" y="3191255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3191255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0" y="3191255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3191255"/>
            <a:ext cx="50800" cy="5303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3191255"/>
            <a:ext cx="15544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情绪支持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14600" y="3191255"/>
            <a:ext cx="3657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A6489"/>
                </a:solidFill>
                <a:latin typeface="Calibri"/>
                <a:eastAsia typeface="微软雅黑"/>
                <a:cs typeface="微软雅黑"/>
              </a:rPr>
              <a:t>表层话术 / 成长挚友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3191255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Georgia"/>
                <a:eastAsia typeface="微软雅黑"/>
                <a:cs typeface="微软雅黑"/>
              </a:rPr>
              <a:t>哲学三角系统性设计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3191255"/>
            <a:ext cx="32004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胡塞尔悬置 / 薇依注意力 / 尼采自我克服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3721608"/>
            <a:ext cx="1828800" cy="530352"/>
          </a:xfrm>
          <a:prstGeom prst="rect">
            <a:avLst/>
          </a:prstGeom>
          <a:solidFill>
            <a:srgbClr val="E8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377440" y="3721608"/>
            <a:ext cx="3840480" cy="530352"/>
          </a:xfrm>
          <a:prstGeom prst="rect">
            <a:avLst/>
          </a:prstGeom>
          <a:solidFill>
            <a:srgbClr val="E8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3721608"/>
            <a:ext cx="2194560" cy="530352"/>
          </a:xfrm>
          <a:prstGeom prst="rect">
            <a:avLst/>
          </a:prstGeom>
          <a:solidFill>
            <a:srgbClr val="E8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12480" y="3721608"/>
            <a:ext cx="3429000" cy="530352"/>
          </a:xfrm>
          <a:prstGeom prst="rect">
            <a:avLst/>
          </a:prstGeom>
          <a:solidFill>
            <a:srgbClr val="E8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377440" y="3721608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17920" y="3721608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412480" y="3721608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17920" y="3721608"/>
            <a:ext cx="50800" cy="5303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3721608"/>
            <a:ext cx="15544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学科覆盖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14600" y="3721608"/>
            <a:ext cx="3657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A6489"/>
                </a:solidFill>
                <a:latin typeface="Calibri"/>
                <a:eastAsia typeface="微软雅黑"/>
                <a:cs typeface="微软雅黑"/>
              </a:rPr>
              <a:t>数理 / 语言 / 9 大学科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5080" y="3721608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Georgia"/>
                <a:eastAsia typeface="微软雅黑"/>
                <a:cs typeface="微软雅黑"/>
              </a:rPr>
              <a:t>35 学科博雅教育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49640" y="3721608"/>
            <a:ext cx="32004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人文 · 哲学 · 批判性思维蓝海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4251960"/>
            <a:ext cx="182880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377440" y="4251960"/>
            <a:ext cx="3840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17920" y="4251960"/>
            <a:ext cx="219456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412480" y="4251960"/>
            <a:ext cx="342900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377440" y="4251960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17920" y="4251960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12480" y="4251960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17920" y="4251960"/>
            <a:ext cx="50800" cy="5303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" y="4251960"/>
            <a:ext cx="15544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自我进化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14600" y="4251960"/>
            <a:ext cx="3657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A6489"/>
                </a:solidFill>
                <a:latin typeface="Calibri"/>
                <a:eastAsia typeface="微软雅黑"/>
                <a:cs typeface="微软雅黑"/>
              </a:rPr>
              <a:t>AI 能力固定 · 需厂商迭代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55080" y="4251960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Georgia"/>
                <a:eastAsia typeface="微软雅黑"/>
                <a:cs typeface="微软雅黑"/>
              </a:rPr>
              <a:t>越用越懂怎么教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49640" y="4251960"/>
            <a:ext cx="32004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四路自进化 + 质量门禁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" y="4782312"/>
            <a:ext cx="1828800" cy="530352"/>
          </a:xfrm>
          <a:prstGeom prst="rect">
            <a:avLst/>
          </a:prstGeom>
          <a:solidFill>
            <a:srgbClr val="E8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377440" y="4782312"/>
            <a:ext cx="3840480" cy="530352"/>
          </a:xfrm>
          <a:prstGeom prst="rect">
            <a:avLst/>
          </a:prstGeom>
          <a:solidFill>
            <a:srgbClr val="E8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17920" y="4782312"/>
            <a:ext cx="2194560" cy="530352"/>
          </a:xfrm>
          <a:prstGeom prst="rect">
            <a:avLst/>
          </a:prstGeom>
          <a:solidFill>
            <a:srgbClr val="E8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0" y="4782312"/>
            <a:ext cx="3429000" cy="530352"/>
          </a:xfrm>
          <a:prstGeom prst="rect">
            <a:avLst/>
          </a:prstGeom>
          <a:solidFill>
            <a:srgbClr val="E8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377440" y="4782312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217920" y="4782312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412480" y="4782312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217920" y="4782312"/>
            <a:ext cx="50800" cy="5303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85800" y="4782312"/>
            <a:ext cx="15544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中文质量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14600" y="4782312"/>
            <a:ext cx="3657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A6489"/>
                </a:solidFill>
                <a:latin typeface="Calibri"/>
                <a:eastAsia typeface="微软雅黑"/>
                <a:cs typeface="微软雅黑"/>
              </a:rPr>
              <a:t>直接调通用模型 · 表达不可控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55080" y="4782312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Georgia"/>
                <a:eastAsia typeface="微软雅黑"/>
                <a:cs typeface="微软雅黑"/>
              </a:rPr>
              <a:t>程序化中文语言质量层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49640" y="4782312"/>
            <a:ext cx="32004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L1 / L2 / L3 三层保证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8640" y="5312663"/>
            <a:ext cx="182880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377440" y="5312663"/>
            <a:ext cx="3840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217920" y="5312663"/>
            <a:ext cx="219456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412480" y="5312663"/>
            <a:ext cx="342900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377440" y="5312663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217920" y="5312663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412480" y="5312663"/>
            <a:ext cx="12700" cy="530352"/>
          </a:xfrm>
          <a:prstGeom prst="rect">
            <a:avLst/>
          </a:prstGeom>
          <a:solidFill>
            <a:srgbClr val="CBD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217920" y="5312663"/>
            <a:ext cx="50800" cy="53035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5800" y="5312663"/>
            <a:ext cx="15544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学段覆盖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514600" y="5312663"/>
            <a:ext cx="3657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A6489"/>
                </a:solidFill>
                <a:latin typeface="Calibri"/>
                <a:eastAsia typeface="微软雅黑"/>
                <a:cs typeface="微软雅黑"/>
              </a:rPr>
              <a:t>仅 K12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55080" y="5312663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Georgia"/>
                <a:eastAsia typeface="微软雅黑"/>
                <a:cs typeface="微软雅黑"/>
              </a:rPr>
              <a:t>K12 + 考研 + 通识素养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49640" y="5312663"/>
            <a:ext cx="32004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终身学习路径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48640" y="5989320"/>
            <a:ext cx="11292840" cy="548640"/>
          </a:xfrm>
          <a:prstGeom prst="roundRect">
            <a:avLst>
              <a:gd name="adj" fmla="val 6000"/>
            </a:avLst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48640" y="5989320"/>
            <a:ext cx="11292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Georgia"/>
                <a:eastAsia typeface="微软雅黑"/>
                <a:cs typeface="微软雅黑"/>
              </a:rPr>
              <a:t>每一维度都踩在「行业失败点」的对面 —— 不是更好一点，而是结构性不同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27729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6489"/>
                </a:solidFill>
                <a:latin typeface="Calibri"/>
                <a:eastAsia typeface="Calibri"/>
                <a:cs typeface="Calibr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08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08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命中行业公认失败点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Georgia"/>
                <a:cs typeface="Georgia"/>
              </a:rPr>
              <a:t>Direct hit on the industry's #1 failure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292840" cy="7772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835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1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海外导师型全部败于「被动等待提问」—— Khan 2026 救火方案 = PAEG 第一天架构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548640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548640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✗ 海外导师型失败闭环（被动等待）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91840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3410712"/>
            <a:ext cx="329184" cy="32918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1071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stAsia typeface="Georgia"/>
                <a:cs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291840"/>
            <a:ext cx="4251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学生遇到问题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886200"/>
            <a:ext cx="91440" cy="1554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3108960" y="3840480"/>
            <a:ext cx="365760" cy="246888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041647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160519"/>
            <a:ext cx="329184" cy="32918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160519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stAsia typeface="Georgia"/>
                <a:cs typeface="Georg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041647"/>
            <a:ext cx="4251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主动提问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4636007"/>
            <a:ext cx="91440" cy="1554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3108960" y="4590287"/>
            <a:ext cx="365760" cy="246888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4791455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4910327"/>
            <a:ext cx="329184" cy="32918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910327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stAsia typeface="Georgia"/>
                <a:cs typeface="Georgia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791455"/>
            <a:ext cx="4251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AI 答疑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5385815"/>
            <a:ext cx="91440" cy="1554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3108960" y="5340095"/>
            <a:ext cx="365760" cy="246888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" y="5541264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60120" y="5660136"/>
            <a:ext cx="329184" cy="32918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66013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stAsia typeface="Georgia"/>
                <a:cs typeface="Georgia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541264"/>
            <a:ext cx="4251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粘性低 → 弃用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2606040"/>
            <a:ext cx="548640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2606040"/>
            <a:ext cx="548640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260604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✓ PAEG 诊断驱动主动闭环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3291840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766560" y="3410712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341071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stAsia typeface="Georgia"/>
                <a:cs typeface="Georgia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3291840"/>
            <a:ext cx="4251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多维诊断（17 维）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3886200"/>
            <a:ext cx="91440" cy="1554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own Arrow 41"/>
          <p:cNvSpPr/>
          <p:nvPr/>
        </p:nvSpPr>
        <p:spPr>
          <a:xfrm>
            <a:off x="8915400" y="3840480"/>
            <a:ext cx="365760" cy="246888"/>
          </a:xfrm>
          <a:prstGeom prst="down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83680" y="4041647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766560" y="4160519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4160519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stAsia typeface="Georgia"/>
                <a:cs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041647"/>
            <a:ext cx="4251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自动生成学习计划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52560" y="4636007"/>
            <a:ext cx="91440" cy="1554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own Arrow 47"/>
          <p:cNvSpPr/>
          <p:nvPr/>
        </p:nvSpPr>
        <p:spPr>
          <a:xfrm>
            <a:off x="8915400" y="4590287"/>
            <a:ext cx="365760" cy="246888"/>
          </a:xfrm>
          <a:prstGeom prst="down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83680" y="4791455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66560" y="4910327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6560" y="4910327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stAsia typeface="Georgia"/>
                <a:cs typeface="Georgia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4791455"/>
            <a:ext cx="4251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主动介入讲解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52560" y="5385815"/>
            <a:ext cx="91440" cy="1554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own Arrow 53"/>
          <p:cNvSpPr/>
          <p:nvPr/>
        </p:nvSpPr>
        <p:spPr>
          <a:xfrm>
            <a:off x="8915400" y="5340095"/>
            <a:ext cx="365760" cy="246888"/>
          </a:xfrm>
          <a:prstGeom prst="down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583680" y="5541264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766560" y="5660136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66560" y="566013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stAsia typeface="Georgia"/>
                <a:cs typeface="Georgia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0" y="5541264"/>
            <a:ext cx="4251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评估 → 反思 → 进化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7729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6489"/>
                </a:solidFill>
                <a:latin typeface="Calibri"/>
                <a:eastAsia typeface="Calibri"/>
                <a:cs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08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09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638"/>
                </a:solidFill>
                <a:latin typeface="Georgia"/>
                <a:eastAsia typeface="微软雅黑"/>
                <a:cs typeface="微软雅黑"/>
              </a:rPr>
              <a:t>项目使命回应 · 英雄不问出处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489"/>
                </a:solidFill>
                <a:latin typeface="Georgia"/>
                <a:eastAsia typeface="Georgia"/>
                <a:cs typeface="Georgia"/>
              </a:rPr>
              <a:t>Mission Response · Why PAEG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2928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1E2761"/>
                </a:solidFill>
                <a:latin typeface="Georgia"/>
                <a:eastAsia typeface="微软雅黑"/>
                <a:cs typeface="微软雅黑"/>
              </a:rPr>
              <a:t>「回应真实存在但未被看见的需求；把贵族教学法工程化可复制」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A6489"/>
                </a:solidFill>
                <a:latin typeface="Georgia"/>
                <a:eastAsia typeface="微软雅黑"/>
                <a:cs typeface="微软雅黑"/>
              </a:rPr>
              <a:t>—— 不是问「市场多大」，而是问「社会真实需要什么」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3703320" cy="32461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3375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看见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76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ADCFC"/>
                </a:solidFill>
                <a:latin typeface="Georgia"/>
                <a:eastAsia typeface="微软雅黑"/>
                <a:cs typeface="微软雅黑"/>
              </a:rPr>
              <a:t>真实存在却被忽视的需求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480560"/>
            <a:ext cx="548640" cy="254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782312"/>
            <a:ext cx="91440" cy="914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6634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教育公平 · 城乡差异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239512"/>
            <a:ext cx="91440" cy="914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1206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博雅教育 · 人文稀缺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696712"/>
            <a:ext cx="91440" cy="914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5778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情绪陪伴 · 倦怠时代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108960"/>
            <a:ext cx="3703320" cy="32461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2461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3375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工程化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9776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ADCFC"/>
                </a:solidFill>
                <a:latin typeface="Georgia"/>
                <a:eastAsia typeface="微软雅黑"/>
                <a:cs typeface="微软雅黑"/>
              </a:rPr>
              <a:t>贵族教学法可规模化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480560"/>
            <a:ext cx="548640" cy="254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17720" y="4782312"/>
            <a:ext cx="91440" cy="914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46634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诊断→计划→讲解→评估</a:t>
            </a:r>
          </a:p>
        </p:txBody>
      </p:sp>
      <p:sp>
        <p:nvSpPr>
          <p:cNvPr id="27" name="Oval 26"/>
          <p:cNvSpPr/>
          <p:nvPr/>
        </p:nvSpPr>
        <p:spPr>
          <a:xfrm>
            <a:off x="4617720" y="5239512"/>
            <a:ext cx="91440" cy="914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51206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17 维个体化画像</a:t>
            </a:r>
          </a:p>
        </p:txBody>
      </p:sp>
      <p:sp>
        <p:nvSpPr>
          <p:cNvPr id="29" name="Oval 28"/>
          <p:cNvSpPr/>
          <p:nvPr/>
        </p:nvSpPr>
        <p:spPr>
          <a:xfrm>
            <a:off x="4617720" y="5696712"/>
            <a:ext cx="91440" cy="914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55778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哲学三角 · 系统性而非话术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108960"/>
            <a:ext cx="3703320" cy="32461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2461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3375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不担心商业化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9776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ADCFC"/>
                </a:solidFill>
                <a:latin typeface="Georgia"/>
                <a:eastAsia typeface="微软雅黑"/>
                <a:cs typeface="微软雅黑"/>
              </a:rPr>
              <a:t>英雄不问出处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66760" y="4480560"/>
            <a:ext cx="548640" cy="254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12480" y="4782312"/>
            <a:ext cx="91440" cy="914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41080" y="46634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社会需求 &gt; 市场需求</a:t>
            </a:r>
          </a:p>
        </p:txBody>
      </p:sp>
      <p:sp>
        <p:nvSpPr>
          <p:cNvPr id="38" name="Oval 37"/>
          <p:cNvSpPr/>
          <p:nvPr/>
        </p:nvSpPr>
        <p:spPr>
          <a:xfrm>
            <a:off x="8412480" y="5239512"/>
            <a:ext cx="91440" cy="914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41080" y="51206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素养订阅 · 不是变现优先</a:t>
            </a:r>
          </a:p>
        </p:txBody>
      </p:sp>
      <p:sp>
        <p:nvSpPr>
          <p:cNvPr id="40" name="Oval 39"/>
          <p:cNvSpPr/>
          <p:nvPr/>
        </p:nvSpPr>
        <p:spPr>
          <a:xfrm>
            <a:off x="8412480" y="5696712"/>
            <a:ext cx="91440" cy="914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41080" y="55778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蓝海 60% 是人类主场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7729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6489"/>
                </a:solidFill>
                <a:latin typeface="Calibri"/>
                <a:eastAsia typeface="Calibri"/>
                <a:cs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76200" cy="576072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D4A574"/>
                </a:solidFill>
                <a:latin typeface="Georgia"/>
                <a:eastAsia typeface="Georgia"/>
                <a:cs typeface="Georgia"/>
              </a:rPr>
              <a:t>PAEG · PERSONALIZED AGENT FOR EVERY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让每个孩子都获得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1">
                <a:solidFill>
                  <a:srgbClr val="D4A574"/>
                </a:solidFill>
                <a:latin typeface="Georgia"/>
                <a:eastAsia typeface="微软雅黑"/>
                <a:cs typeface="微软雅黑"/>
              </a:rPr>
              <a:t>「懂他的老师」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51960"/>
            <a:ext cx="1097280" cy="254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CADCFC"/>
                </a:solidFill>
                <a:latin typeface="Georgia"/>
                <a:eastAsia typeface="微软雅黑"/>
                <a:cs typeface="微软雅黑"/>
              </a:rPr>
              <a:t>回应真实存在但未被看见的需求 · 把贵族教学法工程化可复制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120640"/>
            <a:ext cx="5029200" cy="777240"/>
          </a:xfrm>
          <a:prstGeom prst="roundRect">
            <a:avLst>
              <a:gd name="adj" fmla="val 6000"/>
            </a:avLst>
          </a:prstGeom>
          <a:solidFill>
            <a:srgbClr val="29357A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1">
                <a:solidFill>
                  <a:srgbClr val="D4A574"/>
                </a:solidFill>
                <a:latin typeface="Georgia"/>
                <a:eastAsia typeface="微软雅黑"/>
                <a:cs typeface="微软雅黑"/>
              </a:rPr>
              <a:t>市场非零和 · 合作共赢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5120640"/>
            <a:ext cx="12700" cy="77724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5120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  <a:eastAsia typeface="微软雅黑"/>
                <a:cs typeface="微软雅黑"/>
              </a:rPr>
              <a:t>AI+教育智能体 · 路演版 v0.42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54864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Georgia"/>
                <a:eastAsia typeface="Georgia"/>
                <a:cs typeface="Georgia"/>
              </a:rPr>
              <a:t>2026 · Personalized Agent for Every 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37376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1">
                <a:solidFill>
                  <a:srgbClr val="1E2761"/>
                </a:solidFill>
                <a:latin typeface="Georgia"/>
                <a:eastAsia typeface="微软雅黑"/>
                <a:cs typeface="微软雅黑"/>
              </a:rPr>
              <a:t>需求真实存在 ≠ 需求被看见 · 英雄不问出处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695" y="6437376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E2761"/>
                </a:solidFill>
                <a:latin typeface="Georgia"/>
                <a:eastAsia typeface="Georgia"/>
                <a:cs typeface="Georgia"/>
              </a:rPr>
              <a:t>PAEG ·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