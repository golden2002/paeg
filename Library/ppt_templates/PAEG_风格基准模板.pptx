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  <p:sldId id="273" r:id="rId24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E6A52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E6A52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9144000" y="5029200"/>
            <a:ext cx="4572000" cy="4572000"/>
          </a:xfrm>
          <a:prstGeom prst="rect">
            <a:avLst/>
          </a:prstGeom>
          <a:solidFill>
            <a:srgbClr val="0F2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36576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 AGENT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它不只在回答问题，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它在理解一个人。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 · 商业路演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548640" cy="36576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50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面向投资人 / 评委  ·  v5.1  · 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教育缺的不是第二个搜索框，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而是长期理解的关系。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3108960"/>
            <a:ext cx="3657600" cy="73152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答题式 AI 的天花板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它知道每道题的解法，但不知道你昨天学到哪了。今天学新课时，它无法接住你前天的卡点。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97680" y="3108960"/>
            <a:ext cx="3657600" cy="73152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答疑工具的边界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它能秒答，但情绪、状态、学习节奏都不在它的视野里。一节课之后，没有沉淀，也没有跟进。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38160" y="3108960"/>
            <a:ext cx="3657600" cy="73152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真人教师的不可复制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一位老师面对 40 个学生，没有余力记住每一个人的卡点、情绪与节奏。陪伴，无法规模化。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这个空白，才是 PAEG 要填补的位置。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00" cy="5669280"/>
          </a:xfrm>
          <a:prstGeom prst="rect">
            <a:avLst/>
          </a:prstGeom>
          <a:solidFill>
            <a:srgbClr val="081A33"/>
          </a:solidFill>
          <a:ln w="12700">
            <a:solidFill>
              <a:srgbClr val="E6A528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822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我撑不住了。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6583680" cy="45720"/>
          </a:xfrm>
          <a:prstGeom prst="rect">
            <a:avLst/>
          </a:prstGeom>
          <a:solidFill>
            <a:srgbClr val="E6A528">
              <a:alpha val="5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继续讲下一题。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65836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把"撑不住"当作主语，重新理解此刻。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当学生说"我撑不住了"，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会停下来。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310896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2396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情绪冲击识别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2396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层约束中的 L0/L1 把情绪、安全置于解题之上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可验证的实测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2396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轮学业压力场景，全程留痕，每轮达标可查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512064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2396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竞品做不到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门控层结构上必须先评估状态，再决定下一步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这个差异不是修辞，是结构。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六种教学场景中，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构建了完整的"教学 + 情绪"双闭环。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1945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子代理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ResourceLibrarian，分工明确、协同决策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8912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K12 主干，从语文作文到物理压轴题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2104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4964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0058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维画像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学生长期画像跨会话保留，情绪与节奏可追溯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219456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种模式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/ 新授 / 巩固 / 复习 / 应用 / 提高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8912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1772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12648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层约束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绝对底线 → L7 自由创造，层层守护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2104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54964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1005840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轮实测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4964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 + 倾诉 15 轮，达标率 100%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数字来自 v5.1 工程实测，下文将逐项验证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个子代理 + MCP 双向通道，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让"理解人"这件事可以被工程化。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12080" y="3566160"/>
            <a:ext cx="1737360" cy="17373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· Think · 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78892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教学编排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319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114800" y="260604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5196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情绪识别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3136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L0/L1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78892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278892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0956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学科知识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3319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516636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696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534924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114800" y="534924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51960" y="5513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51960" y="5879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通道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516636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0" y="516636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0956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5696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底线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 ·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任一子代理可独立替换 · 单元测试覆盖关键决策路径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CONSTRAINT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L0 绝对底线到 L7 自由创造，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层约束守护每一次回答。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65960" y="2423160"/>
            <a:ext cx="8229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10312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自由创造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鼓励联想、跨学科、生活化类比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880360"/>
            <a:ext cx="786384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286000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风格塑造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鼓励式语言、节奏、比喻偏好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337560"/>
            <a:ext cx="7498080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68880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教学策略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导入/新授/巩固/复习/应用/提高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794760"/>
            <a:ext cx="7132320" cy="411480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176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5468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学科规范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公式、术语、解题步骤正确性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4251960"/>
            <a:ext cx="6766560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3464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4709160"/>
            <a:ext cx="640080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017520" y="4709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上下文连贯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709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长对话记忆，前情提要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63240" y="5166360"/>
            <a:ext cx="60350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00400" y="5166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 → 降速 / 暂停 / 追问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5623560"/>
            <a:ext cx="566928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383280" y="5623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8620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绝对底线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5623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 / 自伤干预 / 价值观偏差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2606040"/>
            <a:ext cx="27432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424160" y="2423160"/>
            <a:ext cx="1463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42416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2416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→ L5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 → L5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51560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→ L4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1560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 → L3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→ L4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15600" y="4709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 → L6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15600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→ L2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LANGUAGE 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是什么 · L2 怎么做 · L3 为什么——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三层语言规范覆盖 8 个模块。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64008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· 概念锚定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“分离定律是……基因在形成配子时彼此分开”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892040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概念引入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39512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术语对齐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586984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直觉建立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97680" y="2743200"/>
            <a:ext cx="3657600" cy="64008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8056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步骤拆解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“先写出 Bb × Bb 的配子，再做 2×2 棋盘”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489204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5488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步骤分解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26280" y="5239512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5488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思维脚手架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5586984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练习巩固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3816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138160" y="2743200"/>
            <a:ext cx="36576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32104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32688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2688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· 因果与边界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667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“为什么 Bb 看起来像 B？这背后是显性机制”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489204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9536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因果追问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66760" y="523951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59536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跨学科类比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66760" y="558698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9536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挑战与扩展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三层语言规范 × 8 模块 × 6 模式 = 可被评估的"会教"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RRF · 单步教学 · 预算窗口 · 安全加固——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每一项工程决策，都为"长对话"服务。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30175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RRF 融合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 + 关键词召回 RRF 融合排序，让长对话里的旧知识点不会被新话题淹没。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37960" y="30175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· 单步原则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每轮只讲一步 + 一个台阶。卡点未解决前不进入下一概念，避免学生被抛下。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· 预算窗口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上下文按教学阶段动态裁剪，预算窗口跟随轮次自动收紧。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572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537960" y="48463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· 加固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6092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PBKDF2 密码哈希、登录限流、原子写、敏感字段加密、CORS 白名单。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没有"炫技式架构"——只解决"15 轮之后还记得你"这个真问题。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 6 模式 × 30 轮真实对话，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PAEG 出了一份完整的"考试"。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945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轮真实对话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+ 倾诉 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61188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19456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轮超长对话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单次会话不中断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48056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26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1945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教学阶段全跑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导入→挑战全覆盖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534924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5394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19456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30/30 轮通过优秀线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0"/>
            <a:ext cx="5760720" cy="347472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0" y="2743200"/>
            <a:ext cx="5760720" cy="45720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264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优秀线标准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338328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550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教学准确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无概念错误，步骤完整，公式与术语一致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508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单步推进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每轮只讲一步，卡点未解决不进入下一步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48056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5508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语气适配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鼓励式而非评判式，留白让学生思考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502920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5508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识别"撑不住"，降速、暂停、追问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557784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35508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画像联动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维画像，因材施教可追溯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下一两页，是这份"考试"的真实答卷。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TEACHING DEMO  ·  孟德尔遗传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孟德尔遗传 15 轮：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从"父母眼睛颜色不同"，到"自己推出分离定律"。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132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468880"/>
            <a:ext cx="713232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 · R13 复习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分离定律和自由组合定律的区别是？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676656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回答节选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分离定律回答"一对基因怎么分家"，自由组合定律回答"两对基因之间怎么分家"。前者只盯 D/d 这一对，后者看 D/d 与 R/r 之间的自由组合……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46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实测凭证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对话轮次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 全部达标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覆盖阶段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导入→新授→巩固→复习→应用→提高→挑战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平均耗时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23.0 秒 / 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平均字数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397 字 / 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轮进度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8288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3774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9260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747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0233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1206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6692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2179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7665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3152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6384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8638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1248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4124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61120" y="6126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9611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09760" y="6126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5097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32720" y="6080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AFFECTION DEMO  ·  学业压力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学业压力 15 轮：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从"我是不是性格有问题"，到"我会先从小目标做起"。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132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468880"/>
            <a:ext cx="713232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轮 · 学生内心独白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我是不是性格有问题？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80160" y="4206240"/>
            <a:ext cx="548640" cy="548640"/>
          </a:xfrm>
          <a:prstGeom prst="line">
            <a:avLst/>
          </a:prstGeom>
          <a:noFill/>
          <a:ln w="31750">
            <a:solidFill>
              <a:srgbClr val="E6A5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9202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轮 · 学生行动承诺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4617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"我会先从小目标做起。"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676656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5532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的处理：先把"性格有问题"当作真问题接住，再把它拆开——"性格"是没有边界的判断，"别人都能很快交到朋友"才是可验证的假设。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轮情绪演变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063240"/>
            <a:ext cx="365760" cy="365760"/>
          </a:xfrm>
          <a:prstGeom prst="ellipse">
            <a:avLst/>
          </a:prstGeom>
          <a:solidFill>
            <a:srgbClr val="B8C2D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澄清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365760" cy="365760"/>
          </a:xfrm>
          <a:prstGeom prst="ellipse">
            <a:avLst/>
          </a:prstGeom>
          <a:solidFill>
            <a:srgbClr val="93C5F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50392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 · 感受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039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 · 自我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65760" cy="365760"/>
          </a:xfrm>
          <a:prstGeom prst="ellipse">
            <a:avLst/>
          </a:prstGeom>
          <a:solidFill>
            <a:srgbClr val="FCD34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0392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· 具体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892040"/>
            <a:ext cx="365760" cy="365760"/>
          </a:xfrm>
          <a:prstGeom prst="ellipse">
            <a:avLst/>
          </a:prstGeom>
          <a:solidFill>
            <a:srgbClr val="FDE68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0" y="4892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· 接纳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534924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50392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告别 · 承诺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ARTIFACTS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一节课之后，PAEG 自动产出——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PPT、讲义、视频、资料推荐。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PPT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章结构，覆盖导入到挑战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8328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份讲义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35661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关键对话 + 思考题 + 总结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秒视频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 23.2s，自动剪辑关键对话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3544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23544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4183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条资料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941832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扩展阅读，按难度梯度排序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5212080"/>
            <a:ext cx="73152" cy="10058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教师不用再熬夜整理教学材料。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学生拿到的是一份带自己名字的复习包——包含了自己卡过的地方、自己推过的步骤、自己承诺过的小目标。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· 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30 轮全部达标，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缺陷全部修复。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2743200" cy="274320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80160" y="3063240"/>
            <a:ext cx="2103120" cy="2103120"/>
          </a:xfrm>
          <a:prstGeom prst="ellipse">
            <a:avLst/>
          </a:prstGeom>
          <a:solidFill>
            <a:srgbClr val="F5F7FA"/>
          </a:solidFill>
          <a:ln w="63500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 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v5.0 → v5.1 修复清单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108960"/>
            <a:ext cx="6675120" cy="0"/>
          </a:xfrm>
          <a:prstGeom prst="line">
            <a:avLst/>
          </a:prstGeom>
          <a:noFill/>
          <a:ln w="19050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0" y="333756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331012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预算窗口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上下文超出预算时主动总结前情，防止长对话后期翻车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390448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登录限流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PBKDF2 + 限流中间件，防爆破与撞库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52628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0" y="449884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白名单收紧到教学后台域名，杜绝未授权跨域读取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512064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0" y="50932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学生画像写入改为事务，崩溃不再丢进度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943600"/>
            <a:ext cx="73152" cy="548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"达标"不是口号，是每一轮对话都被优秀线打分后留下的成绩单。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E6A528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-900000">
            <a:off x="-1828800" y="4572000"/>
            <a:ext cx="5486400" cy="5486400"/>
          </a:xfrm>
          <a:prstGeom prst="rect">
            <a:avLst/>
          </a:prstGeom>
          <a:solidFill>
            <a:srgbClr val="0F2A52">
              <a:alpha val="5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·  THE ROAD AHEAD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从一个"撑得住的学生"开始，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走向"每一所学校都有一位长期陪伴者"。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多用户并发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从单会话走向班级级并发，多个学生同时在线，画像独立、记忆不串扰。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v6.0  ·  Q4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教育合规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对接未成年人保护法规、内容审核、家长端视图，做到可解释、可审计、可撤回。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 ·  2026 全年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325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325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长期愿景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325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陪伴一位学生从初一到高三，跨 6 年保留完整画像，成为他真正记得的那位"老师"。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325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v8.0  ·  2028+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 ·  商业路演  ·  v5.1  ·  2026.08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365760" cy="54864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  <a:ea typeface="Microsoft YaHei"/>
              </a:rPr>
              <a:t>PART 04  ·  TEACHING DEMO  ·  孟德尔遗传 · 真实多轮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371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>
                <a:solidFill>
                  <a:srgbClr val="E6A528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A52"/>
                </a:solidFill>
                <a:latin typeface="Microsoft YaHei"/>
                <a:ea typeface="Microsoft YaHei"/>
              </a:rPr>
              <a:t>孟德尔遗传 15 轮真实对话，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6A528"/>
                </a:solidFill>
                <a:latin typeface="Microsoft YaHei"/>
                <a:ea typeface="Microsoft YaHei"/>
              </a:rPr>
              <a:t>三句原文，就让你看到 PAEG 的"教学功力"。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6949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7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A528"/>
                </a:solidFill>
                <a:latin typeface="Microsoft YaHei"/>
                <a:ea typeface="Microsoft YaHei"/>
              </a:rPr>
              <a:t>R1 · 导入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· 导入现象 ·  435字 / 23.4s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我们从一个你每天都能观察到的现象说起：你和你爸妈的眼睛颜色不一样。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76472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776472"/>
            <a:ext cx="6949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1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A528"/>
                </a:solidFill>
                <a:latin typeface="Microsoft YaHei"/>
                <a:ea typeface="Microsoft YaHei"/>
              </a:rPr>
              <a:t>R6 · 复习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96511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· 故意留陷阱 ·  355字 / 20.5s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学生，你刚才的理解方向是对的：`Aa` 表现显性，`aa` 表现隐性，这个结论没有错。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9783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129783"/>
            <a:ext cx="6949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75503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A528"/>
                </a:solidFill>
                <a:latin typeface="Microsoft YaHei"/>
                <a:ea typeface="Microsoft YaHei"/>
              </a:rPr>
              <a:t>R12 · 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9823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· 回到色盲 ·  309字 / 21.4s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24144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我们来做一个小练习，你独立完成一遍推演。题目：一位红绿色盲的男性，和一位携带色盲基因但视觉正常的女性，生了一个儿子。这个儿子会是色盲吗？概率是多少？先给你一个提示：色盲基因位于X染色体上，…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23160"/>
            <a:ext cx="3931920" cy="3822191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A528"/>
                </a:solidFill>
                <a:latin typeface="Microsoft YaHei"/>
                <a:ea typeface="Microsoft YaHei"/>
              </a:rPr>
              <a:t>实测凭证</a:t>
            </a:r>
          </a:p>
        </p:txBody>
      </p:sp>
      <p:pic>
        <p:nvPicPr>
          <p:cNvPr id="24" name="Picture 23" descr="v51_teach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880360"/>
            <a:ext cx="3337560" cy="1783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5279" y="47365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孟德尔遗传 · 教学会话截图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9377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8C2D6"/>
                </a:solidFill>
                <a:latin typeface="Microsoft YaHei"/>
                <a:ea typeface="Microsoft YaHei"/>
              </a:rPr>
              <a:t>device 分辨率 · 真实对话页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257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对话轮次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A528"/>
                </a:solidFill>
                <a:latin typeface="Microsoft YaHei"/>
                <a:ea typeface="Microsoft YaHei"/>
              </a:rPr>
              <a:t>15 /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669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平均耗时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641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23.0 秒 / 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Microsoft YaHei"/>
                <a:ea typeface="Microsoft YaHei"/>
              </a:rPr>
              <a:t>总字数 5,946 · 100% 达标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PAEG 教育智能体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365760" cy="54864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  <a:ea typeface="Microsoft YaHei"/>
              </a:rPr>
              <a:t>PART 04  ·  AFFECTION DEMO  ·  学业压力 · 真实多轮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371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>
                <a:solidFill>
                  <a:srgbClr val="E6A528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A52"/>
                </a:solidFill>
                <a:latin typeface="Microsoft YaHei"/>
                <a:ea typeface="Microsoft YaHei"/>
              </a:rPr>
              <a:t>学业压力 15 轮真实对话，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6A528"/>
                </a:solidFill>
                <a:latin typeface="Microsoft YaHei"/>
                <a:ea typeface="Microsoft YaHei"/>
              </a:rPr>
              <a:t>从"是不是性格有问题"走到"我会先从小目标做起"。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6949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7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A528"/>
                </a:solidFill>
                <a:latin typeface="Microsoft YaHei"/>
                <a:ea typeface="Microsoft YaHei"/>
              </a:rPr>
              <a:t>R1 · 开场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· 接住三件事 ·  109字 / 5.4s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两个月，在新学校，交不到朋友，上课走神。这三件事叠在一起，日子确实不好过。我想先问一个具体的问题：你说的“交不到朋友”，是指还没有人能说上话，还是有过几次交谈，……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76472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776472"/>
            <a:ext cx="6949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1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A528"/>
                </a:solidFill>
                <a:latin typeface="Microsoft YaHei"/>
                <a:ea typeface="Microsoft YaHei"/>
              </a:rPr>
              <a:t>R6 · 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96511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· 拆掉自我审判 ·  794字 / 22.0s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你问出了一个比前面所有问题都更深的问题：我是不是性格有问题。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9783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129783"/>
            <a:ext cx="6949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75503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A528"/>
                </a:solidFill>
                <a:latin typeface="Microsoft YaHei"/>
                <a:ea typeface="Microsoft YaHei"/>
              </a:rPr>
              <a:t>R13 · 接纳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9823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· 允许慢慢来 ·  817字 / 17.8s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24144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你这句话，是这几轮对话里最安静，也最结实的一句。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23160"/>
            <a:ext cx="3931920" cy="3822191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A528"/>
                </a:solidFill>
                <a:latin typeface="Microsoft YaHei"/>
                <a:ea typeface="Microsoft YaHei"/>
              </a:rPr>
              <a:t>实测凭证</a:t>
            </a:r>
          </a:p>
        </p:txBody>
      </p:sp>
      <p:pic>
        <p:nvPicPr>
          <p:cNvPr id="24" name="Picture 23" descr="v51_aff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880360"/>
            <a:ext cx="3337560" cy="1783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5279" y="47365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学业压力 · 倾诉会话截图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9377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8C2D6"/>
                </a:solidFill>
                <a:latin typeface="Microsoft YaHei"/>
                <a:ea typeface="Microsoft YaHei"/>
              </a:rPr>
              <a:t>device 分辨率 · 真实对话页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257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对话轮次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A528"/>
                </a:solidFill>
                <a:latin typeface="Microsoft YaHei"/>
                <a:ea typeface="Microsoft YaHei"/>
              </a:rPr>
              <a:t>15 /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669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平均耗时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641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14.5 秒 / 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Microsoft YaHei"/>
                <a:ea typeface="Microsoft YaHei"/>
              </a:rPr>
              <a:t>总字数 8,517 · 100% 达标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PAEG 教育智能体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6A52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E6A52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5486400"/>
            <a:ext cx="3657600" cy="3657600"/>
          </a:xfrm>
          <a:prstGeom prst="rect">
            <a:avLst/>
          </a:prstGeom>
          <a:solidFill>
            <a:srgbClr val="0F2A5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11480"/>
            <a:ext cx="365760" cy="54864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  <a:ea typeface="Microsoft YaHei"/>
              </a:rPr>
              <a:t>PART 04  ·  TEACHING VIDEO  ·  PAEG 自动生成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>
                <a:solidFill>
                  <a:srgbClr val="E6A528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一节课之后，PAEG 自动产出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6A528"/>
                </a:solidFill>
                <a:latin typeface="Microsoft YaHei"/>
                <a:ea typeface="Microsoft YaHei"/>
              </a:rPr>
              <a:t>25.5 秒教学小视频。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6858000" cy="3749039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834640"/>
            <a:ext cx="6583680" cy="3474720"/>
          </a:xfrm>
          <a:prstGeom prst="rect">
            <a:avLst/>
          </a:prstGeom>
          <a:solidFill>
            <a:srgbClr val="08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71800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A528"/>
                </a:solidFill>
                <a:latin typeface="Microsoft YaHei"/>
                <a:ea typeface="Microsoft YaHei"/>
              </a:rPr>
              <a:t>孟德尔遗传 · 关键对话回顾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6"/>
                </a:solidFill>
                <a:latin typeface="Microsoft YaHei"/>
                <a:ea typeface="Microsoft YaHei"/>
              </a:rPr>
              <a:t>PAEG 自动从 15 轮对话里抽取关键画面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977639"/>
            <a:ext cx="1440180" cy="1691640"/>
          </a:xfrm>
          <a:prstGeom prst="rect">
            <a:avLst/>
          </a:prstGeom>
          <a:solidFill>
            <a:srgbClr val="0F2A5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59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  <a:ea typeface="Microsoft YaHei"/>
              </a:rPr>
              <a:t>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80559"/>
            <a:ext cx="14401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导入
眼色问题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7460" y="3977639"/>
            <a:ext cx="1440180" cy="1691640"/>
          </a:xfrm>
          <a:prstGeom prst="rect">
            <a:avLst/>
          </a:prstGeom>
          <a:solidFill>
            <a:srgbClr val="0F2A5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3180" y="4023359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  <a:ea typeface="Microsoft YaHei"/>
              </a:rPr>
              <a:t>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3180" y="4480559"/>
            <a:ext cx="14401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复习
陷阱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3977639"/>
            <a:ext cx="1440180" cy="1691640"/>
          </a:xfrm>
          <a:prstGeom prst="rect">
            <a:avLst/>
          </a:prstGeom>
          <a:solidFill>
            <a:srgbClr val="0F2A5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4023359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  <a:ea typeface="Microsoft YaHei"/>
              </a:rPr>
              <a:t>R12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480559"/>
            <a:ext cx="14401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总结
色盲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0700" y="3977639"/>
            <a:ext cx="1440180" cy="1691640"/>
          </a:xfrm>
          <a:prstGeom prst="rect">
            <a:avLst/>
          </a:prstGeom>
          <a:solidFill>
            <a:srgbClr val="0F2A5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6420" y="4023359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  <a:ea typeface="Microsoft YaHei"/>
              </a:rPr>
              <a:t>R13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6420" y="4480559"/>
            <a:ext cx="14401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挑战
两大定律</a:t>
            </a:r>
          </a:p>
        </p:txBody>
      </p:sp>
      <p:sp>
        <p:nvSpPr>
          <p:cNvPr id="26" name="Oval 25"/>
          <p:cNvSpPr/>
          <p:nvPr/>
        </p:nvSpPr>
        <p:spPr>
          <a:xfrm>
            <a:off x="6217919" y="5486400"/>
            <a:ext cx="777240" cy="777240"/>
          </a:xfrm>
          <a:prstGeom prst="ellipse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6473951" y="5650992"/>
            <a:ext cx="347472" cy="475488"/>
          </a:xfrm>
          <a:prstGeom prst="triangle">
            <a:avLst/>
          </a:prstGeom>
          <a:solidFill>
            <a:srgbClr val="08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035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00:25.5  ·  自动配音 · 自动字幕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697480"/>
            <a:ext cx="393192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2697480"/>
            <a:ext cx="73152" cy="3749039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8803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2"/>
                </a:solidFill>
                <a:latin typeface="Microsoft YaHei"/>
                <a:ea typeface="Microsoft YaHei"/>
              </a:rPr>
              <a:t>视频规格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4290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时长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4290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25.5 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8130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帧数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813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4 关键画格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1970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配音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19709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TTS 自动合成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5811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字幕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58114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对话原句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965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格式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9651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MP4 · 1080p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53492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大小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492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330 KB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7332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6"/>
                </a:solidFill>
                <a:latin typeface="Microsoft YaHei"/>
                <a:ea typeface="Microsoft YaHei"/>
              </a:rPr>
              <a:t>生成方式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7332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课堂结束自动产出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61264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8C2D6"/>
                </a:solidFill>
                <a:latin typeface="Microsoft YaHei"/>
                <a:ea typeface="Microsoft YaHei"/>
              </a:rPr>
              <a:t>原片：12226be87a.mp4（330 KB）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365760" cy="54864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  <a:ea typeface="Microsoft YaHei"/>
              </a:rPr>
              <a:t>PART 04  ·  DATA OVERVIEW  ·  30 轮完整对话记录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371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>
                <a:solidFill>
                  <a:srgbClr val="E6A528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2A52"/>
                </a:solidFill>
                <a:latin typeface="Microsoft YaHei"/>
                <a:ea typeface="Microsoft YaHei"/>
              </a:rPr>
              <a:t>30 轮对话，0 失败，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6A528"/>
                </a:solidFill>
                <a:latin typeface="Microsoft YaHei"/>
                <a:ea typeface="Microsoft YaHei"/>
              </a:rPr>
              <a:t>100% 达标，平均 18.7 秒 / 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292608"/>
          </a:xfrm>
          <a:prstGeom prst="rect">
            <a:avLst/>
          </a:prstGeom>
          <a:solidFill>
            <a:srgbClr val="081A3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  <a:ea typeface="Microsoft YaHei"/>
              </a:rPr>
              <a:t>v5.1 实测记录  ·  6 模式全覆盖  ·  教学 15 + 倾诉 15  ·  100% 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320040"/>
          </a:xfrm>
          <a:prstGeom prst="rect">
            <a:avLst/>
          </a:prstGeom>
          <a:solidFill>
            <a:srgbClr val="E9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21991"/>
            <a:ext cx="539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  <a:ea typeface="Microsoft YaHei"/>
              </a:rPr>
              <a:t>教 学 · 15 轮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60320"/>
          <a:ext cx="5577838" cy="379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227"/>
                <a:gridCol w="2342692"/>
                <a:gridCol w="1004011"/>
                <a:gridCol w="1115568"/>
                <a:gridCol w="669340"/>
              </a:tblGrid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字数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耗时(s)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导入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435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23.4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R2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新授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R3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新授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295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23.0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R4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巩固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R5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巩固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437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21.6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R6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复习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R7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提高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406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21.5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R8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提高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R9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应用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225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22.5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R10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R11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巩固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333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21.2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R12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R13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复习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448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26.3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R14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提高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0F2A52"/>
                          </a:solidFill>
                          <a:latin typeface="Microsoft YaHei"/>
                        </a:rPr>
                        <a:t>R15</a:t>
                      </a:r>
                    </a:p>
                  </a:txBody>
                  <a:tcPr>
                    <a:solidFill>
                      <a:srgbClr val="E9EEF7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挑战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343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18.6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2200" y="2194560"/>
            <a:ext cx="5577840" cy="320040"/>
          </a:xfrm>
          <a:prstGeom prst="rect">
            <a:avLst/>
          </a:prstGeom>
          <a:solidFill>
            <a:srgbClr val="FB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21991"/>
            <a:ext cx="539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  <a:ea typeface="Microsoft YaHei"/>
              </a:rPr>
              <a:t>倾 诉 · 15 轮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2560320"/>
          <a:ext cx="5577838" cy="379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227"/>
                <a:gridCol w="2342692"/>
                <a:gridCol w="1004011"/>
                <a:gridCol w="1115568"/>
                <a:gridCol w="669340"/>
              </a:tblGrid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字数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耗时(s)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开场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109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5.4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R2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澄清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R3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深挖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585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12.5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R4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感受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R5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分离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536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17.1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R6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22.0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R7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引导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803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18.0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R8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自我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R9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行动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790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17.6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R10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具体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R11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巩固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822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17.5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R12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提醒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R13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接纳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817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17.8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R14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172"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 b="1">
                          <a:solidFill>
                            <a:srgbClr val="E6A528"/>
                          </a:solidFill>
                          <a:latin typeface="Microsoft YaHei"/>
                        </a:rPr>
                        <a:t>R15</a:t>
                      </a:r>
                    </a:p>
                  </a:txBody>
                  <a:tcPr>
                    <a:solidFill>
                      <a:srgbClr val="FBF1D9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告别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626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Microsoft YaHei"/>
                        </a:rPr>
                        <a:t>15.6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  <a:tc>
                  <a:txBody>
                    <a:bodyPr lIns="18288" rIns="18288" tIns="4572" bIns="4572" anchor="ctr"/>
                    <a:lstStyle/>
                    <a:p>
                      <a:pPr algn="ctr"/>
                      <a:r>
                        <a:rPr sz="1000" b="1">
                          <a:solidFill>
                            <a:srgbClr val="2E7D5A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PAEG 教育智能体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2D6"/>
                </a:solidFill>
                <a:latin typeface="Microsoft YaHei"/>
                <a:ea typeface="Microsoft Ya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PAEG 教育智能体 · 商业路演</dc:title>
  <dc:subject>PptxGenJS Presentation</dc:subject>
  <dc:creator>PAEG Team</dc:creator>
  <cp:lastModifiedBy>PAEG Team</cp:lastModifiedBy>
  <cp:revision>1</cp:revision>
  <dcterms:created xsi:type="dcterms:W3CDTF">2026-08-11T12:52:33Z</dcterms:created>
  <dcterms:modified xsi:type="dcterms:W3CDTF">2026-08-11T12:52:33Z</dcterms:modified>
</cp:coreProperties>
</file>